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Training respondents</c:v>
                </c:pt>
              </c:strCache>
            </c:strRef>
          </c:tx>
          <c:spPr>
            <a:solidFill>
              <a:srgbClr val="2563EB"/>
            </a:solidFill>
            <a:effectLst/>
          </c:spPr>
          <c:invertIfNegative val="0"/>
          <c:dLbls>
            <c:numFmt formatCode="#,##0" sourceLinked="0"/>
            <c:txPr>
              <a:bodyPr/>
              <a:lstStyle/>
              <a:p>
                <a:pPr>
                  <a:defRPr b="0" i="0" strike="noStrike" sz="800" u="none">
                    <a:solidFill>
                      <a:srgbClr val="334155"/>
                    </a:solidFill>
                    <a:latin typeface="Calibri"/>
                  </a:defRPr>
                </a:pPr>
              </a:p>
            </c:txPr>
            <c:showLegendKey val="0"/>
            <c:showVal val="1"/>
            <c:showCatName val="0"/>
            <c:showSerName val="0"/>
            <c:showPercent val="0"/>
            <c:showBubbleSize val="0"/>
            <c:showLeaderLines val="0"/>
          </c:dLbls>
          <c:cat>
            <c:multiLvlStrRef>
              <c:f>Sheet1!$A$2:$A$21</c:f>
              <c:multiLvlStrCache>
                <c:ptCount val="20"/>
                <c:lvl>
                  <c:pt idx="0">
                    <c:v>Full-stack Developer</c:v>
                  </c:pt>
                  <c:pt idx="1">
                    <c:v>Back-end Developer</c:v>
                  </c:pt>
                  <c:pt idx="2">
                    <c:v>Desktop / Enterprise Developer</c:v>
                  </c:pt>
                  <c:pt idx="3">
                    <c:v>Front-end Developer</c:v>
                  </c:pt>
                  <c:pt idx="4">
                    <c:v>Embedded Developer</c:v>
                  </c:pt>
                  <c:pt idx="5">
                    <c:v>Mobile Developer</c:v>
                  </c:pt>
                  <c:pt idx="6">
                    <c:v>DevOps Engineer</c:v>
                  </c:pt>
                  <c:pt idx="7">
                    <c:v>Data Engineer</c:v>
                  </c:pt>
                  <c:pt idx="8">
                    <c:v>AI / ML Engineer</c:v>
                  </c:pt>
                  <c:pt idx="9">
                    <c:v>Data Scientist</c:v>
                  </c:pt>
                  <c:pt idx="10">
                    <c:v>System Administrator</c:v>
                  </c:pt>
                  <c:pt idx="11">
                    <c:v>Game / Graphics Developer</c:v>
                  </c:pt>
                  <c:pt idx="12">
                    <c:v>Cloud Infrastructure Engineer</c:v>
                  </c:pt>
                  <c:pt idx="13">
                    <c:v>Cybersecurity Specialist</c:v>
                  </c:pt>
                  <c:pt idx="14">
                    <c:v>QA / Test Engineer</c:v>
                  </c:pt>
                  <c:pt idx="15">
                    <c:v>Data / Business Analyst</c:v>
                  </c:pt>
                  <c:pt idx="16">
                    <c:v>Applied Scientist</c:v>
                  </c:pt>
                  <c:pt idx="17">
                    <c:v>AI Application Developer</c:v>
                  </c:pt>
                  <c:pt idx="18">
                    <c:v>Database Administrator / Engineer</c:v>
                  </c:pt>
                  <c:pt idx="19">
                    <c:v>UX / UI Designer</c:v>
                  </c:pt>
                </c:lvl>
              </c:multiLvlStrCache>
            </c:multiLvlStrRef>
          </c:cat>
          <c:val>
            <c:numRef>
              <c:f>Sheet1!$B$2:$B$21</c:f>
              <c:numCache>
                <c:formatCode>General</c:formatCode>
                <c:ptCount val="20"/>
                <c:pt idx="0">
                  <c:v>7279</c:v>
                </c:pt>
                <c:pt idx="1">
                  <c:v>3750</c:v>
                </c:pt>
                <c:pt idx="2">
                  <c:v>1187</c:v>
                </c:pt>
                <c:pt idx="3">
                  <c:v>1120</c:v>
                </c:pt>
                <c:pt idx="4">
                  <c:v>771</c:v>
                </c:pt>
                <c:pt idx="5">
                  <c:v>739</c:v>
                </c:pt>
                <c:pt idx="6">
                  <c:v>645</c:v>
                </c:pt>
                <c:pt idx="7">
                  <c:v>451</c:v>
                </c:pt>
                <c:pt idx="8">
                  <c:v>349</c:v>
                </c:pt>
                <c:pt idx="9">
                  <c:v>349</c:v>
                </c:pt>
                <c:pt idx="10">
                  <c:v>272</c:v>
                </c:pt>
                <c:pt idx="11">
                  <c:v>262</c:v>
                </c:pt>
                <c:pt idx="12">
                  <c:v>238</c:v>
                </c:pt>
                <c:pt idx="13">
                  <c:v>220</c:v>
                </c:pt>
                <c:pt idx="14">
                  <c:v>199</c:v>
                </c:pt>
                <c:pt idx="15">
                  <c:v>186</c:v>
                </c:pt>
                <c:pt idx="16">
                  <c:v>179</c:v>
                </c:pt>
                <c:pt idx="17">
                  <c:v>116</c:v>
                </c:pt>
                <c:pt idx="18">
                  <c:v>98</c:v>
                </c:pt>
                <c:pt idx="19">
                  <c:v>47</c:v>
                </c:pt>
              </c:numCache>
            </c:numRef>
          </c:val>
        </c:ser>
        <c:dLbls>
          <c:numFmt formatCode="#,##0" sourceLinked="0"/>
          <c:txPr>
            <a:bodyPr/>
            <a:lstStyle/>
            <a:p>
              <a:pPr>
                <a:defRPr b="0" i="0" strike="noStrike" sz="800" u="none">
                  <a:solidFill>
                    <a:srgbClr val="334155"/>
                  </a:solidFill>
                  <a:latin typeface="Calibri"/>
                </a:defRPr>
              </a:pPr>
            </a:p>
          </c:txPr>
          <c:showLegendKey val="0"/>
          <c:showVal val="1"/>
          <c:showCatName val="0"/>
          <c:showSerName val="0"/>
          <c:showPercent val="0"/>
          <c:showBubbleSize val="0"/>
          <c:showLeaderLines val="0"/>
        </c:dLbls>
        <c:gapWidth val="28"/>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860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Macro-F1</c:v>
                </c:pt>
              </c:strCache>
            </c:strRef>
          </c:tx>
          <c:spPr>
            <a:solidFill>
              <a:srgbClr val="2563EB"/>
            </a:solidFill>
            <a:effectLst/>
          </c:spPr>
          <c:invertIfNegative val="0"/>
          <c:dLbls>
            <c:numFmt formatCode="0.000" sourceLinked="0"/>
            <c:txPr>
              <a:bodyPr/>
              <a:lstStyle/>
              <a:p>
                <a:pPr>
                  <a:defRPr b="0" i="0" strike="noStrike" sz="900" u="none">
                    <a:solidFill>
                      <a:srgbClr val="334155"/>
                    </a:solidFill>
                    <a:latin typeface="Calibri"/>
                  </a:defRPr>
                </a:pPr>
              </a:p>
            </c:txPr>
            <c:showLegendKey val="0"/>
            <c:showVal val="1"/>
            <c:showCatName val="0"/>
            <c:showSerName val="0"/>
            <c:showPercent val="0"/>
            <c:showBubbleSize val="0"/>
            <c:showLeaderLines val="0"/>
          </c:dLbls>
          <c:cat>
            <c:multiLvlStrRef>
              <c:f>Sheet1!$A$2:$A$8</c:f>
              <c:multiLvlStrCache>
                <c:ptCount val="7"/>
                <c:lvl>
                  <c:pt idx="0">
                    <c:v>Hist Gradient Boosting</c:v>
                  </c:pt>
                  <c:pt idx="1">
                    <c:v>Logistic Regression</c:v>
                  </c:pt>
                  <c:pt idx="2">
                    <c:v>Random Forest</c:v>
                  </c:pt>
                  <c:pt idx="3">
                    <c:v>Linear SVM (calibrated)</c:v>
                  </c:pt>
                  <c:pt idx="4">
                    <c:v>Complement Naive Bayes</c:v>
                  </c:pt>
                  <c:pt idx="5">
                    <c:v>k-Nearest Neighbours</c:v>
                  </c:pt>
                  <c:pt idx="6">
                    <c:v>Dummy (most frequent)</c:v>
                  </c:pt>
                </c:lvl>
              </c:multiLvlStrCache>
            </c:multiLvlStrRef>
          </c:cat>
          <c:val>
            <c:numRef>
              <c:f>Sheet1!$B$2:$B$8</c:f>
              <c:numCache>
                <c:formatCode>General</c:formatCode>
                <c:ptCount val="7"/>
                <c:pt idx="0">
                  <c:v>0.2724</c:v>
                </c:pt>
                <c:pt idx="1">
                  <c:v>0.2547</c:v>
                </c:pt>
                <c:pt idx="2">
                  <c:v>0.2537</c:v>
                </c:pt>
                <c:pt idx="3">
                  <c:v>0.1911</c:v>
                </c:pt>
                <c:pt idx="4">
                  <c:v>0.1786</c:v>
                </c:pt>
                <c:pt idx="5">
                  <c:v>0.1676</c:v>
                </c:pt>
                <c:pt idx="6">
                  <c:v>0.0283</c:v>
                </c:pt>
              </c:numCache>
            </c:numRef>
          </c:val>
        </c:ser>
        <c:ser>
          <c:idx val="1"/>
          <c:order val="1"/>
          <c:tx>
            <c:strRef>
              <c:f>Sheet1!$C$1</c:f>
              <c:strCache>
                <c:ptCount val="1"/>
                <c:pt idx="0">
                  <c:v>Accuracy</c:v>
                </c:pt>
              </c:strCache>
            </c:strRef>
          </c:tx>
          <c:spPr>
            <a:solidFill>
              <a:srgbClr val="A3AEBF"/>
            </a:solidFill>
            <a:effectLst/>
          </c:spPr>
          <c:invertIfNegative val="0"/>
          <c:dLbls>
            <c:numFmt formatCode="0.000" sourceLinked="0"/>
            <c:txPr>
              <a:bodyPr/>
              <a:lstStyle/>
              <a:p>
                <a:pPr>
                  <a:defRPr b="0" i="0" strike="noStrike" sz="900" u="none">
                    <a:solidFill>
                      <a:srgbClr val="334155"/>
                    </a:solidFill>
                    <a:latin typeface="Calibri"/>
                  </a:defRPr>
                </a:pPr>
              </a:p>
            </c:txPr>
            <c:showLegendKey val="0"/>
            <c:showVal val="1"/>
            <c:showCatName val="0"/>
            <c:showSerName val="0"/>
            <c:showPercent val="0"/>
            <c:showBubbleSize val="0"/>
            <c:showLeaderLines val="0"/>
          </c:dLbls>
          <c:cat>
            <c:multiLvlStrRef>
              <c:f>Sheet1!$A$2:$A$8</c:f>
              <c:multiLvlStrCache>
                <c:ptCount val="7"/>
                <c:lvl>
                  <c:pt idx="0">
                    <c:v>Hist Gradient Boosting</c:v>
                  </c:pt>
                  <c:pt idx="1">
                    <c:v>Logistic Regression</c:v>
                  </c:pt>
                  <c:pt idx="2">
                    <c:v>Random Forest</c:v>
                  </c:pt>
                  <c:pt idx="3">
                    <c:v>Linear SVM (calibrated)</c:v>
                  </c:pt>
                  <c:pt idx="4">
                    <c:v>Complement Naive Bayes</c:v>
                  </c:pt>
                  <c:pt idx="5">
                    <c:v>k-Nearest Neighbours</c:v>
                  </c:pt>
                  <c:pt idx="6">
                    <c:v>Dummy (most frequent)</c:v>
                  </c:pt>
                </c:lvl>
              </c:multiLvlStrCache>
            </c:multiLvlStrRef>
          </c:cat>
          <c:val>
            <c:numRef>
              <c:f>Sheet1!$C$2:$C$8</c:f>
              <c:numCache>
                <c:formatCode>General</c:formatCode>
                <c:ptCount val="7"/>
                <c:pt idx="0">
                  <c:v>0.5602</c:v>
                </c:pt>
                <c:pt idx="1">
                  <c:v>0.3657</c:v>
                </c:pt>
                <c:pt idx="2">
                  <c:v>0.5541</c:v>
                </c:pt>
                <c:pt idx="3">
                  <c:v>0.5368</c:v>
                </c:pt>
                <c:pt idx="4">
                  <c:v>0.4917</c:v>
                </c:pt>
                <c:pt idx="5">
                  <c:v>0.4997</c:v>
                </c:pt>
                <c:pt idx="6">
                  <c:v>0.3944</c:v>
                </c:pt>
              </c:numCache>
            </c:numRef>
          </c:val>
        </c:ser>
        <c:dLbls>
          <c:numFmt formatCode="0.000" sourceLinked="0"/>
          <c:txPr>
            <a:bodyPr/>
            <a:lstStyle/>
            <a:p>
              <a:pPr>
                <a:defRPr b="0" i="0" strike="noStrike" sz="900" u="none">
                  <a:solidFill>
                    <a:srgbClr val="334155"/>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0.66"/>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Stage 6 baseline</c:v>
                </c:pt>
              </c:strCache>
            </c:strRef>
          </c:tx>
          <c:spPr>
            <a:solidFill>
              <a:srgbClr val="A3AEBF"/>
            </a:solidFill>
            <a:effectLst/>
          </c:spPr>
          <c:invertIfNegative val="0"/>
          <c:dLbls>
            <c:numFmt formatCode="0.000" sourceLinked="0"/>
            <c:txPr>
              <a:bodyPr/>
              <a:lstStyle/>
              <a:p>
                <a:pPr>
                  <a:defRPr b="0" i="0" strike="noStrike" sz="900" u="none">
                    <a:solidFill>
                      <a:srgbClr val="334155"/>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Hist Gradient Boosting</c:v>
                  </c:pt>
                  <c:pt idx="2">
                    <c:v>Random Forest</c:v>
                  </c:pt>
                  <c:pt idx="3">
                    <c:v>Linear SVM (calibrated)</c:v>
                  </c:pt>
                </c:lvl>
              </c:multiLvlStrCache>
            </c:multiLvlStrRef>
          </c:cat>
          <c:val>
            <c:numRef>
              <c:f>Sheet1!$B$2:$B$5</c:f>
              <c:numCache>
                <c:formatCode>General</c:formatCode>
                <c:ptCount val="4"/>
                <c:pt idx="0">
                  <c:v>0.2547</c:v>
                </c:pt>
                <c:pt idx="1">
                  <c:v>0.2724</c:v>
                </c:pt>
                <c:pt idx="2">
                  <c:v>0.2537</c:v>
                </c:pt>
                <c:pt idx="3">
                  <c:v>0.1911</c:v>
                </c:pt>
              </c:numCache>
            </c:numRef>
          </c:val>
        </c:ser>
        <c:ser>
          <c:idx val="1"/>
          <c:order val="1"/>
          <c:tx>
            <c:strRef>
              <c:f>Sheet1!$C$1</c:f>
              <c:strCache>
                <c:ptCount val="1"/>
                <c:pt idx="0">
                  <c:v>Stage 7 tuned</c:v>
                </c:pt>
              </c:strCache>
            </c:strRef>
          </c:tx>
          <c:spPr>
            <a:solidFill>
              <a:srgbClr val="2563EB"/>
            </a:solidFill>
            <a:effectLst/>
          </c:spPr>
          <c:invertIfNegative val="0"/>
          <c:dLbls>
            <c:numFmt formatCode="0.000" sourceLinked="0"/>
            <c:txPr>
              <a:bodyPr/>
              <a:lstStyle/>
              <a:p>
                <a:pPr>
                  <a:defRPr b="0" i="0" strike="noStrike" sz="900" u="none">
                    <a:solidFill>
                      <a:srgbClr val="334155"/>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Hist Gradient Boosting</c:v>
                  </c:pt>
                  <c:pt idx="2">
                    <c:v>Random Forest</c:v>
                  </c:pt>
                  <c:pt idx="3">
                    <c:v>Linear SVM (calibrated)</c:v>
                  </c:pt>
                </c:lvl>
              </c:multiLvlStrCache>
            </c:multiLvlStrRef>
          </c:cat>
          <c:val>
            <c:numRef>
              <c:f>Sheet1!$C$2:$C$5</c:f>
              <c:numCache>
                <c:formatCode>General</c:formatCode>
                <c:ptCount val="4"/>
                <c:pt idx="0">
                  <c:v>0.303</c:v>
                </c:pt>
                <c:pt idx="1">
                  <c:v>0.286</c:v>
                </c:pt>
                <c:pt idx="2">
                  <c:v>0.282</c:v>
                </c:pt>
                <c:pt idx="3">
                  <c:v>0.2536</c:v>
                </c:pt>
              </c:numCache>
            </c:numRef>
          </c:val>
        </c:ser>
        <c:dLbls>
          <c:numFmt formatCode="0.000" sourceLinked="0"/>
          <c:txPr>
            <a:bodyPr/>
            <a:lstStyle/>
            <a:p>
              <a:pPr>
                <a:defRPr b="0" i="0" strike="noStrike" sz="900" u="none">
                  <a:solidFill>
                    <a:srgbClr val="334155"/>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0.36"/>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000">
              <a:solidFill>
                <a:srgbClr val="33415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F1 (held-out test)</c:v>
                </c:pt>
              </c:strCache>
            </c:strRef>
          </c:tx>
          <c:spPr>
            <a:solidFill>
              <a:srgbClr val="2563EB"/>
            </a:solidFill>
            <a:effectLst/>
          </c:spPr>
          <c:invertIfNegative val="0"/>
          <c:dLbls>
            <c:numFmt formatCode="0.00" sourceLinked="0"/>
            <c:txPr>
              <a:bodyPr/>
              <a:lstStyle/>
              <a:p>
                <a:pPr>
                  <a:defRPr b="0" i="0" strike="noStrike" sz="800" u="none">
                    <a:solidFill>
                      <a:srgbClr val="334155"/>
                    </a:solidFill>
                    <a:latin typeface="Calibri"/>
                  </a:defRPr>
                </a:pPr>
              </a:p>
            </c:txPr>
            <c:showLegendKey val="0"/>
            <c:showVal val="1"/>
            <c:showCatName val="0"/>
            <c:showSerName val="0"/>
            <c:showPercent val="0"/>
            <c:showBubbleSize val="0"/>
            <c:showLeaderLines val="0"/>
          </c:dLbls>
          <c:cat>
            <c:multiLvlStrRef>
              <c:f>Sheet1!$A$2:$A$21</c:f>
              <c:multiLvlStrCache>
                <c:ptCount val="20"/>
                <c:lvl>
                  <c:pt idx="0">
                    <c:v>Mobile Developer</c:v>
                  </c:pt>
                  <c:pt idx="1">
                    <c:v>Full-stack Developer</c:v>
                  </c:pt>
                  <c:pt idx="2">
                    <c:v>Embedded Developer</c:v>
                  </c:pt>
                  <c:pt idx="3">
                    <c:v>Back-end Developer</c:v>
                  </c:pt>
                  <c:pt idx="4">
                    <c:v>Front-end Developer</c:v>
                  </c:pt>
                  <c:pt idx="5">
                    <c:v>Data Engineer</c:v>
                  </c:pt>
                  <c:pt idx="6">
                    <c:v>DevOps Engineer</c:v>
                  </c:pt>
                  <c:pt idx="7">
                    <c:v>Data Scientist</c:v>
                  </c:pt>
                  <c:pt idx="8">
                    <c:v>AI / ML Engineer</c:v>
                  </c:pt>
                  <c:pt idx="9">
                    <c:v>Desktop / Enterprise Developer</c:v>
                  </c:pt>
                  <c:pt idx="10">
                    <c:v>Applied Scientist</c:v>
                  </c:pt>
                  <c:pt idx="11">
                    <c:v>Game / Graphics Developer</c:v>
                  </c:pt>
                  <c:pt idx="12">
                    <c:v>Data / Business Analyst</c:v>
                  </c:pt>
                  <c:pt idx="13">
                    <c:v>QA / Test Engineer *</c:v>
                  </c:pt>
                  <c:pt idx="14">
                    <c:v>System Administrator *</c:v>
                  </c:pt>
                  <c:pt idx="15">
                    <c:v>Cloud Infrastructure Engineer *</c:v>
                  </c:pt>
                  <c:pt idx="16">
                    <c:v>Database Administrator / Engineer *</c:v>
                  </c:pt>
                  <c:pt idx="17">
                    <c:v>Cybersecurity Specialist *</c:v>
                  </c:pt>
                  <c:pt idx="18">
                    <c:v>AI Application Developer *</c:v>
                  </c:pt>
                  <c:pt idx="19">
                    <c:v>UX / UI Designer *</c:v>
                  </c:pt>
                </c:lvl>
              </c:multiLvlStrCache>
            </c:multiLvlStrRef>
          </c:cat>
          <c:val>
            <c:numRef>
              <c:f>Sheet1!$B$2:$B$21</c:f>
              <c:numCache>
                <c:formatCode>General</c:formatCode>
                <c:ptCount val="20"/>
                <c:pt idx="0">
                  <c:v>0.699</c:v>
                </c:pt>
                <c:pt idx="1">
                  <c:v>0.693</c:v>
                </c:pt>
                <c:pt idx="2">
                  <c:v>0.543</c:v>
                </c:pt>
                <c:pt idx="3">
                  <c:v>0.517</c:v>
                </c:pt>
                <c:pt idx="4">
                  <c:v>0.498</c:v>
                </c:pt>
                <c:pt idx="5">
                  <c:v>0.39</c:v>
                </c:pt>
                <c:pt idx="6">
                  <c:v>0.355</c:v>
                </c:pt>
                <c:pt idx="7">
                  <c:v>0.335</c:v>
                </c:pt>
                <c:pt idx="8">
                  <c:v>0.306</c:v>
                </c:pt>
                <c:pt idx="9">
                  <c:v>0.287</c:v>
                </c:pt>
                <c:pt idx="10">
                  <c:v>0.262</c:v>
                </c:pt>
                <c:pt idx="11">
                  <c:v>0.248</c:v>
                </c:pt>
                <c:pt idx="12">
                  <c:v>0.154</c:v>
                </c:pt>
                <c:pt idx="13">
                  <c:v>0.102</c:v>
                </c:pt>
                <c:pt idx="14">
                  <c:v>0.098</c:v>
                </c:pt>
                <c:pt idx="15">
                  <c:v>0.076</c:v>
                </c:pt>
                <c:pt idx="16">
                  <c:v>0.074</c:v>
                </c:pt>
                <c:pt idx="17">
                  <c:v>0.053</c:v>
                </c:pt>
                <c:pt idx="18">
                  <c:v>0</c:v>
                </c:pt>
                <c:pt idx="19">
                  <c:v>0</c:v>
                </c:pt>
              </c:numCache>
            </c:numRef>
          </c:val>
        </c:ser>
        <c:dLbls>
          <c:numFmt formatCode="0.00" sourceLinked="0"/>
          <c:txPr>
            <a:bodyPr/>
            <a:lstStyle/>
            <a:p>
              <a:pPr>
                <a:defRPr b="0" i="0" strike="noStrike" sz="800" u="none">
                  <a:solidFill>
                    <a:srgbClr val="334155"/>
                  </a:solidFill>
                  <a:latin typeface="Calibri"/>
                </a:defRPr>
              </a:pPr>
            </a:p>
          </c:txPr>
          <c:showLegendKey val="0"/>
          <c:showVal val="1"/>
          <c:showCatName val="0"/>
          <c:showSerName val="0"/>
          <c:showPercent val="0"/>
          <c:showBubbleSize val="0"/>
          <c:showLeaderLines val="0"/>
        </c:dLbls>
        <c:gapWidth val="28"/>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334155"/>
                </a:solidFill>
                <a:latin typeface="Calibri"/>
              </a:defRPr>
            </a:pPr>
            <a:endParaRPr lang="en-US"/>
          </a:p>
        </c:txPr>
        <c:crossAx val="2094734552"/>
        <c:crosses val="autoZero"/>
        <c:auto val="1"/>
        <c:lblAlgn val="ctr"/>
        <c:noMultiLvlLbl val="1"/>
      </c:catAx>
      <c:valAx>
        <c:axId val="2094734552"/>
        <c:scaling>
          <c:orientation val="minMax"/>
          <c:max val="0.82"/>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INTRODUCTION (any member; about 40 seconds)
Hello everyone. We are group KND_12, and this is SkillPath, our mini project for IT3051, Fundamentals of Data Mining.
SkillPath is a career recommendation system for developers. You tell it which technologies you use, how much experience you have and how you use AI tools. It then suggests the three developer job roles that your profile most resembles. It does not stop at a name: for every role it shows how much of the everyday work is already done with AI, what people in that role typically earn, and which skills you would need to add.
Everything is learned from the Stack Overflow Annual Developer Survey 2025, which has 49,123 responses. The screenshot on the right is the real application.
The presentation has four parts. S S P S Bandara covers the problem, objectives and dataset. Yoosuf A.A covers the methodology, preprocessing and features. M G S D Wijesinghe covers the models, optimisation and results. K M H S Bandara covers the system, testing and conclusion.
Transition: I will hand over to S S P S Bandara to explain the problem we set out to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 S P S Bandara (slide 1 of 3)
Software development is no longer one career. Employers advertise for back-end, front-end, mobile, data, machine learning, DevOps, cloud, security and QA roles, and each one has its own technology stack. A final-year student usually knows several languages and tools, but cannot easily tell which of those roles their current skills point to, or what to learn next.
The guidance that exists is mostly generic: articles, role descriptions and job adverts. None of it is matched to an individual. And in 2026 there is a second question students ask: how much of this role is AI already doing? Career advice that ignores that question is incomplete.
So on the right are the three kinds of evidence we decided a useful answer must show. AI exposure means the share of a role's everyday tasks that people in that role already do with AI tools. Salary evidence means what comparable people actually earn, in a comparable country and at a comparable experience level. A skill gap is the list of specific technologies that separate what you know from what people in the target role use.
The banner at the bottom is our data mining problem in one sentence: given a person's self-reported technologies, experience, education, location and AI usage, predict which developer job roles their profile most resembles, and support each suggestion with evidence from the same survey.
If asked why "resembles" and not "should become": the model learns what people who hold a role look like. A low score means your profile is unlike that role's survey respondents. It does not mean you cannot do the job.
Transition: that problem gave us one aim and six objectives, which are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 S P S Bandara (slide 2 of 3)
Our aim was to design, build and evaluate an AI-aware job role and career path recommendation system by mining the Stack Overflow Developer Survey 2025.
The six objectives follow the data mining process, and they are also the structure of this presentation. Objectives one and two, understanding and preparing the data, are covered by me and by Yoosuf. Objectives three and four, developing, optimising and evaluating the models, are covered by Wijesinghe. Objectives five and six, the role insights, the deployed system and its testing, are covered across the second half.
On scope. The target is 20 skill-defined job roles, grouped into 12 broader role families such as Data Science and ML or DevOps and Cloud. We predict the specific role because roles inside one family use different tools: data scientists use R and Databricks, while data and business analysts use VBA and Access. The family score is simply the sum of the role probabilities inside it, so one model serves both levels.
The users we designed for are students and early-career developers.
What we left out is just as deliberate. Management, executive and non-technical roles are excluded because they describe seniority, not a skill path. Age and gender are never model inputs, which is a fairness decision. The system must not be used for hiring, screening or setting salaries. And the application stores and logs nothing the user types.
If asked about hosting: large-scale public hosting and load handling were out of scope. The system is built to serve one user at a time.
Transition: all of this depends on the data, so let me show what the survey looks like and what we found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 S P S Bandara (slide 3 of 3)
The dataset is the public results file of the Stack Overflow Annual Developer Survey 2025: 49,123 responses and 170 attributes. It is published under the Open Database License, which requires attribution, so the application shows the attribution line on every result.
On the left are the attribute groups we used. The job role is the class label. The technology questions are multi-select lists for seven areas, each asked twice: what you have worked with and what you want to work with. Then experience, education, country and the AI questions. Pay is used only for the salary benchmark. It is never a model input.
We did the exploratory analysis on the training split only, so no decision was influenced by the test respondents.
The chart in the middle is the most important finding. Full-stack Developer is 39.4 percent of the training data, 7,279 people. The smallest role, UX / UI Designer, has 47. That is a ratio of about 155 to 1. A model that always answers "Full-stack" would be 39 percent accurate while knowing nothing, so accuracy cannot be our headline metric.
The heatmap on the right is the second finding. Each role is represented by its average technology profile, and we compute the cosine similarity between roles, where 1 means identical. Cloud Infrastructure Engineer and DevOps Engineer are at 0.99, and Data Engineer and Data Scientist at 0.97. No algorithm can perfectly separate roles that use the same tools. This is why the product shows three ranked roles and the family total, not a single answer.
The strip at the bottom links each finding to its consequence. Two more: lift measures how many times more common a technology is in a group than overall, and Swift is 9.7 times as common among mobile developers. And AI use differs strongly by role: on average 19.1 percent of thirteen development tasks are done with AI today, rising to 39.0 percent with planned use, and 14.4 percent of respondents see AI as a threat to their job.
If asked about data quality: 5,794 responses were near-empty, 87 people ticked almost every option in a technology list, and some salaries were clearly typed in thousands. The next section explains how those were handled.
Transition: I will hand over to Yoosuf A.A, who explains how we turned these findings into a methodology and a clean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Yoosuf A.A (slide 1 of 3)
We followed CRISP-DM, the Cross-Industry Standard Process for Data Mining. It divides a project into six phases, and this slide shows what each phase actually was in SkillPath.
Business understanding was the problem, the aim and the objectives you have just seen. Data understanding was the quality audit and the exploratory analysis. Data preparation was the cleaning rules, the cohort definition, the train and test split and the feature pipeline. Modelling was six algorithms and a baseline, followed by four optimisation phases. Evaluation was a selection rule written in advance and a single test on held-out data. Deployment was the web API and the web application, verified by automated tests.
CRISP-DM is iterative, and ours genuinely was. Two examples: a modelling experiment showed that scaling the binary technology columns costs about 0.025 macro-F1, which confirmed a data preparation decision. And class weighting, which we had applied as a precaution, turned out to harm Logistic Regression, so it was removed.
The four principles at the bottom are what make the numbers trustworthy. One shared Python package, called skillpath, is used by the notebooks, the scripts and the web backend, so each step has exactly one definition. We split first and learn later: only fixed rules run before the split. The preprocessing sits inside the saved model, so cross-validation refits it on every fold and the web service applies exactly the same transformation. And the test split is opened once, by one script, after the model is chosen.
If asked about reproducibility: the full preprocessing rebuilds from the raw file with one command in about 15 seconds, a fixed random seed of 42 is used for the split, the folds and every model, and every cross-validation run is logged with a timestamp, 26 runs in total.
Transition: the next slide goes into the data preparation phase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Yoosuf A.A (slide 2 of 3)
The left side shows how 49,123 raw responses became the modelling cohort.
First we removed 5,794 near-empty responses. These have ten or fewer answered fields, which is only the screening questions, so they carry no role, skill or AI information. We checked for exact duplicates after that and none remained, because every duplicate was one of those near-empty rows.
Then we removed 87 straight-liners. In a multi-select survey, careless answering looks like ticking almost everything, so the rule is: ticked at least 90 percent of the options in any technology list, for example 38 of the 42 languages. That threshold comes from the questionnaire's option counts, not from statistics of the data, which is why it is safe to apply before the split.
The next three steps define the cohort. We keep people with a specific developer role, then only skill-defined technical roles, then only those who answered the main technology question. That leaves 23,072 respondents across 20 roles.
The split is 80/20, stratified on the job role, which gives 18,457 training and 4,615 test respondents. Stratified means every role keeps the same share on both sides: the largest difference is 0.02 percentage points, and even the smallest role keeps 12 test examples. The response IDs are frozen in a file, so every notebook and script reloads the same split.
On the right, the key idea is the difference between deterministic rules and learned transformations. Deterministic rules learn nothing from the data, so they cannot leak. Anything learned, such as vocabularies, medians and scaling, is fitted on the training rows only.
Two cleaning details worth knowing. The survey tells people to leave work experience blank if it is zero, so 2,919 blanks are genuine zeros. Median imputation would have given new graduates about ten years of work. And values that are impossible for the respondent's age band, such as 100 years of coding at age 25 to 34, were set to missing.
Data leakage means information that would not be available at prediction time influencing training or evaluation. It is the most common reason results look better than they really are, and unit tests check each of our leakage rules automatically.
Transition: with a clean cohort, the next slide shows how each person becomes 479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Yoosuf A.A (slide 3 of 3)
The diagram at the top is a single scikit-learn pipeline. A survey-format row goes in on the left, and 479 features come out on the right and feed the classifier. Because the pipeline is saved together with the model, the web service uses exactly the same code.
Most of the features are technology flags: 403 of the 479 are binary columns, one per technology, for both the "have worked with" and "want to work with" lists of seven areas. Technologies chosen by fewer than 0.5 percent of training respondents, about 92 people, are pooled into an OTHER column per list, which also absorbs any value the model has never seen. Experience and technology counts are log-transformed because they are skewed. Country has 177 sparse values, so it is mapped to 13 regions.
The middle strip is the detail I would highlight. An empty technology list can mean two different things. If the person answered "No" to the gate question for that area, they use none, which is a true zero. If they skipped the question, we simply do not know. Between 56 and 82 percent of empty lists are true zeros, so we encode the two cases differently with a separate "unknown" indicator, and we never impute technologies.
We also engineered a career-changer flag for people with more years of work than years of coding. It is 24 percent of QA and test engineers but only 3 percent of back-end developers, so it is a real pattern.
The three cards at the bottom are supporting datasets. They are shown next to each recommendation, and none of them is a model input.
The AI Exposure Index: the survey asks about thirteen development tasks. A task done mostly with AI counts 1, partly with AI counts 0.5, and the index is 100 times the mean. Across all roles it is 19.1 now and 39.0 including planned use.
The salary benchmark: pay has unit errors, so we use a robust z-score, based on the median and the median absolute deviation, of log pay within each country. Then we report the median and the middle half for the most specific peer group that has at least 30 people. If the role in your country is too small, it falls back through six levels, ending at the worldwide family. The reference set has 15,545 respondents.
The skill gap uses lift: the share of a role that uses a technology, divided by the share across all roles. A technology is distinctive if at least 20 percent of the role uses it and its lift is at least 1.1.
If asked about feature selection: chi-square and ANOVA tests found 431 of the 479 features significant after Bonferroni correction, and supervised selection was later tested inside cross-validation and did not help.
Transition: I will hand over to M G S D Wijesinghe, who explains how we modelled this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 G S D Wijesinghe (slide 1 of 3)
This is a supervised multi-class classification problem. The class label is the job role, with 20 classes, and the input is the 479 features. One product constraint applies to every model: it must output probabilities, because the application ranks three roles and sums the probabilities into families.
We compared six algorithms, chosen to cover different ways of learning and not six variations of one idea. Complement Naive Bayes assumes features are independent given the class. k-Nearest Neighbours with cosine distance directly tests our product premise, "similar skills, similar job". Logistic Regression draws linear decision boundaries and gives good probabilities. The Linear SVM maximises the margin and is wrapped in a calibrator to produce probabilities. Random Forest and Histogram Gradient Boosting are tree ensembles that can capture combinations of skills. The seventh model is a dummy that always answers the most frequent class. It sets the floor.
For validation we used stratified 5-fold cross-validation on the training split, with the same folds for every experiment so every number is comparable. Stratified means each fold keeps the class proportions, so rare roles appear in every fold. Five folds leave about nine examples of the smallest role in each validation fold. Ten folds would leave about four, which makes its score mostly noise. Because the preprocessing is inside the model, each fold refits it on its own training part.
Now the metric. Macro-F1 is the plain average of the F1 score of each of the 20 roles, so every role counts equally and ignoring rare roles is penalised. The chart shows why this matters. The grey bars are accuracy and the blue bars are macro-F1. The dummy model scores 39.4 percent accuracy, which is even higher than the first Logistic Regression at 36.6 percent, yet its macro-F1 is 0.028. Accuracy hides what macro-F1 shows.
At this first stage Histogram Gradient Boosting leads with macro-F1 0.272, followed by Logistic Regression at 0.255 and Random Forest at 0.254. The top three are within 0.019 of each other, which is about the size of the fold-to-fold variation, so the ceiling is set mainly by the data, not by the algorithm.
If asked why the first Logistic Regression has low accuracy: it was run with balanced class weights, which chase rare roles at the cost of many false positives. The next slide shows what happened when we tested that.
Transition: these are initial configurations only. Next is how optimisation changed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 G S D Wijesinghe (slide 2 of 3)
Optimisation ran in four phases, and each one answered a question raised earlier.
Phase A was imbalance handling: no treatment, class weighting, or random oversampling of minority roles. We rejected SMOTE on principle, because interpolating between binary skill vectors creates rows like "0.4 knows React" that nobody could report. The result overturned our own assumption. For Logistic Regression, removing class weighting raises macro-F1 from 0.2535 to 0.3003. That gain of 0.047 is larger than any hyper-parameter effect we found later. The reason is that re-weighting forces the model to inflate rare-role probabilities everywhere: it gains some recall but loses far more precision. Random Forest shows the opposite, improving from 0.1869 to 0.2548 with weighting. So imbalance handling is a property of the algorithm and data pair, not a universal good.
Phase B tested the feature set. Removing the "want to learn" lists costs about 0.009 macro-F1, so they earn their place. Chi-square feature selection did not help. And adding current-job context scored slightly higher but was rejected, because students, our main users, have no employer and would leave those questions blank.
Phase C was hyper-parameter tuning with randomised search, which finds good settings far more efficiently than a grid when only a few parameters matter. Both linear models preferred much stronger regularisation than the default, which tells us the untuned models were overfitting.
Phase D is the chart. Grey is the Stage 6 baseline and blue is the tuned model. All four improve, but the ranking changes. Gradient Boosting led at first with 0.2724. After tuning, Logistic Regression reaches 0.3030 against 0.2860 for Gradient Boosting, a lead of about twice its standard deviation. If we had tuned only the early leader, we would have shipped the wrong model.
The selection rule in the banner was written down before the results were read, so it could not be adjusted to favour a model: the highest 5-fold macro-F1, and models within one standard deviation of the best count as tied, with the cheapest to fit winning. In the event the tie-break was not needed, because Logistic Regression was the only model within one standard deviation of the best.
The final model is Logistic Regression with C equal to 0.218 and no class weighting. It fits in 3.3 seconds, its coefficients are interpretable, and it is saved with its preprocessing as one small pipeline file.
Transition: the last question is whether this holds on data the model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 G S D Wijesinghe (slide 3 of 3)
The chosen model was refitted on all 18,457 training rows and evaluated exactly once on the 4,615 held-out respondents. Only one script ever reads the test split.
The headline is on the left. For 83.92 percent of held-out respondents, their real job role is among the three roles SkillPath shows. At the career-family level it is 87.78 percent. In practical terms, for about 84 out of 100 people the right answer is on the screen. The majority-class baseline reaches about 0.41 top-3 accuracy in cross-validation, so the model roughly doubles that.
The other tiles are the stricter metrics. Top-1 accuracy is 54.93 percent. Macro-F1 is 0.2845 at role level and 0.4149 at family level.
The small table shows the validation was honest. Macro-F1 was 0.3030 in cross-validation and 0.2845 on the test set. That gap of 0.0185 is about two fold standard deviations and is in the expected direction, because the cross-validated figure is the maximum over a search. Top-3 accuracy is almost identical, and log loss matches to four decimals. So there is no sign of leakage inflating our numbers.
We want to be straightforward about the limits. A macro-F1 of 0.28 is modest. The causes are structural: Full-stack is 39 percent of the data and absorbs uncertain profiles, several roles share technology profiles, and job titles are self-reported.
The chart on the right shows that the model does not predict every role equally well. Mobile, Full-stack and Embedded are recognised well because they are large or use distinctive tools. Mobile has only 739 training examples but an F1 of about 0.70, because Swift, Kotlin, Xcode and Android Studio are used by almost nobody else. At the bottom, seven roles have a test recall below 0.10, and two of them, AI Application Developer and UX / UI Designer, are never predicted as the first choice.
We do not hide this in an average. The application marks those seven roles with a "low confidence" badge whenever they are recommended.
If asked what recall and precision mean here: recall is the share of people truly in a role that the model finds, and precision is the share of its predictions for that role that are right. F1 combines the two.
Transition: I will hand over to K M H S Bandara, who shows how this model became a working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 M H S Bandara (slide 1 of 3)
This is the real architecture. The top row is what runs when someone asks for a recommendation, and the row below it is the offline workflow that produces the model.
The web application is built with React 19, TypeScript, Vite and Material UI. It builds its questionnaire from the API's list of valid options, so it can only offer values the model understands.
The web API is built with FastAPI, with Pydantic for validation and Uvicorn as the server. It has three endpoints: health, options and predict.
The API does not re-implement any preprocessing. It uses the same skillpath package as the notebooks and training scripts. A function called profile_to_frame converts the validated answers into a one-row table that looks exactly like a survey row, and passes it to the saved pipeline, which contains the fitted preprocessing and the Logistic Regression.
The artifacts are the saved pipeline, the pre-computed role insights, the list of valid options and the model card. The deployed system needs only these and the package. It does not need the respondent-level data.
The seven steps at the bottom are the prediction flow. The browser sends the answers as JSON. Pydantic validates every answer against the valid options and returns HTTP 422 with one readable message per field if something is wrong. The profile becomes a survey-format row. The pipeline returns 20 role probabilities. The top three roles are selected, and the probabilities are summed into families. The insights file supplies the AI outlook, salary benchmark, skill gap and low-confidence flag. And the response is rendered as the results page.
Validation mirrors the cleaning rules: years must be between 0 and 60, and ticking 90 percent or more of a technology list is rejected, just as in training. Nothing the user sends is stored or logged, and a prediction takes about 15 milliseconds including the insights.
If asked about version safety: the scikit-learn version used to save the model is recorded in the model card, and the service logs a warning if a different version is installed.
If asked about hosting: the repository also contains configuration to host the API on Render and the web app on Vercel. On a free tier the API sleeps when idle, so the first request after a quiet spell can take about a minute.
Transition: next is what the application looks like and how we tested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 M H S Bandara (slide 2 of 3)
These are real screenshots of the running application, taken with the built-in example profile of a Sri Lankan computer science undergraduate. The interface has been restyled since the report was written, so it looks different from the report's figures, but the results are the same.
The screenshots are numbered. Number 1 is the questionnaire. For each technology area you pick what you have used in the past year and what you want to work with next, or tick "I don't use any of these", which is sent as a true zero and not as a skipped question.
Number 2 is the results page. The best match is Full-stack Developer at 64 percent, followed by Back-end Developer at 23 percent and Desktop / Enterprise Developer at 3 percent. Each percentage is how likely the model thinks it is that a developer with these answers works in that role.
Number 3 is the evidence for one role. The AI outlook says people in this role do 20 out of 100 everyday tasks with AI today, against an all-roles average of 19. Typical pay is a median of 5,600 US dollars a year, and the app states exactly which peer group that came from: 73 full-stack developers in South Asia with 0 to 2 years of experience. The page also shows the career families and a skill-gap list.
Number 4 is the what-if comparison. Adding TypeScript re-runs the prediction and shows a before-and-after table: Full-stack moves up 1.6 points, and Front-end Developer enters the top three. That turns the recommendation into a learning-planning tool.
On testing. The final report documents 178 automated tests at five levels, with 177 passed, 1 skipped and none failed. The skipped test needs the 140 megabyte raw survey file and runs whenever that file is present.
The levels follow the path of a recommendation: unit tests for the data and model, unit tests for the insights, integration tests for the API over HTTP, unit tests for the web app logic, and a system test that drives a real Chrome browser through 15 scenarios against the real API.
The check I would highlight is training–serving parity. Real survey rows are converted to the JSON format the web form sends and passed through the API's conversion. For 300 rows the maximum probability difference from the direct model call was exactly zero, and the API tests repeat this with 150 held-out respondents over HTTP. That proves the deployed service preprocesses inputs exactly as the validated model expects.
If asked about the test count today: 178 is the figure in the final report. The web-app unit suite has grown since then as the interface was extended, and it currently has 82 tests, all passing.
If asked what was not tested: only Chrome was automated, and no screen-reader test, load test or usability study with real users was carried out.
Transition: the last slide covers the limitations, future work and our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K M H S Bandara (slide 3 of 3)
To summarise what we achieved. We built a leakage-free pipeline that takes 49,123 survey responses to 479 features. We compared six algorithms systematically, and that process produced two findings a less careful approach would have missed: class weighting harms Logistic Regression on this data, and tuning changed the winning algorithm. On held-out data the correct role is among the three shown 83.9 percent of the time, and the correct family 87.8 percent. And the model is deployed as a web API and web application, verified by 178 automated tests.
The limitations are real and we state them in the application as well. Stack Overflow respondents are not a random sample of all developers. They skew towards particular regions, languages and seniority levels. Roles and skills are self-reported, so two people doing the same work may label it differently. The model is weak on rare roles, and two of them are never predicted first. It is a single-year snapshot of 2025, and technology and AI adoption change quickly. And the salary figures are US-dollar benchmarks that may not match local pay, especially when only a worldwide group has enough people.
For future work: retraining every year on each new survey and tracking how roles and AI exposure change. Collecting more examples of rare roles, for example by merging survey years, or using hierarchical models that share strength within a family. Adding per-user explanations from the Logistic Regression coefficients, such as "these three technologies pushed you towards Data Engineer". Recommending learning resources and showing salaries in local currency. And usability and accessibility testing with SLIIT students.
In conclusion, SkillPath applies the full data mining process, from understanding the data to a tested deployment, to turn a developer's skills and AI usage into three explained, evidence-backed role recommendations, with an honest evaluation and transparent limits.
Thank you. We are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400800"/>
            <a:ext cx="11094415" cy="10973"/>
          </a:xfrm>
          <a:prstGeom prst="rect">
            <a:avLst/>
          </a:prstGeom>
          <a:solidFill>
            <a:srgbClr val="DCE3EC"/>
          </a:solidFill>
          <a:ln/>
        </p:spPr>
      </p:sp>
      <p:sp>
        <p:nvSpPr>
          <p:cNvPr id="3" name="Shape 1"/>
          <p:cNvSpPr/>
          <p:nvPr/>
        </p:nvSpPr>
        <p:spPr>
          <a:xfrm>
            <a:off x="548640" y="6519672"/>
            <a:ext cx="128016" cy="128016"/>
          </a:xfrm>
          <a:prstGeom prst="rect">
            <a:avLst/>
          </a:prstGeom>
          <a:solidFill>
            <a:srgbClr val="2563EB"/>
          </a:solidFill>
          <a:ln/>
        </p:spPr>
      </p:sp>
      <p:sp>
        <p:nvSpPr>
          <p:cNvPr id="4" name="Text 2"/>
          <p:cNvSpPr/>
          <p:nvPr/>
        </p:nvSpPr>
        <p:spPr>
          <a:xfrm>
            <a:off x="749808" y="6464808"/>
            <a:ext cx="822960" cy="237744"/>
          </a:xfrm>
          <a:prstGeom prst="rect">
            <a:avLst/>
          </a:prstGeom>
          <a:noFill/>
          <a:ln/>
        </p:spPr>
        <p:txBody>
          <a:bodyPr wrap="square" lIns="0" tIns="0" rIns="0" bIns="0" rtlCol="0" anchor="ctr"/>
          <a:lstStyle/>
          <a:p>
            <a:pPr indent="0" marL="0">
              <a:buNone/>
            </a:pPr>
            <a:r>
              <a:rPr lang="en-US" sz="1050" b="1" dirty="0">
                <a:solidFill>
                  <a:srgbClr val="0B1B3A"/>
                </a:solidFill>
                <a:latin typeface="Calibri" pitchFamily="34" charset="0"/>
                <a:ea typeface="Calibri" pitchFamily="34" charset="-122"/>
                <a:cs typeface="Calibri" pitchFamily="34" charset="-120"/>
              </a:rPr>
              <a:t>SkillPath</a:t>
            </a:r>
            <a:endParaRPr lang="en-US" sz="1050" dirty="0"/>
          </a:p>
        </p:txBody>
      </p:sp>
      <p:sp>
        <p:nvSpPr>
          <p:cNvPr id="5" name="Text 3"/>
          <p:cNvSpPr/>
          <p:nvPr/>
        </p:nvSpPr>
        <p:spPr>
          <a:xfrm>
            <a:off x="1463040" y="6464808"/>
            <a:ext cx="5486400"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IT3051 – Fundamentals of Data Mining  ·  Group KND_12</a:t>
            </a:r>
            <a:endParaRPr lang="en-US" sz="1000" dirty="0"/>
          </a:p>
        </p:txBody>
      </p:sp>
      <p:sp>
        <p:nvSpPr>
          <p:cNvPr id="25" name="Slide Number Placeholder 0"/>
          <p:cNvSpPr>
            <a:spLocks noGrp="1"/>
          </p:cNvSpPr>
          <p:nvPr>
            <p:ph type="sldNum" sz="quarter" idx="4294967295"/>
          </p:nvPr>
        </p:nvSpPr>
        <p:spPr>
          <a:xfrm>
            <a:off x="11094415" y="6464808"/>
            <a:ext cx="5486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64748B"/>
                </a:solidFill>
                <a:latin typeface="Calibri"/>
                <a:ea typeface="Calibri"/>
                <a:cs typeface="Calibri"/>
              </a:defRPr>
            </a:lvl1pPr>
          </a:lstStyle>
          <a:p>
            <a:pPr algn="r"/>
            <a:fld id="{F7021451-1387-4CA6-816F-3879F97B5CBC}" type="slidenum">
              <a:rPr b="1"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64808"/>
            <a:ext cx="5486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64748B"/>
                </a:solidFill>
                <a:latin typeface="Calibri"/>
                <a:ea typeface="Calibri"/>
                <a:cs typeface="Calibr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3A"/>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p:spPr>
      </p:sp>
      <p:sp>
        <p:nvSpPr>
          <p:cNvPr id="3" name="Text 1"/>
          <p:cNvSpPr/>
          <p:nvPr/>
        </p:nvSpPr>
        <p:spPr>
          <a:xfrm>
            <a:off x="685800" y="640080"/>
            <a:ext cx="5760720" cy="274320"/>
          </a:xfrm>
          <a:prstGeom prst="rect">
            <a:avLst/>
          </a:prstGeom>
          <a:noFill/>
          <a:ln/>
        </p:spPr>
        <p:txBody>
          <a:bodyPr wrap="square" lIns="0" tIns="0" rIns="0" bIns="0" rtlCol="0" anchor="ctr"/>
          <a:lstStyle/>
          <a:p>
            <a:pPr indent="0" marL="0">
              <a:buNone/>
            </a:pPr>
            <a:r>
              <a:rPr lang="en-US" sz="1200" b="1" spc="50" kern="0" dirty="0">
                <a:solidFill>
                  <a:srgbClr val="9DC1FF"/>
                </a:solidFill>
                <a:latin typeface="Calibri" pitchFamily="34" charset="0"/>
                <a:ea typeface="Calibri" pitchFamily="34" charset="-122"/>
                <a:cs typeface="Calibri" pitchFamily="34" charset="-120"/>
              </a:rPr>
              <a:t>IT3051 – Fundamentals of Data Mining   ·   Mini Project   ·   Group KND_12</a:t>
            </a:r>
            <a:endParaRPr lang="en-US" sz="1200" dirty="0"/>
          </a:p>
        </p:txBody>
      </p:sp>
      <p:sp>
        <p:nvSpPr>
          <p:cNvPr id="4" name="Text 2"/>
          <p:cNvSpPr/>
          <p:nvPr/>
        </p:nvSpPr>
        <p:spPr>
          <a:xfrm>
            <a:off x="685800" y="1097280"/>
            <a:ext cx="5760720" cy="1051560"/>
          </a:xfrm>
          <a:prstGeom prst="rect">
            <a:avLst/>
          </a:prstGeom>
          <a:noFill/>
          <a:ln/>
        </p:spPr>
        <p:txBody>
          <a:bodyPr wrap="square" lIns="0" tIns="0" rIns="0" bIns="0" rtlCol="0" anchor="ctr"/>
          <a:lstStyle/>
          <a:p>
            <a:pPr indent="0" marL="0">
              <a:buNone/>
            </a:pPr>
            <a:r>
              <a:rPr lang="en-US" sz="6800" b="1" dirty="0">
                <a:solidFill>
                  <a:srgbClr val="FFFFFF"/>
                </a:solidFill>
                <a:latin typeface="Calibri" pitchFamily="34" charset="0"/>
                <a:ea typeface="Calibri" pitchFamily="34" charset="-122"/>
                <a:cs typeface="Calibri" pitchFamily="34" charset="-120"/>
              </a:rPr>
              <a:t>SkillPath</a:t>
            </a:r>
            <a:endParaRPr lang="en-US" sz="6800" dirty="0"/>
          </a:p>
        </p:txBody>
      </p:sp>
      <p:sp>
        <p:nvSpPr>
          <p:cNvPr id="5" name="Text 3"/>
          <p:cNvSpPr/>
          <p:nvPr/>
        </p:nvSpPr>
        <p:spPr>
          <a:xfrm>
            <a:off x="685800" y="2212848"/>
            <a:ext cx="5669280" cy="822960"/>
          </a:xfrm>
          <a:prstGeom prst="rect">
            <a:avLst/>
          </a:prstGeom>
          <a:noFill/>
          <a:ln/>
        </p:spPr>
        <p:txBody>
          <a:bodyPr wrap="square" lIns="0" tIns="0" rIns="0" bIns="0" rtlCol="0" anchor="t"/>
          <a:lstStyle/>
          <a:p>
            <a:pPr indent="0" marL="0">
              <a:lnSpc>
                <a:spcPct val="95000"/>
              </a:lnSpc>
              <a:buNone/>
            </a:pPr>
            <a:r>
              <a:rPr lang="en-US" sz="2400" b="1" dirty="0">
                <a:solidFill>
                  <a:srgbClr val="9DC1FF"/>
                </a:solidFill>
                <a:latin typeface="Calibri" pitchFamily="34" charset="0"/>
                <a:ea typeface="Calibri" pitchFamily="34" charset="-122"/>
                <a:cs typeface="Calibri" pitchFamily="34" charset="-120"/>
              </a:rPr>
              <a:t>AI-Aware Developer Career Recommendation System</a:t>
            </a:r>
            <a:endParaRPr lang="en-US" sz="2400" dirty="0"/>
          </a:p>
        </p:txBody>
      </p:sp>
      <p:sp>
        <p:nvSpPr>
          <p:cNvPr id="6" name="Text 4"/>
          <p:cNvSpPr/>
          <p:nvPr/>
        </p:nvSpPr>
        <p:spPr>
          <a:xfrm>
            <a:off x="685800" y="3154680"/>
            <a:ext cx="5394960" cy="685800"/>
          </a:xfrm>
          <a:prstGeom prst="rect">
            <a:avLst/>
          </a:prstGeom>
          <a:noFill/>
          <a:ln/>
        </p:spPr>
        <p:txBody>
          <a:bodyPr wrap="square" lIns="0" tIns="0" rIns="0" bIns="0" rtlCol="0" anchor="t"/>
          <a:lstStyle/>
          <a:p>
            <a:pPr indent="0" marL="0">
              <a:lnSpc>
                <a:spcPct val="110000"/>
              </a:lnSpc>
              <a:buNone/>
            </a:pPr>
            <a:r>
              <a:rPr lang="en-US" sz="1350" dirty="0">
                <a:solidFill>
                  <a:srgbClr val="CBD5E1"/>
                </a:solidFill>
                <a:latin typeface="Calibri" pitchFamily="34" charset="0"/>
                <a:ea typeface="Calibri" pitchFamily="34" charset="-122"/>
                <a:cs typeface="Calibri" pitchFamily="34" charset="-120"/>
              </a:rPr>
              <a:t>Recommends developer job roles from a person’s skills, experience and AI usage, and explains each one with evidence on AI exposure, typical pay and skill gaps.</a:t>
            </a:r>
            <a:endParaRPr lang="en-US" sz="1350" dirty="0"/>
          </a:p>
        </p:txBody>
      </p:sp>
      <p:sp>
        <p:nvSpPr>
          <p:cNvPr id="7" name="Text 5"/>
          <p:cNvSpPr/>
          <p:nvPr/>
        </p:nvSpPr>
        <p:spPr>
          <a:xfrm>
            <a:off x="685800" y="4041648"/>
            <a:ext cx="2743200" cy="228600"/>
          </a:xfrm>
          <a:prstGeom prst="rect">
            <a:avLst/>
          </a:prstGeom>
          <a:noFill/>
          <a:ln/>
        </p:spPr>
        <p:txBody>
          <a:bodyPr wrap="square" lIns="0" tIns="0" rIns="0" bIns="0" rtlCol="0" anchor="t"/>
          <a:lstStyle/>
          <a:p>
            <a:pPr indent="0" marL="0">
              <a:buNone/>
            </a:pPr>
            <a:r>
              <a:rPr lang="en-US" sz="1050" b="1" spc="200" kern="0" dirty="0">
                <a:solidFill>
                  <a:srgbClr val="9DC1FF"/>
                </a:solidFill>
                <a:latin typeface="Calibri" pitchFamily="34" charset="0"/>
                <a:ea typeface="Calibri" pitchFamily="34" charset="-122"/>
                <a:cs typeface="Calibri" pitchFamily="34" charset="-120"/>
              </a:rPr>
              <a:t>PRESENTED BY</a:t>
            </a:r>
            <a:endParaRPr lang="en-US" sz="1050" dirty="0"/>
          </a:p>
        </p:txBody>
      </p:sp>
      <p:sp>
        <p:nvSpPr>
          <p:cNvPr id="8" name="Shape 6"/>
          <p:cNvSpPr/>
          <p:nvPr/>
        </p:nvSpPr>
        <p:spPr>
          <a:xfrm>
            <a:off x="685800" y="4352544"/>
            <a:ext cx="2651760" cy="585216"/>
          </a:xfrm>
          <a:prstGeom prst="roundRect">
            <a:avLst>
              <a:gd name="adj" fmla="val 12500"/>
            </a:avLst>
          </a:prstGeom>
          <a:solidFill>
            <a:srgbClr val="13294F"/>
          </a:solidFill>
          <a:ln w="9525">
            <a:solidFill>
              <a:srgbClr val="24427A"/>
            </a:solidFill>
            <a:prstDash val="solid"/>
          </a:ln>
        </p:spPr>
      </p:sp>
      <p:sp>
        <p:nvSpPr>
          <p:cNvPr id="9" name="Text 7"/>
          <p:cNvSpPr/>
          <p:nvPr/>
        </p:nvSpPr>
        <p:spPr>
          <a:xfrm>
            <a:off x="850392" y="4425696"/>
            <a:ext cx="2377440" cy="24688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 S P S Bandara</a:t>
            </a:r>
            <a:endParaRPr lang="en-US" sz="1350" dirty="0"/>
          </a:p>
        </p:txBody>
      </p:sp>
      <p:sp>
        <p:nvSpPr>
          <p:cNvPr id="10" name="Text 8"/>
          <p:cNvSpPr/>
          <p:nvPr/>
        </p:nvSpPr>
        <p:spPr>
          <a:xfrm>
            <a:off x="850392" y="4672584"/>
            <a:ext cx="2377440" cy="201168"/>
          </a:xfrm>
          <a:prstGeom prst="rect">
            <a:avLst/>
          </a:prstGeom>
          <a:noFill/>
          <a:ln/>
        </p:spPr>
        <p:txBody>
          <a:bodyPr wrap="square" lIns="0" tIns="0" rIns="0" bIns="0" rtlCol="0" anchor="ctr"/>
          <a:lstStyle/>
          <a:p>
            <a:pPr indent="0" marL="0">
              <a:buNone/>
            </a:pPr>
            <a:r>
              <a:rPr lang="en-US" sz="1050" dirty="0">
                <a:solidFill>
                  <a:srgbClr val="9DC1FF"/>
                </a:solidFill>
                <a:latin typeface="Calibri" pitchFamily="34" charset="0"/>
                <a:ea typeface="Calibri" pitchFamily="34" charset="-122"/>
                <a:cs typeface="Calibri" pitchFamily="34" charset="-120"/>
              </a:rPr>
              <a:t>IT23602250</a:t>
            </a:r>
            <a:endParaRPr lang="en-US" sz="1050" dirty="0"/>
          </a:p>
        </p:txBody>
      </p:sp>
      <p:sp>
        <p:nvSpPr>
          <p:cNvPr id="11" name="Shape 9"/>
          <p:cNvSpPr/>
          <p:nvPr/>
        </p:nvSpPr>
        <p:spPr>
          <a:xfrm>
            <a:off x="3474720" y="4352544"/>
            <a:ext cx="2651760" cy="585216"/>
          </a:xfrm>
          <a:prstGeom prst="roundRect">
            <a:avLst>
              <a:gd name="adj" fmla="val 12500"/>
            </a:avLst>
          </a:prstGeom>
          <a:solidFill>
            <a:srgbClr val="13294F"/>
          </a:solidFill>
          <a:ln w="9525">
            <a:solidFill>
              <a:srgbClr val="24427A"/>
            </a:solidFill>
            <a:prstDash val="solid"/>
          </a:ln>
        </p:spPr>
      </p:sp>
      <p:sp>
        <p:nvSpPr>
          <p:cNvPr id="12" name="Text 10"/>
          <p:cNvSpPr/>
          <p:nvPr/>
        </p:nvSpPr>
        <p:spPr>
          <a:xfrm>
            <a:off x="3639312" y="4425696"/>
            <a:ext cx="2377440" cy="24688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Yoosuf A.A</a:t>
            </a:r>
            <a:endParaRPr lang="en-US" sz="1350" dirty="0"/>
          </a:p>
        </p:txBody>
      </p:sp>
      <p:sp>
        <p:nvSpPr>
          <p:cNvPr id="13" name="Text 11"/>
          <p:cNvSpPr/>
          <p:nvPr/>
        </p:nvSpPr>
        <p:spPr>
          <a:xfrm>
            <a:off x="3639312" y="4672584"/>
            <a:ext cx="2377440" cy="201168"/>
          </a:xfrm>
          <a:prstGeom prst="rect">
            <a:avLst/>
          </a:prstGeom>
          <a:noFill/>
          <a:ln/>
        </p:spPr>
        <p:txBody>
          <a:bodyPr wrap="square" lIns="0" tIns="0" rIns="0" bIns="0" rtlCol="0" anchor="ctr"/>
          <a:lstStyle/>
          <a:p>
            <a:pPr indent="0" marL="0">
              <a:buNone/>
            </a:pPr>
            <a:r>
              <a:rPr lang="en-US" sz="1050" dirty="0">
                <a:solidFill>
                  <a:srgbClr val="9DC1FF"/>
                </a:solidFill>
                <a:latin typeface="Calibri" pitchFamily="34" charset="0"/>
                <a:ea typeface="Calibri" pitchFamily="34" charset="-122"/>
                <a:cs typeface="Calibri" pitchFamily="34" charset="-120"/>
              </a:rPr>
              <a:t>IT23645202</a:t>
            </a:r>
            <a:endParaRPr lang="en-US" sz="1050" dirty="0"/>
          </a:p>
        </p:txBody>
      </p:sp>
      <p:sp>
        <p:nvSpPr>
          <p:cNvPr id="14" name="Shape 12"/>
          <p:cNvSpPr/>
          <p:nvPr/>
        </p:nvSpPr>
        <p:spPr>
          <a:xfrm>
            <a:off x="685800" y="5047488"/>
            <a:ext cx="2651760" cy="585216"/>
          </a:xfrm>
          <a:prstGeom prst="roundRect">
            <a:avLst>
              <a:gd name="adj" fmla="val 12500"/>
            </a:avLst>
          </a:prstGeom>
          <a:solidFill>
            <a:srgbClr val="13294F"/>
          </a:solidFill>
          <a:ln w="9525">
            <a:solidFill>
              <a:srgbClr val="24427A"/>
            </a:solidFill>
            <a:prstDash val="solid"/>
          </a:ln>
        </p:spPr>
      </p:sp>
      <p:sp>
        <p:nvSpPr>
          <p:cNvPr id="15" name="Text 13"/>
          <p:cNvSpPr/>
          <p:nvPr/>
        </p:nvSpPr>
        <p:spPr>
          <a:xfrm>
            <a:off x="850392" y="5120640"/>
            <a:ext cx="2377440" cy="24688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 G S D Wijesinghe</a:t>
            </a:r>
            <a:endParaRPr lang="en-US" sz="1350" dirty="0"/>
          </a:p>
        </p:txBody>
      </p:sp>
      <p:sp>
        <p:nvSpPr>
          <p:cNvPr id="16" name="Text 14"/>
          <p:cNvSpPr/>
          <p:nvPr/>
        </p:nvSpPr>
        <p:spPr>
          <a:xfrm>
            <a:off x="850392" y="5367528"/>
            <a:ext cx="2377440" cy="201168"/>
          </a:xfrm>
          <a:prstGeom prst="rect">
            <a:avLst/>
          </a:prstGeom>
          <a:noFill/>
          <a:ln/>
        </p:spPr>
        <p:txBody>
          <a:bodyPr wrap="square" lIns="0" tIns="0" rIns="0" bIns="0" rtlCol="0" anchor="ctr"/>
          <a:lstStyle/>
          <a:p>
            <a:pPr indent="0" marL="0">
              <a:buNone/>
            </a:pPr>
            <a:r>
              <a:rPr lang="en-US" sz="1050" dirty="0">
                <a:solidFill>
                  <a:srgbClr val="9DC1FF"/>
                </a:solidFill>
                <a:latin typeface="Calibri" pitchFamily="34" charset="0"/>
                <a:ea typeface="Calibri" pitchFamily="34" charset="-122"/>
                <a:cs typeface="Calibri" pitchFamily="34" charset="-120"/>
              </a:rPr>
              <a:t>IT23564640</a:t>
            </a:r>
            <a:endParaRPr lang="en-US" sz="1050" dirty="0"/>
          </a:p>
        </p:txBody>
      </p:sp>
      <p:sp>
        <p:nvSpPr>
          <p:cNvPr id="17" name="Shape 15"/>
          <p:cNvSpPr/>
          <p:nvPr/>
        </p:nvSpPr>
        <p:spPr>
          <a:xfrm>
            <a:off x="3474720" y="5047488"/>
            <a:ext cx="2651760" cy="585216"/>
          </a:xfrm>
          <a:prstGeom prst="roundRect">
            <a:avLst>
              <a:gd name="adj" fmla="val 12500"/>
            </a:avLst>
          </a:prstGeom>
          <a:solidFill>
            <a:srgbClr val="13294F"/>
          </a:solidFill>
          <a:ln w="9525">
            <a:solidFill>
              <a:srgbClr val="24427A"/>
            </a:solidFill>
            <a:prstDash val="solid"/>
          </a:ln>
        </p:spPr>
      </p:sp>
      <p:sp>
        <p:nvSpPr>
          <p:cNvPr id="18" name="Text 16"/>
          <p:cNvSpPr/>
          <p:nvPr/>
        </p:nvSpPr>
        <p:spPr>
          <a:xfrm>
            <a:off x="3639312" y="5120640"/>
            <a:ext cx="2377440" cy="24688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K M H S Bandara</a:t>
            </a:r>
            <a:endParaRPr lang="en-US" sz="1350" dirty="0"/>
          </a:p>
        </p:txBody>
      </p:sp>
      <p:sp>
        <p:nvSpPr>
          <p:cNvPr id="19" name="Text 17"/>
          <p:cNvSpPr/>
          <p:nvPr/>
        </p:nvSpPr>
        <p:spPr>
          <a:xfrm>
            <a:off x="3639312" y="5367528"/>
            <a:ext cx="2377440" cy="201168"/>
          </a:xfrm>
          <a:prstGeom prst="rect">
            <a:avLst/>
          </a:prstGeom>
          <a:noFill/>
          <a:ln/>
        </p:spPr>
        <p:txBody>
          <a:bodyPr wrap="square" lIns="0" tIns="0" rIns="0" bIns="0" rtlCol="0" anchor="ctr"/>
          <a:lstStyle/>
          <a:p>
            <a:pPr indent="0" marL="0">
              <a:buNone/>
            </a:pPr>
            <a:r>
              <a:rPr lang="en-US" sz="1050" dirty="0">
                <a:solidFill>
                  <a:srgbClr val="9DC1FF"/>
                </a:solidFill>
                <a:latin typeface="Calibri" pitchFamily="34" charset="0"/>
                <a:ea typeface="Calibri" pitchFamily="34" charset="-122"/>
                <a:cs typeface="Calibri" pitchFamily="34" charset="-120"/>
              </a:rPr>
              <a:t>IT23792418</a:t>
            </a:r>
            <a:endParaRPr lang="en-US" sz="1050" dirty="0"/>
          </a:p>
        </p:txBody>
      </p:sp>
      <p:sp>
        <p:nvSpPr>
          <p:cNvPr id="20" name="Text 18"/>
          <p:cNvSpPr/>
          <p:nvPr/>
        </p:nvSpPr>
        <p:spPr>
          <a:xfrm>
            <a:off x="685800" y="5989320"/>
            <a:ext cx="5669280" cy="274320"/>
          </a:xfrm>
          <a:prstGeom prst="rect">
            <a:avLst/>
          </a:prstGeom>
          <a:noFill/>
          <a:ln/>
        </p:spPr>
        <p:txBody>
          <a:bodyPr wrap="square" lIns="0" tIns="0" rIns="0" bIns="0" rtlCol="0" anchor="ctr"/>
          <a:lstStyle/>
          <a:p>
            <a:pPr indent="0" marL="0">
              <a:buNone/>
            </a:pPr>
            <a:r>
              <a:rPr lang="en-US" sz="1250" dirty="0">
                <a:solidFill>
                  <a:srgbClr val="CBD5E1"/>
                </a:solidFill>
                <a:latin typeface="Calibri" pitchFamily="34" charset="0"/>
                <a:ea typeface="Calibri" pitchFamily="34" charset="-122"/>
                <a:cs typeface="Calibri" pitchFamily="34" charset="-120"/>
              </a:rPr>
              <a:t>Sri Lanka Institute of Information Technology (SLIIT)</a:t>
            </a:r>
            <a:endParaRPr lang="en-US" sz="1250" dirty="0"/>
          </a:p>
        </p:txBody>
      </p:sp>
      <p:sp>
        <p:nvSpPr>
          <p:cNvPr id="21" name="Shape 19"/>
          <p:cNvSpPr/>
          <p:nvPr/>
        </p:nvSpPr>
        <p:spPr>
          <a:xfrm>
            <a:off x="6675120" y="914400"/>
            <a:ext cx="5029200" cy="3265322"/>
          </a:xfrm>
          <a:prstGeom prst="rect">
            <a:avLst/>
          </a:prstGeom>
          <a:solidFill>
            <a:srgbClr val="FFFFFF"/>
          </a:solidFill>
          <a:ln w="9525">
            <a:solidFill>
              <a:srgbClr val="24427A"/>
            </a:solidFill>
            <a:prstDash val="solid"/>
          </a:ln>
        </p:spPr>
      </p:sp>
      <p:pic>
        <p:nvPicPr>
          <p:cNvPr id="22" name="Image 0" descr="/Users/yoosufahamed/Desktop/SLIIT/Y3S2/FDM-Fundamentals of Data Mining/Mini Project/SkillPath Repo/skillpath/output/assets/shot-start.jpg">    </p:cNvPr>
          <p:cNvPicPr>
            <a:picLocks noChangeAspect="1"/>
          </p:cNvPicPr>
          <p:nvPr/>
        </p:nvPicPr>
        <p:blipFill>
          <a:blip r:embed="rId1"/>
          <a:stretch>
            <a:fillRect/>
          </a:stretch>
        </p:blipFill>
        <p:spPr>
          <a:xfrm>
            <a:off x="6720840" y="960120"/>
            <a:ext cx="4937760" cy="3173882"/>
          </a:xfrm>
          <a:prstGeom prst="rect">
            <a:avLst/>
          </a:prstGeom>
        </p:spPr>
      </p:pic>
      <p:sp>
        <p:nvSpPr>
          <p:cNvPr id="23" name="Text 20"/>
          <p:cNvSpPr/>
          <p:nvPr/>
        </p:nvSpPr>
        <p:spPr>
          <a:xfrm>
            <a:off x="6720840" y="4225442"/>
            <a:ext cx="4937760" cy="219456"/>
          </a:xfrm>
          <a:prstGeom prst="rect">
            <a:avLst/>
          </a:prstGeom>
          <a:noFill/>
          <a:ln/>
        </p:spPr>
        <p:txBody>
          <a:bodyPr wrap="square" lIns="0" tIns="0" rIns="0" bIns="0" rtlCol="0" anchor="t"/>
          <a:lstStyle/>
          <a:p>
            <a:pPr indent="0" marL="0">
              <a:buNone/>
            </a:pPr>
            <a:r>
              <a:rPr lang="en-US" sz="1050" i="1" dirty="0">
                <a:solidFill>
                  <a:srgbClr val="9DC1FF"/>
                </a:solidFill>
                <a:latin typeface="Calibri" pitchFamily="34" charset="0"/>
                <a:ea typeface="Calibri" pitchFamily="34" charset="-122"/>
                <a:cs typeface="Calibri" pitchFamily="34" charset="-120"/>
              </a:rPr>
              <a:t>The SkillPath web application (start page)</a:t>
            </a:r>
            <a:endParaRPr lang="en-US" sz="1050" dirty="0"/>
          </a:p>
        </p:txBody>
      </p:sp>
      <p:sp>
        <p:nvSpPr>
          <p:cNvPr id="24" name="Shape 21"/>
          <p:cNvSpPr/>
          <p:nvPr/>
        </p:nvSpPr>
        <p:spPr>
          <a:xfrm>
            <a:off x="6720840" y="4828032"/>
            <a:ext cx="1152144" cy="914400"/>
          </a:xfrm>
          <a:prstGeom prst="roundRect">
            <a:avLst>
              <a:gd name="adj" fmla="val 8000"/>
            </a:avLst>
          </a:prstGeom>
          <a:solidFill>
            <a:srgbClr val="13294F"/>
          </a:solidFill>
          <a:ln w="9525">
            <a:solidFill>
              <a:srgbClr val="24427A"/>
            </a:solidFill>
            <a:prstDash val="solid"/>
          </a:ln>
        </p:spPr>
      </p:sp>
      <p:sp>
        <p:nvSpPr>
          <p:cNvPr id="25" name="Text 22"/>
          <p:cNvSpPr/>
          <p:nvPr/>
        </p:nvSpPr>
        <p:spPr>
          <a:xfrm>
            <a:off x="6720840" y="4919472"/>
            <a:ext cx="1152144" cy="41148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49,123</a:t>
            </a:r>
            <a:endParaRPr lang="en-US" sz="2100" dirty="0"/>
          </a:p>
        </p:txBody>
      </p:sp>
      <p:sp>
        <p:nvSpPr>
          <p:cNvPr id="26" name="Text 23"/>
          <p:cNvSpPr/>
          <p:nvPr/>
        </p:nvSpPr>
        <p:spPr>
          <a:xfrm>
            <a:off x="6766560" y="5340096"/>
            <a:ext cx="1060704" cy="310896"/>
          </a:xfrm>
          <a:prstGeom prst="rect">
            <a:avLst/>
          </a:prstGeom>
          <a:noFill/>
          <a:ln/>
        </p:spPr>
        <p:txBody>
          <a:bodyPr wrap="square" lIns="0" tIns="0" rIns="0" bIns="0" rtlCol="0" anchor="t"/>
          <a:lstStyle/>
          <a:p>
            <a:pPr algn="ctr" indent="0" marL="0">
              <a:buNone/>
            </a:pPr>
            <a:r>
              <a:rPr lang="en-US" sz="1000" dirty="0">
                <a:solidFill>
                  <a:srgbClr val="9DC1FF"/>
                </a:solidFill>
                <a:latin typeface="Calibri" pitchFamily="34" charset="0"/>
                <a:ea typeface="Calibri" pitchFamily="34" charset="-122"/>
                <a:cs typeface="Calibri" pitchFamily="34" charset="-120"/>
              </a:rPr>
              <a:t>survey responses</a:t>
            </a:r>
            <a:endParaRPr lang="en-US" sz="1000" dirty="0"/>
          </a:p>
        </p:txBody>
      </p:sp>
      <p:sp>
        <p:nvSpPr>
          <p:cNvPr id="27" name="Shape 24"/>
          <p:cNvSpPr/>
          <p:nvPr/>
        </p:nvSpPr>
        <p:spPr>
          <a:xfrm>
            <a:off x="7982712" y="4828032"/>
            <a:ext cx="1152144" cy="914400"/>
          </a:xfrm>
          <a:prstGeom prst="roundRect">
            <a:avLst>
              <a:gd name="adj" fmla="val 8000"/>
            </a:avLst>
          </a:prstGeom>
          <a:solidFill>
            <a:srgbClr val="13294F"/>
          </a:solidFill>
          <a:ln w="9525">
            <a:solidFill>
              <a:srgbClr val="24427A"/>
            </a:solidFill>
            <a:prstDash val="solid"/>
          </a:ln>
        </p:spPr>
      </p:sp>
      <p:sp>
        <p:nvSpPr>
          <p:cNvPr id="28" name="Text 25"/>
          <p:cNvSpPr/>
          <p:nvPr/>
        </p:nvSpPr>
        <p:spPr>
          <a:xfrm>
            <a:off x="7982712" y="4919472"/>
            <a:ext cx="1152144" cy="41148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20 / 12</a:t>
            </a:r>
            <a:endParaRPr lang="en-US" sz="2100" dirty="0"/>
          </a:p>
        </p:txBody>
      </p:sp>
      <p:sp>
        <p:nvSpPr>
          <p:cNvPr id="29" name="Text 26"/>
          <p:cNvSpPr/>
          <p:nvPr/>
        </p:nvSpPr>
        <p:spPr>
          <a:xfrm>
            <a:off x="8028432" y="5340096"/>
            <a:ext cx="1060704" cy="310896"/>
          </a:xfrm>
          <a:prstGeom prst="rect">
            <a:avLst/>
          </a:prstGeom>
          <a:noFill/>
          <a:ln/>
        </p:spPr>
        <p:txBody>
          <a:bodyPr wrap="square" lIns="0" tIns="0" rIns="0" bIns="0" rtlCol="0" anchor="t"/>
          <a:lstStyle/>
          <a:p>
            <a:pPr algn="ctr" indent="0" marL="0">
              <a:buNone/>
            </a:pPr>
            <a:r>
              <a:rPr lang="en-US" sz="1000" dirty="0">
                <a:solidFill>
                  <a:srgbClr val="9DC1FF"/>
                </a:solidFill>
                <a:latin typeface="Calibri" pitchFamily="34" charset="0"/>
                <a:ea typeface="Calibri" pitchFamily="34" charset="-122"/>
                <a:cs typeface="Calibri" pitchFamily="34" charset="-120"/>
              </a:rPr>
              <a:t>job roles / families</a:t>
            </a:r>
            <a:endParaRPr lang="en-US" sz="1000" dirty="0"/>
          </a:p>
        </p:txBody>
      </p:sp>
      <p:sp>
        <p:nvSpPr>
          <p:cNvPr id="30" name="Shape 27"/>
          <p:cNvSpPr/>
          <p:nvPr/>
        </p:nvSpPr>
        <p:spPr>
          <a:xfrm>
            <a:off x="9244584" y="4828032"/>
            <a:ext cx="1152144" cy="914400"/>
          </a:xfrm>
          <a:prstGeom prst="roundRect">
            <a:avLst>
              <a:gd name="adj" fmla="val 8000"/>
            </a:avLst>
          </a:prstGeom>
          <a:solidFill>
            <a:srgbClr val="13294F"/>
          </a:solidFill>
          <a:ln w="9525">
            <a:solidFill>
              <a:srgbClr val="24427A"/>
            </a:solidFill>
            <a:prstDash val="solid"/>
          </a:ln>
        </p:spPr>
      </p:sp>
      <p:sp>
        <p:nvSpPr>
          <p:cNvPr id="31" name="Text 28"/>
          <p:cNvSpPr/>
          <p:nvPr/>
        </p:nvSpPr>
        <p:spPr>
          <a:xfrm>
            <a:off x="9244584" y="4919472"/>
            <a:ext cx="1152144" cy="41148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479</a:t>
            </a:r>
            <a:endParaRPr lang="en-US" sz="2100" dirty="0"/>
          </a:p>
        </p:txBody>
      </p:sp>
      <p:sp>
        <p:nvSpPr>
          <p:cNvPr id="32" name="Text 29"/>
          <p:cNvSpPr/>
          <p:nvPr/>
        </p:nvSpPr>
        <p:spPr>
          <a:xfrm>
            <a:off x="9290304" y="5340096"/>
            <a:ext cx="1060704" cy="310896"/>
          </a:xfrm>
          <a:prstGeom prst="rect">
            <a:avLst/>
          </a:prstGeom>
          <a:noFill/>
          <a:ln/>
        </p:spPr>
        <p:txBody>
          <a:bodyPr wrap="square" lIns="0" tIns="0" rIns="0" bIns="0" rtlCol="0" anchor="t"/>
          <a:lstStyle/>
          <a:p>
            <a:pPr algn="ctr" indent="0" marL="0">
              <a:buNone/>
            </a:pPr>
            <a:r>
              <a:rPr lang="en-US" sz="1000" dirty="0">
                <a:solidFill>
                  <a:srgbClr val="9DC1FF"/>
                </a:solidFill>
                <a:latin typeface="Calibri" pitchFamily="34" charset="0"/>
                <a:ea typeface="Calibri" pitchFamily="34" charset="-122"/>
                <a:cs typeface="Calibri" pitchFamily="34" charset="-120"/>
              </a:rPr>
              <a:t>model features</a:t>
            </a:r>
            <a:endParaRPr lang="en-US" sz="1000" dirty="0"/>
          </a:p>
        </p:txBody>
      </p:sp>
      <p:sp>
        <p:nvSpPr>
          <p:cNvPr id="33" name="Shape 30"/>
          <p:cNvSpPr/>
          <p:nvPr/>
        </p:nvSpPr>
        <p:spPr>
          <a:xfrm>
            <a:off x="10506456" y="4828032"/>
            <a:ext cx="1152144" cy="914400"/>
          </a:xfrm>
          <a:prstGeom prst="roundRect">
            <a:avLst>
              <a:gd name="adj" fmla="val 8000"/>
            </a:avLst>
          </a:prstGeom>
          <a:solidFill>
            <a:srgbClr val="13294F"/>
          </a:solidFill>
          <a:ln w="9525">
            <a:solidFill>
              <a:srgbClr val="24427A"/>
            </a:solidFill>
            <a:prstDash val="solid"/>
          </a:ln>
        </p:spPr>
      </p:sp>
      <p:sp>
        <p:nvSpPr>
          <p:cNvPr id="34" name="Text 31"/>
          <p:cNvSpPr/>
          <p:nvPr/>
        </p:nvSpPr>
        <p:spPr>
          <a:xfrm>
            <a:off x="10506456" y="4919472"/>
            <a:ext cx="1152144" cy="41148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83.9%</a:t>
            </a:r>
            <a:endParaRPr lang="en-US" sz="2100" dirty="0"/>
          </a:p>
        </p:txBody>
      </p:sp>
      <p:sp>
        <p:nvSpPr>
          <p:cNvPr id="35" name="Text 32"/>
          <p:cNvSpPr/>
          <p:nvPr/>
        </p:nvSpPr>
        <p:spPr>
          <a:xfrm>
            <a:off x="10552176" y="5340096"/>
            <a:ext cx="1060704" cy="310896"/>
          </a:xfrm>
          <a:prstGeom prst="rect">
            <a:avLst/>
          </a:prstGeom>
          <a:noFill/>
          <a:ln/>
        </p:spPr>
        <p:txBody>
          <a:bodyPr wrap="square" lIns="0" tIns="0" rIns="0" bIns="0" rtlCol="0" anchor="t"/>
          <a:lstStyle/>
          <a:p>
            <a:pPr algn="ctr" indent="0" marL="0">
              <a:buNone/>
            </a:pPr>
            <a:r>
              <a:rPr lang="en-US" sz="1000" dirty="0">
                <a:solidFill>
                  <a:srgbClr val="9DC1FF"/>
                </a:solidFill>
                <a:latin typeface="Calibri" pitchFamily="34" charset="0"/>
                <a:ea typeface="Calibri" pitchFamily="34" charset="-122"/>
                <a:cs typeface="Calibri" pitchFamily="34" charset="-120"/>
              </a:rPr>
              <a:t>top-3 role accuracy</a:t>
            </a:r>
            <a:endParaRPr lang="en-US" sz="1000" dirty="0"/>
          </a:p>
        </p:txBody>
      </p:sp>
      <p:sp>
        <p:nvSpPr>
          <p:cNvPr id="36" name="Text 33"/>
          <p:cNvSpPr/>
          <p:nvPr/>
        </p:nvSpPr>
        <p:spPr>
          <a:xfrm>
            <a:off x="6720840" y="5989320"/>
            <a:ext cx="4937760" cy="274320"/>
          </a:xfrm>
          <a:prstGeom prst="rect">
            <a:avLst/>
          </a:prstGeom>
          <a:noFill/>
          <a:ln/>
        </p:spPr>
        <p:txBody>
          <a:bodyPr wrap="square" lIns="0" tIns="0" rIns="0" bIns="0" rtlCol="0" anchor="ctr"/>
          <a:lstStyle/>
          <a:p>
            <a:pPr algn="r" indent="0" marL="0">
              <a:buNone/>
            </a:pPr>
            <a:r>
              <a:rPr lang="en-US" sz="1050" dirty="0">
                <a:solidFill>
                  <a:srgbClr val="94A3B8"/>
                </a:solidFill>
                <a:latin typeface="Calibri" pitchFamily="34" charset="0"/>
                <a:ea typeface="Calibri" pitchFamily="34" charset="-122"/>
                <a:cs typeface="Calibri" pitchFamily="34" charset="-120"/>
              </a:rPr>
              <a:t>Stack Overflow Annual Developer Survey 2025 (ODbL v1.0)</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64008" cy="713232"/>
          </a:xfrm>
          <a:prstGeom prst="rect">
            <a:avLst/>
          </a:prstGeom>
          <a:solidFill>
            <a:srgbClr val="2563EB"/>
          </a:solidFill>
          <a:ln/>
        </p:spPr>
      </p:sp>
      <p:sp>
        <p:nvSpPr>
          <p:cNvPr id="3" name="Text 1"/>
          <p:cNvSpPr/>
          <p:nvPr/>
        </p:nvSpPr>
        <p:spPr>
          <a:xfrm>
            <a:off x="749808" y="429768"/>
            <a:ext cx="7315200" cy="256032"/>
          </a:xfrm>
          <a:prstGeom prst="rect">
            <a:avLst/>
          </a:prstGeom>
          <a:noFill/>
          <a:ln/>
        </p:spPr>
        <p:txBody>
          <a:bodyPr wrap="square" lIns="0" tIns="0" rIns="0" bIns="0" rtlCol="0" anchor="t"/>
          <a:lstStyle/>
          <a:p>
            <a:pPr indent="0" marL="0">
              <a:buNone/>
            </a:pPr>
            <a:r>
              <a:rPr lang="en-US" sz="1100" b="1" spc="200" kern="0" dirty="0">
                <a:solidFill>
                  <a:srgbClr val="2563EB"/>
                </a:solidFill>
                <a:latin typeface="Calibri" pitchFamily="34" charset="0"/>
                <a:ea typeface="Calibri" pitchFamily="34" charset="-122"/>
                <a:cs typeface="Calibri" pitchFamily="34" charset="-120"/>
              </a:rPr>
              <a:t>PROBLEM, OBJECTIVES &amp; DATASET</a:t>
            </a:r>
            <a:endParaRPr lang="en-US" sz="1100" dirty="0"/>
          </a:p>
        </p:txBody>
      </p:sp>
      <p:sp>
        <p:nvSpPr>
          <p:cNvPr id="4" name="Text 2"/>
          <p:cNvSpPr/>
          <p:nvPr/>
        </p:nvSpPr>
        <p:spPr>
          <a:xfrm>
            <a:off x="749808" y="676656"/>
            <a:ext cx="8229600" cy="512064"/>
          </a:xfrm>
          <a:prstGeom prst="rect">
            <a:avLst/>
          </a:prstGeom>
          <a:noFill/>
          <a:ln/>
        </p:spPr>
        <p:txBody>
          <a:bodyPr wrap="square" lIns="0" tIns="0" rIns="0" bIns="0" rtlCol="0" anchor="ctr"/>
          <a:lstStyle/>
          <a:p>
            <a:pPr indent="0" marL="0">
              <a:buNone/>
            </a:pPr>
            <a:r>
              <a:rPr lang="en-US" sz="2800" b="1" dirty="0">
                <a:solidFill>
                  <a:srgbClr val="0B1B3A"/>
                </a:solidFill>
                <a:latin typeface="Calibri" pitchFamily="34" charset="0"/>
                <a:ea typeface="Calibri" pitchFamily="34" charset="-122"/>
                <a:cs typeface="Calibri" pitchFamily="34" charset="-120"/>
              </a:rPr>
              <a:t>Problem Statement and Motivation</a:t>
            </a:r>
            <a:endParaRPr lang="en-US" sz="2800" dirty="0"/>
          </a:p>
        </p:txBody>
      </p:sp>
      <p:sp>
        <p:nvSpPr>
          <p:cNvPr id="5" name="Text 3"/>
          <p:cNvSpPr/>
          <p:nvPr/>
        </p:nvSpPr>
        <p:spPr>
          <a:xfrm>
            <a:off x="8945575" y="548640"/>
            <a:ext cx="2697480" cy="365760"/>
          </a:xfrm>
          <a:prstGeom prst="roundRect">
            <a:avLst>
              <a:gd name="adj" fmla="val 50000"/>
            </a:avLst>
          </a:prstGeom>
          <a:solidFill>
            <a:srgbClr val="EFF5FF"/>
          </a:solidFill>
          <a:ln w="9525">
            <a:solidFill>
              <a:srgbClr val="D2E2FD"/>
            </a:solid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Member 1</a:t>
            </a:r>
            <a:pPr algn="ctr" indent="0" marL="0">
              <a:buNone/>
            </a:pPr>
            <a:r>
              <a:rPr lang="en-US" sz="1100" b="1" dirty="0">
                <a:solidFill>
                  <a:srgbClr val="334155"/>
                </a:solidFill>
                <a:latin typeface="Calibri" pitchFamily="34" charset="0"/>
                <a:ea typeface="Calibri" pitchFamily="34" charset="-122"/>
                <a:cs typeface="Calibri" pitchFamily="34" charset="-120"/>
              </a:rPr>
              <a:t>   S S P S Bandara</a:t>
            </a:r>
            <a:endParaRPr lang="en-US" sz="1100" dirty="0"/>
          </a:p>
        </p:txBody>
      </p:sp>
      <p:sp>
        <p:nvSpPr>
          <p:cNvPr id="7" name="Text 4"/>
          <p:cNvSpPr/>
          <p:nvPr/>
        </p:nvSpPr>
        <p:spPr>
          <a:xfrm>
            <a:off x="548640" y="1417320"/>
            <a:ext cx="5440680" cy="237744"/>
          </a:xfrm>
          <a:prstGeom prst="rect">
            <a:avLst/>
          </a:prstGeom>
          <a:noFill/>
          <a:ln/>
        </p:spPr>
        <p:txBody>
          <a:bodyPr wrap="square" lIns="0" tIns="0" rIns="0" bIns="0" rtlCol="0" anchor="ctr"/>
          <a:lstStyle/>
          <a:p>
            <a:pPr indent="0" marL="0">
              <a:buNone/>
            </a:pPr>
            <a:r>
              <a:rPr lang="en-US" sz="1050" b="1" spc="150" kern="0" dirty="0">
                <a:solidFill>
                  <a:srgbClr val="64748B"/>
                </a:solidFill>
                <a:latin typeface="Calibri" pitchFamily="34" charset="0"/>
                <a:ea typeface="Calibri" pitchFamily="34" charset="-122"/>
                <a:cs typeface="Calibri" pitchFamily="34" charset="-120"/>
              </a:rPr>
              <a:t>WHY CHOOSING A PATH IS HARD</a:t>
            </a:r>
            <a:endParaRPr lang="en-US" sz="1050" dirty="0"/>
          </a:p>
        </p:txBody>
      </p:sp>
      <p:sp>
        <p:nvSpPr>
          <p:cNvPr id="8" name="Shape 5"/>
          <p:cNvSpPr/>
          <p:nvPr/>
        </p:nvSpPr>
        <p:spPr>
          <a:xfrm>
            <a:off x="548640" y="1737360"/>
            <a:ext cx="5440680" cy="950976"/>
          </a:xfrm>
          <a:prstGeom prst="roundRect">
            <a:avLst>
              <a:gd name="adj" fmla="val 8654"/>
            </a:avLst>
          </a:prstGeom>
          <a:solidFill>
            <a:srgbClr val="F6F8FB"/>
          </a:solidFill>
          <a:ln w="9525">
            <a:solidFill>
              <a:srgbClr val="DCE3EC"/>
            </a:solidFill>
            <a:prstDash val="solid"/>
          </a:ln>
        </p:spPr>
      </p:sp>
      <p:sp>
        <p:nvSpPr>
          <p:cNvPr id="9" name="Text 6"/>
          <p:cNvSpPr/>
          <p:nvPr/>
        </p:nvSpPr>
        <p:spPr>
          <a:xfrm>
            <a:off x="731520" y="1920240"/>
            <a:ext cx="384048" cy="384048"/>
          </a:xfrm>
          <a:prstGeom prst="ellipse">
            <a:avLst/>
          </a:prstGeom>
          <a:solidFill>
            <a:srgbClr val="0B1B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1280160" y="1865376"/>
            <a:ext cx="4526280" cy="274320"/>
          </a:xfrm>
          <a:prstGeom prst="rect">
            <a:avLst/>
          </a:prstGeom>
          <a:noFill/>
          <a:ln/>
        </p:spPr>
        <p:txBody>
          <a:bodyPr wrap="square" lIns="0" tIns="0" rIns="0" bIns="0" rtlCol="0" anchor="ctr"/>
          <a:lstStyle/>
          <a:p>
            <a:pPr indent="0" marL="0">
              <a:buNone/>
            </a:pPr>
            <a:r>
              <a:rPr lang="en-US" sz="1500" b="1" dirty="0">
                <a:solidFill>
                  <a:srgbClr val="0B1B3A"/>
                </a:solidFill>
                <a:latin typeface="Calibri" pitchFamily="34" charset="0"/>
                <a:ea typeface="Calibri" pitchFamily="34" charset="-122"/>
                <a:cs typeface="Calibri" pitchFamily="34" charset="-120"/>
              </a:rPr>
              <a:t>Many specialised roles</a:t>
            </a:r>
            <a:endParaRPr lang="en-US" sz="1500" dirty="0"/>
          </a:p>
        </p:txBody>
      </p:sp>
      <p:sp>
        <p:nvSpPr>
          <p:cNvPr id="11" name="Text 8"/>
          <p:cNvSpPr/>
          <p:nvPr/>
        </p:nvSpPr>
        <p:spPr>
          <a:xfrm>
            <a:off x="1280160" y="2167128"/>
            <a:ext cx="4526280" cy="457200"/>
          </a:xfrm>
          <a:prstGeom prst="rect">
            <a:avLst/>
          </a:prstGeom>
          <a:noFill/>
          <a:ln/>
        </p:spPr>
        <p:txBody>
          <a:bodyPr wrap="square" lIns="0" tIns="0" rIns="0" bIns="0" rtlCol="0" anchor="t"/>
          <a:lstStyle/>
          <a:p>
            <a:pPr indent="0" marL="0">
              <a:lnSpc>
                <a:spcPct val="105000"/>
              </a:lnSpc>
              <a:buNone/>
            </a:pPr>
            <a:r>
              <a:rPr lang="en-US" sz="1150" dirty="0">
                <a:solidFill>
                  <a:srgbClr val="334155"/>
                </a:solidFill>
                <a:latin typeface="Calibri" pitchFamily="34" charset="0"/>
                <a:ea typeface="Calibri" pitchFamily="34" charset="-122"/>
                <a:cs typeface="Calibri" pitchFamily="34" charset="-120"/>
              </a:rPr>
              <a:t>Back-end, front-end, mobile, data, ML, DevOps, cloud, security, QA: each has its own technology stack.</a:t>
            </a:r>
            <a:endParaRPr lang="en-US" sz="1150" dirty="0"/>
          </a:p>
        </p:txBody>
      </p:sp>
      <p:sp>
        <p:nvSpPr>
          <p:cNvPr id="12" name="Shape 9"/>
          <p:cNvSpPr/>
          <p:nvPr/>
        </p:nvSpPr>
        <p:spPr>
          <a:xfrm>
            <a:off x="548640" y="2798064"/>
            <a:ext cx="5440680" cy="950976"/>
          </a:xfrm>
          <a:prstGeom prst="roundRect">
            <a:avLst>
              <a:gd name="adj" fmla="val 8654"/>
            </a:avLst>
          </a:prstGeom>
          <a:solidFill>
            <a:srgbClr val="F6F8FB"/>
          </a:solidFill>
          <a:ln w="9525">
            <a:solidFill>
              <a:srgbClr val="DCE3EC"/>
            </a:solidFill>
            <a:prstDash val="solid"/>
          </a:ln>
        </p:spPr>
      </p:sp>
      <p:sp>
        <p:nvSpPr>
          <p:cNvPr id="13" name="Text 10"/>
          <p:cNvSpPr/>
          <p:nvPr/>
        </p:nvSpPr>
        <p:spPr>
          <a:xfrm>
            <a:off x="731520" y="2980944"/>
            <a:ext cx="384048" cy="384048"/>
          </a:xfrm>
          <a:prstGeom prst="ellipse">
            <a:avLst/>
          </a:prstGeom>
          <a:solidFill>
            <a:srgbClr val="0B1B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1"/>
          <p:cNvSpPr/>
          <p:nvPr/>
        </p:nvSpPr>
        <p:spPr>
          <a:xfrm>
            <a:off x="1280160" y="2926080"/>
            <a:ext cx="4526280" cy="274320"/>
          </a:xfrm>
          <a:prstGeom prst="rect">
            <a:avLst/>
          </a:prstGeom>
          <a:noFill/>
          <a:ln/>
        </p:spPr>
        <p:txBody>
          <a:bodyPr wrap="square" lIns="0" tIns="0" rIns="0" bIns="0" rtlCol="0" anchor="ctr"/>
          <a:lstStyle/>
          <a:p>
            <a:pPr indent="0" marL="0">
              <a:buNone/>
            </a:pPr>
            <a:r>
              <a:rPr lang="en-US" sz="1500" b="1" dirty="0">
                <a:solidFill>
                  <a:srgbClr val="0B1B3A"/>
                </a:solidFill>
                <a:latin typeface="Calibri" pitchFamily="34" charset="0"/>
                <a:ea typeface="Calibri" pitchFamily="34" charset="-122"/>
                <a:cs typeface="Calibri" pitchFamily="34" charset="-120"/>
              </a:rPr>
              <a:t>Guidance is generic</a:t>
            </a:r>
            <a:endParaRPr lang="en-US" sz="1500" dirty="0"/>
          </a:p>
        </p:txBody>
      </p:sp>
      <p:sp>
        <p:nvSpPr>
          <p:cNvPr id="15" name="Text 12"/>
          <p:cNvSpPr/>
          <p:nvPr/>
        </p:nvSpPr>
        <p:spPr>
          <a:xfrm>
            <a:off x="1280160" y="3227832"/>
            <a:ext cx="4526280" cy="457200"/>
          </a:xfrm>
          <a:prstGeom prst="rect">
            <a:avLst/>
          </a:prstGeom>
          <a:noFill/>
          <a:ln/>
        </p:spPr>
        <p:txBody>
          <a:bodyPr wrap="square" lIns="0" tIns="0" rIns="0" bIns="0" rtlCol="0" anchor="t"/>
          <a:lstStyle/>
          <a:p>
            <a:pPr indent="0" marL="0">
              <a:lnSpc>
                <a:spcPct val="105000"/>
              </a:lnSpc>
              <a:buNone/>
            </a:pPr>
            <a:r>
              <a:rPr lang="en-US" sz="1150" dirty="0">
                <a:solidFill>
                  <a:srgbClr val="334155"/>
                </a:solidFill>
                <a:latin typeface="Calibri" pitchFamily="34" charset="0"/>
                <a:ea typeface="Calibri" pitchFamily="34" charset="-122"/>
                <a:cs typeface="Calibri" pitchFamily="34" charset="-120"/>
              </a:rPr>
              <a:t>Articles, role descriptions and job adverts are not matched to a person’s actual skill profile.</a:t>
            </a:r>
            <a:endParaRPr lang="en-US" sz="1150" dirty="0"/>
          </a:p>
        </p:txBody>
      </p:sp>
      <p:sp>
        <p:nvSpPr>
          <p:cNvPr id="16" name="Shape 13"/>
          <p:cNvSpPr/>
          <p:nvPr/>
        </p:nvSpPr>
        <p:spPr>
          <a:xfrm>
            <a:off x="548640" y="3858768"/>
            <a:ext cx="5440680" cy="950976"/>
          </a:xfrm>
          <a:prstGeom prst="roundRect">
            <a:avLst>
              <a:gd name="adj" fmla="val 8654"/>
            </a:avLst>
          </a:prstGeom>
          <a:solidFill>
            <a:srgbClr val="F6F8FB"/>
          </a:solidFill>
          <a:ln w="9525">
            <a:solidFill>
              <a:srgbClr val="DCE3EC"/>
            </a:solidFill>
            <a:prstDash val="solid"/>
          </a:ln>
        </p:spPr>
      </p:sp>
      <p:sp>
        <p:nvSpPr>
          <p:cNvPr id="17" name="Text 14"/>
          <p:cNvSpPr/>
          <p:nvPr/>
        </p:nvSpPr>
        <p:spPr>
          <a:xfrm>
            <a:off x="731520" y="4041648"/>
            <a:ext cx="384048" cy="384048"/>
          </a:xfrm>
          <a:prstGeom prst="ellipse">
            <a:avLst/>
          </a:prstGeom>
          <a:solidFill>
            <a:srgbClr val="0B1B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5"/>
          <p:cNvSpPr/>
          <p:nvPr/>
        </p:nvSpPr>
        <p:spPr>
          <a:xfrm>
            <a:off x="1280160" y="3986784"/>
            <a:ext cx="4526280" cy="274320"/>
          </a:xfrm>
          <a:prstGeom prst="rect">
            <a:avLst/>
          </a:prstGeom>
          <a:noFill/>
          <a:ln/>
        </p:spPr>
        <p:txBody>
          <a:bodyPr wrap="square" lIns="0" tIns="0" rIns="0" bIns="0" rtlCol="0" anchor="ctr"/>
          <a:lstStyle/>
          <a:p>
            <a:pPr indent="0" marL="0">
              <a:buNone/>
            </a:pPr>
            <a:r>
              <a:rPr lang="en-US" sz="1500" b="1" dirty="0">
                <a:solidFill>
                  <a:srgbClr val="0B1B3A"/>
                </a:solidFill>
                <a:latin typeface="Calibri" pitchFamily="34" charset="0"/>
                <a:ea typeface="Calibri" pitchFamily="34" charset="-122"/>
                <a:cs typeface="Calibri" pitchFamily="34" charset="-120"/>
              </a:rPr>
              <a:t>AI is changing every role</a:t>
            </a:r>
            <a:endParaRPr lang="en-US" sz="1500" dirty="0"/>
          </a:p>
        </p:txBody>
      </p:sp>
      <p:sp>
        <p:nvSpPr>
          <p:cNvPr id="19" name="Text 16"/>
          <p:cNvSpPr/>
          <p:nvPr/>
        </p:nvSpPr>
        <p:spPr>
          <a:xfrm>
            <a:off x="1280160" y="4288536"/>
            <a:ext cx="4526280" cy="457200"/>
          </a:xfrm>
          <a:prstGeom prst="rect">
            <a:avLst/>
          </a:prstGeom>
          <a:noFill/>
          <a:ln/>
        </p:spPr>
        <p:txBody>
          <a:bodyPr wrap="square" lIns="0" tIns="0" rIns="0" bIns="0" rtlCol="0" anchor="t"/>
          <a:lstStyle/>
          <a:p>
            <a:pPr indent="0" marL="0">
              <a:lnSpc>
                <a:spcPct val="105000"/>
              </a:lnSpc>
              <a:buNone/>
            </a:pPr>
            <a:r>
              <a:rPr lang="en-US" sz="1150" dirty="0">
                <a:solidFill>
                  <a:srgbClr val="334155"/>
                </a:solidFill>
                <a:latin typeface="Calibri" pitchFamily="34" charset="0"/>
                <a:ea typeface="Calibri" pitchFamily="34" charset="-122"/>
                <a:cs typeface="Calibri" pitchFamily="34" charset="-120"/>
              </a:rPr>
              <a:t>Students ask how much of a role’s everyday work AI already does. Advice that ignores this is incomplete.</a:t>
            </a:r>
            <a:endParaRPr lang="en-US" sz="1150" dirty="0"/>
          </a:p>
        </p:txBody>
      </p:sp>
      <p:sp>
        <p:nvSpPr>
          <p:cNvPr id="20" name="Text 17"/>
          <p:cNvSpPr/>
          <p:nvPr/>
        </p:nvSpPr>
        <p:spPr>
          <a:xfrm>
            <a:off x="6245352" y="1417320"/>
            <a:ext cx="5397703" cy="237744"/>
          </a:xfrm>
          <a:prstGeom prst="rect">
            <a:avLst/>
          </a:prstGeom>
          <a:noFill/>
          <a:ln/>
        </p:spPr>
        <p:txBody>
          <a:bodyPr wrap="square" lIns="0" tIns="0" rIns="0" bIns="0" rtlCol="0" anchor="ctr"/>
          <a:lstStyle/>
          <a:p>
            <a:pPr indent="0" marL="0">
              <a:buNone/>
            </a:pPr>
            <a:r>
              <a:rPr lang="en-US" sz="1050" b="1" spc="150" kern="0" dirty="0">
                <a:solidFill>
                  <a:srgbClr val="2563EB"/>
                </a:solidFill>
                <a:latin typeface="Calibri" pitchFamily="34" charset="0"/>
                <a:ea typeface="Calibri" pitchFamily="34" charset="-122"/>
                <a:cs typeface="Calibri" pitchFamily="34" charset="-120"/>
              </a:rPr>
              <a:t>WHAT A USEFUL ANSWER MUST SHOW</a:t>
            </a:r>
            <a:endParaRPr lang="en-US" sz="1050" dirty="0"/>
          </a:p>
        </p:txBody>
      </p:sp>
      <p:sp>
        <p:nvSpPr>
          <p:cNvPr id="21" name="Shape 18"/>
          <p:cNvSpPr/>
          <p:nvPr/>
        </p:nvSpPr>
        <p:spPr>
          <a:xfrm>
            <a:off x="6245352" y="1737360"/>
            <a:ext cx="5397703" cy="950976"/>
          </a:xfrm>
          <a:prstGeom prst="roundRect">
            <a:avLst>
              <a:gd name="adj" fmla="val 8654"/>
            </a:avLst>
          </a:prstGeom>
          <a:solidFill>
            <a:srgbClr val="EFF5FF"/>
          </a:solidFill>
          <a:ln w="9525">
            <a:solidFill>
              <a:srgbClr val="D2E2FD"/>
            </a:solidFill>
            <a:prstDash val="solid"/>
          </a:ln>
        </p:spPr>
      </p:sp>
      <p:sp>
        <p:nvSpPr>
          <p:cNvPr id="22" name="Text 19"/>
          <p:cNvSpPr/>
          <p:nvPr/>
        </p:nvSpPr>
        <p:spPr>
          <a:xfrm>
            <a:off x="6428232" y="1920240"/>
            <a:ext cx="384048" cy="384048"/>
          </a:xfrm>
          <a:prstGeom prst="ellipse">
            <a:avLst/>
          </a:prstGeom>
          <a:solidFill>
            <a:srgbClr val="2563EB"/>
          </a:solid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AI</a:t>
            </a:r>
            <a:endParaRPr lang="en-US" sz="1100" dirty="0"/>
          </a:p>
        </p:txBody>
      </p:sp>
      <p:sp>
        <p:nvSpPr>
          <p:cNvPr id="23" name="Text 20"/>
          <p:cNvSpPr/>
          <p:nvPr/>
        </p:nvSpPr>
        <p:spPr>
          <a:xfrm>
            <a:off x="6976872" y="1865376"/>
            <a:ext cx="4483303" cy="274320"/>
          </a:xfrm>
          <a:prstGeom prst="rect">
            <a:avLst/>
          </a:prstGeom>
          <a:noFill/>
          <a:ln/>
        </p:spPr>
        <p:txBody>
          <a:bodyPr wrap="square" lIns="0" tIns="0" rIns="0" bIns="0" rtlCol="0" anchor="ctr"/>
          <a:lstStyle/>
          <a:p>
            <a:pPr indent="0" marL="0">
              <a:buNone/>
            </a:pPr>
            <a:r>
              <a:rPr lang="en-US" sz="1500" b="1" dirty="0">
                <a:solidFill>
                  <a:srgbClr val="2563EB"/>
                </a:solidFill>
                <a:latin typeface="Calibri" pitchFamily="34" charset="0"/>
                <a:ea typeface="Calibri" pitchFamily="34" charset="-122"/>
                <a:cs typeface="Calibri" pitchFamily="34" charset="-120"/>
              </a:rPr>
              <a:t>AI exposure</a:t>
            </a:r>
            <a:endParaRPr lang="en-US" sz="1500" dirty="0"/>
          </a:p>
        </p:txBody>
      </p:sp>
      <p:sp>
        <p:nvSpPr>
          <p:cNvPr id="24" name="Text 21"/>
          <p:cNvSpPr/>
          <p:nvPr/>
        </p:nvSpPr>
        <p:spPr>
          <a:xfrm>
            <a:off x="6976872" y="2167128"/>
            <a:ext cx="4483303" cy="457200"/>
          </a:xfrm>
          <a:prstGeom prst="rect">
            <a:avLst/>
          </a:prstGeom>
          <a:noFill/>
          <a:ln/>
        </p:spPr>
        <p:txBody>
          <a:bodyPr wrap="square" lIns="0" tIns="0" rIns="0" bIns="0" rtlCol="0" anchor="t"/>
          <a:lstStyle/>
          <a:p>
            <a:pPr indent="0" marL="0">
              <a:lnSpc>
                <a:spcPct val="105000"/>
              </a:lnSpc>
              <a:buNone/>
            </a:pPr>
            <a:r>
              <a:rPr lang="en-US" sz="1150" dirty="0">
                <a:solidFill>
                  <a:srgbClr val="334155"/>
                </a:solidFill>
                <a:latin typeface="Calibri" pitchFamily="34" charset="0"/>
                <a:ea typeface="Calibri" pitchFamily="34" charset="-122"/>
                <a:cs typeface="Calibri" pitchFamily="34" charset="-120"/>
              </a:rPr>
              <a:t>The share of a role’s everyday tasks already done with AI, and whether people in the role see AI as a threat.</a:t>
            </a:r>
            <a:endParaRPr lang="en-US" sz="1150" dirty="0"/>
          </a:p>
        </p:txBody>
      </p:sp>
      <p:sp>
        <p:nvSpPr>
          <p:cNvPr id="25" name="Shape 22"/>
          <p:cNvSpPr/>
          <p:nvPr/>
        </p:nvSpPr>
        <p:spPr>
          <a:xfrm>
            <a:off x="6245352" y="2798064"/>
            <a:ext cx="5397703" cy="950976"/>
          </a:xfrm>
          <a:prstGeom prst="roundRect">
            <a:avLst>
              <a:gd name="adj" fmla="val 8654"/>
            </a:avLst>
          </a:prstGeom>
          <a:solidFill>
            <a:srgbClr val="EFF5FF"/>
          </a:solidFill>
          <a:ln w="9525">
            <a:solidFill>
              <a:srgbClr val="D2E2FD"/>
            </a:solidFill>
            <a:prstDash val="solid"/>
          </a:ln>
        </p:spPr>
      </p:sp>
      <p:sp>
        <p:nvSpPr>
          <p:cNvPr id="26" name="Text 23"/>
          <p:cNvSpPr/>
          <p:nvPr/>
        </p:nvSpPr>
        <p:spPr>
          <a:xfrm>
            <a:off x="6428232" y="2980944"/>
            <a:ext cx="384048" cy="384048"/>
          </a:xfrm>
          <a:prstGeom prst="ellipse">
            <a:avLst/>
          </a:prstGeom>
          <a:solidFill>
            <a:srgbClr val="2563EB"/>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7" name="Text 24"/>
          <p:cNvSpPr/>
          <p:nvPr/>
        </p:nvSpPr>
        <p:spPr>
          <a:xfrm>
            <a:off x="6976872" y="2926080"/>
            <a:ext cx="4483303" cy="274320"/>
          </a:xfrm>
          <a:prstGeom prst="rect">
            <a:avLst/>
          </a:prstGeom>
          <a:noFill/>
          <a:ln/>
        </p:spPr>
        <p:txBody>
          <a:bodyPr wrap="square" lIns="0" tIns="0" rIns="0" bIns="0" rtlCol="0" anchor="ctr"/>
          <a:lstStyle/>
          <a:p>
            <a:pPr indent="0" marL="0">
              <a:buNone/>
            </a:pPr>
            <a:r>
              <a:rPr lang="en-US" sz="1500" b="1" dirty="0">
                <a:solidFill>
                  <a:srgbClr val="2563EB"/>
                </a:solidFill>
                <a:latin typeface="Calibri" pitchFamily="34" charset="0"/>
                <a:ea typeface="Calibri" pitchFamily="34" charset="-122"/>
                <a:cs typeface="Calibri" pitchFamily="34" charset="-120"/>
              </a:rPr>
              <a:t>Salary evidence</a:t>
            </a:r>
            <a:endParaRPr lang="en-US" sz="1500" dirty="0"/>
          </a:p>
        </p:txBody>
      </p:sp>
      <p:sp>
        <p:nvSpPr>
          <p:cNvPr id="28" name="Text 25"/>
          <p:cNvSpPr/>
          <p:nvPr/>
        </p:nvSpPr>
        <p:spPr>
          <a:xfrm>
            <a:off x="6976872" y="3227832"/>
            <a:ext cx="4483303" cy="457200"/>
          </a:xfrm>
          <a:prstGeom prst="rect">
            <a:avLst/>
          </a:prstGeom>
          <a:noFill/>
          <a:ln/>
        </p:spPr>
        <p:txBody>
          <a:bodyPr wrap="square" lIns="0" tIns="0" rIns="0" bIns="0" rtlCol="0" anchor="t"/>
          <a:lstStyle/>
          <a:p>
            <a:pPr indent="0" marL="0">
              <a:lnSpc>
                <a:spcPct val="105000"/>
              </a:lnSpc>
              <a:buNone/>
            </a:pPr>
            <a:r>
              <a:rPr lang="en-US" sz="1150" dirty="0">
                <a:solidFill>
                  <a:srgbClr val="334155"/>
                </a:solidFill>
                <a:latin typeface="Calibri" pitchFamily="34" charset="0"/>
                <a:ea typeface="Calibri" pitchFamily="34" charset="-122"/>
                <a:cs typeface="Calibri" pitchFamily="34" charset="-120"/>
              </a:rPr>
              <a:t>What people in the role earn in comparable circumstances: same country or region, same experience band.</a:t>
            </a:r>
            <a:endParaRPr lang="en-US" sz="1150" dirty="0"/>
          </a:p>
        </p:txBody>
      </p:sp>
      <p:sp>
        <p:nvSpPr>
          <p:cNvPr id="29" name="Shape 26"/>
          <p:cNvSpPr/>
          <p:nvPr/>
        </p:nvSpPr>
        <p:spPr>
          <a:xfrm>
            <a:off x="6245352" y="3858768"/>
            <a:ext cx="5397703" cy="950976"/>
          </a:xfrm>
          <a:prstGeom prst="roundRect">
            <a:avLst>
              <a:gd name="adj" fmla="val 8654"/>
            </a:avLst>
          </a:prstGeom>
          <a:solidFill>
            <a:srgbClr val="EFF5FF"/>
          </a:solidFill>
          <a:ln w="9525">
            <a:solidFill>
              <a:srgbClr val="D2E2FD"/>
            </a:solidFill>
            <a:prstDash val="solid"/>
          </a:ln>
        </p:spPr>
      </p:sp>
      <p:sp>
        <p:nvSpPr>
          <p:cNvPr id="30" name="Text 27"/>
          <p:cNvSpPr/>
          <p:nvPr/>
        </p:nvSpPr>
        <p:spPr>
          <a:xfrm>
            <a:off x="6428232" y="4041648"/>
            <a:ext cx="384048" cy="384048"/>
          </a:xfrm>
          <a:prstGeom prst="ellipse">
            <a:avLst/>
          </a:prstGeom>
          <a:solidFill>
            <a:srgbClr val="2563EB"/>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31" name="Text 28"/>
          <p:cNvSpPr/>
          <p:nvPr/>
        </p:nvSpPr>
        <p:spPr>
          <a:xfrm>
            <a:off x="6976872" y="3986784"/>
            <a:ext cx="4483303" cy="274320"/>
          </a:xfrm>
          <a:prstGeom prst="rect">
            <a:avLst/>
          </a:prstGeom>
          <a:noFill/>
          <a:ln/>
        </p:spPr>
        <p:txBody>
          <a:bodyPr wrap="square" lIns="0" tIns="0" rIns="0" bIns="0" rtlCol="0" anchor="ctr"/>
          <a:lstStyle/>
          <a:p>
            <a:pPr indent="0" marL="0">
              <a:buNone/>
            </a:pPr>
            <a:r>
              <a:rPr lang="en-US" sz="1500" b="1" dirty="0">
                <a:solidFill>
                  <a:srgbClr val="2563EB"/>
                </a:solidFill>
                <a:latin typeface="Calibri" pitchFamily="34" charset="0"/>
                <a:ea typeface="Calibri" pitchFamily="34" charset="-122"/>
                <a:cs typeface="Calibri" pitchFamily="34" charset="-120"/>
              </a:rPr>
              <a:t>Skill gaps</a:t>
            </a:r>
            <a:endParaRPr lang="en-US" sz="1500" dirty="0"/>
          </a:p>
        </p:txBody>
      </p:sp>
      <p:sp>
        <p:nvSpPr>
          <p:cNvPr id="32" name="Text 29"/>
          <p:cNvSpPr/>
          <p:nvPr/>
        </p:nvSpPr>
        <p:spPr>
          <a:xfrm>
            <a:off x="6976872" y="4288536"/>
            <a:ext cx="4483303" cy="457200"/>
          </a:xfrm>
          <a:prstGeom prst="rect">
            <a:avLst/>
          </a:prstGeom>
          <a:noFill/>
          <a:ln/>
        </p:spPr>
        <p:txBody>
          <a:bodyPr wrap="square" lIns="0" tIns="0" rIns="0" bIns="0" rtlCol="0" anchor="t"/>
          <a:lstStyle/>
          <a:p>
            <a:pPr indent="0" marL="0">
              <a:lnSpc>
                <a:spcPct val="105000"/>
              </a:lnSpc>
              <a:buNone/>
            </a:pPr>
            <a:r>
              <a:rPr lang="en-US" sz="1150" dirty="0">
                <a:solidFill>
                  <a:srgbClr val="334155"/>
                </a:solidFill>
                <a:latin typeface="Calibri" pitchFamily="34" charset="0"/>
                <a:ea typeface="Calibri" pitchFamily="34" charset="-122"/>
                <a:cs typeface="Calibri" pitchFamily="34" charset="-120"/>
              </a:rPr>
              <a:t>The specific technologies that separate a person’s current skills from a target role.</a:t>
            </a:r>
            <a:endParaRPr lang="en-US" sz="1150" dirty="0"/>
          </a:p>
        </p:txBody>
      </p:sp>
      <p:sp>
        <p:nvSpPr>
          <p:cNvPr id="33" name="Shape 30"/>
          <p:cNvSpPr/>
          <p:nvPr/>
        </p:nvSpPr>
        <p:spPr>
          <a:xfrm>
            <a:off x="548640" y="5029200"/>
            <a:ext cx="11094415" cy="1170432"/>
          </a:xfrm>
          <a:prstGeom prst="roundRect">
            <a:avLst>
              <a:gd name="adj" fmla="val 7031"/>
            </a:avLst>
          </a:prstGeom>
          <a:solidFill>
            <a:srgbClr val="0B1B3A"/>
          </a:solidFill>
          <a:ln/>
        </p:spPr>
      </p:sp>
      <p:sp>
        <p:nvSpPr>
          <p:cNvPr id="34" name="Text 31"/>
          <p:cNvSpPr/>
          <p:nvPr/>
        </p:nvSpPr>
        <p:spPr>
          <a:xfrm>
            <a:off x="822960" y="5175504"/>
            <a:ext cx="4572000" cy="228600"/>
          </a:xfrm>
          <a:prstGeom prst="rect">
            <a:avLst/>
          </a:prstGeom>
          <a:noFill/>
          <a:ln/>
        </p:spPr>
        <p:txBody>
          <a:bodyPr wrap="square" lIns="0" tIns="0" rIns="0" bIns="0" rtlCol="0" anchor="t"/>
          <a:lstStyle/>
          <a:p>
            <a:pPr indent="0" marL="0">
              <a:buNone/>
            </a:pPr>
            <a:r>
              <a:rPr lang="en-US" sz="1050" b="1" spc="200" kern="0" dirty="0">
                <a:solidFill>
                  <a:srgbClr val="9DC1FF"/>
                </a:solidFill>
                <a:latin typeface="Calibri" pitchFamily="34" charset="0"/>
                <a:ea typeface="Calibri" pitchFamily="34" charset="-122"/>
                <a:cs typeface="Calibri" pitchFamily="34" charset="-120"/>
              </a:rPr>
              <a:t>THE DATA MINING PROBLEM</a:t>
            </a:r>
            <a:endParaRPr lang="en-US" sz="1050" dirty="0"/>
          </a:p>
        </p:txBody>
      </p:sp>
      <p:sp>
        <p:nvSpPr>
          <p:cNvPr id="35" name="Text 32"/>
          <p:cNvSpPr/>
          <p:nvPr/>
        </p:nvSpPr>
        <p:spPr>
          <a:xfrm>
            <a:off x="822960" y="5440680"/>
            <a:ext cx="10545775" cy="658368"/>
          </a:xfrm>
          <a:prstGeom prst="rect">
            <a:avLst/>
          </a:prstGeom>
          <a:noFill/>
          <a:ln/>
        </p:spPr>
        <p:txBody>
          <a:bodyPr wrap="square" lIns="0" tIns="0" rIns="0" bIns="0" rtlCol="0" anchor="t"/>
          <a:lstStyle/>
          <a:p>
            <a:pPr indent="0" marL="0">
              <a:lnSpc>
                <a:spcPct val="108000"/>
              </a:lnSpc>
              <a:buNone/>
            </a:pPr>
            <a:r>
              <a:rPr lang="en-US" sz="1450" dirty="0">
                <a:solidFill>
                  <a:srgbClr val="DBE7FB"/>
                </a:solidFill>
                <a:latin typeface="Calibri" pitchFamily="34" charset="0"/>
                <a:ea typeface="Calibri" pitchFamily="34" charset="-122"/>
                <a:cs typeface="Calibri" pitchFamily="34" charset="-120"/>
              </a:rPr>
              <a:t>Given a person’s self-reported technologies, experience, education, location and AI usage, </a:t>
            </a:r>
            <a:pPr indent="0" marL="0">
              <a:lnSpc>
                <a:spcPct val="108000"/>
              </a:lnSpc>
              <a:buNone/>
            </a:pPr>
            <a:r>
              <a:rPr lang="en-US" sz="1450" b="1" dirty="0">
                <a:solidFill>
                  <a:srgbClr val="FFFFFF"/>
                </a:solidFill>
                <a:latin typeface="Calibri" pitchFamily="34" charset="0"/>
                <a:ea typeface="Calibri" pitchFamily="34" charset="-122"/>
                <a:cs typeface="Calibri" pitchFamily="34" charset="-120"/>
              </a:rPr>
              <a:t>predict which developer job roles their profile most resembles</a:t>
            </a:r>
            <a:pPr indent="0" marL="0">
              <a:lnSpc>
                <a:spcPct val="108000"/>
              </a:lnSpc>
              <a:buNone/>
            </a:pPr>
            <a:r>
              <a:rPr lang="en-US" sz="1450" dirty="0">
                <a:solidFill>
                  <a:srgbClr val="DBE7FB"/>
                </a:solidFill>
                <a:latin typeface="Calibri" pitchFamily="34" charset="0"/>
                <a:ea typeface="Calibri" pitchFamily="34" charset="-122"/>
                <a:cs typeface="Calibri" pitchFamily="34" charset="-120"/>
              </a:rPr>
              <a:t>, and support each suggestion with evidence on AI exposure, salary and skill gaps from the same survey.</a:t>
            </a:r>
            <a:endParaRPr lang="en-US" sz="1450" dirty="0"/>
          </a:p>
        </p:txBody>
      </p:sp>
      <p:sp>
        <p:nvSpPr>
          <p:cNvPr id="25" name="Slide Number Placeholder 0"/>
          <p:cNvSpPr>
            <a:spLocks noGrp="1"/>
          </p:cNvSpPr>
          <p:nvPr>
            <p:ph type="sldNum" sz="quarter" idx="4294967295"/>
          </p:nvPr>
        </p:nvSpPr>
        <p:spPr>
          <a:xfrm>
            <a:off x="11094415" y="6464808"/>
            <a:ext cx="5486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64748B"/>
                </a:solidFill>
                <a:latin typeface="Calibri"/>
                <a:ea typeface="Calibri"/>
                <a:cs typeface="Calibri"/>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64008" cy="713232"/>
          </a:xfrm>
          <a:prstGeom prst="rect">
            <a:avLst/>
          </a:prstGeom>
          <a:solidFill>
            <a:srgbClr val="2563EB"/>
          </a:solidFill>
          <a:ln/>
        </p:spPr>
      </p:sp>
      <p:sp>
        <p:nvSpPr>
          <p:cNvPr id="3" name="Text 1"/>
          <p:cNvSpPr/>
          <p:nvPr/>
        </p:nvSpPr>
        <p:spPr>
          <a:xfrm>
            <a:off x="749808" y="429768"/>
            <a:ext cx="7315200" cy="256032"/>
          </a:xfrm>
          <a:prstGeom prst="rect">
            <a:avLst/>
          </a:prstGeom>
          <a:noFill/>
          <a:ln/>
        </p:spPr>
        <p:txBody>
          <a:bodyPr wrap="square" lIns="0" tIns="0" rIns="0" bIns="0" rtlCol="0" anchor="t"/>
          <a:lstStyle/>
          <a:p>
            <a:pPr indent="0" marL="0">
              <a:buNone/>
            </a:pPr>
            <a:r>
              <a:rPr lang="en-US" sz="1100" b="1" spc="200" kern="0" dirty="0">
                <a:solidFill>
                  <a:srgbClr val="2563EB"/>
                </a:solidFill>
                <a:latin typeface="Calibri" pitchFamily="34" charset="0"/>
                <a:ea typeface="Calibri" pitchFamily="34" charset="-122"/>
                <a:cs typeface="Calibri" pitchFamily="34" charset="-120"/>
              </a:rPr>
              <a:t>PROBLEM, OBJECTIVES &amp; DATASET</a:t>
            </a:r>
            <a:endParaRPr lang="en-US" sz="1100" dirty="0"/>
          </a:p>
        </p:txBody>
      </p:sp>
      <p:sp>
        <p:nvSpPr>
          <p:cNvPr id="4" name="Text 2"/>
          <p:cNvSpPr/>
          <p:nvPr/>
        </p:nvSpPr>
        <p:spPr>
          <a:xfrm>
            <a:off x="749808" y="676656"/>
            <a:ext cx="8229600" cy="512064"/>
          </a:xfrm>
          <a:prstGeom prst="rect">
            <a:avLst/>
          </a:prstGeom>
          <a:noFill/>
          <a:ln/>
        </p:spPr>
        <p:txBody>
          <a:bodyPr wrap="square" lIns="0" tIns="0" rIns="0" bIns="0" rtlCol="0" anchor="ctr"/>
          <a:lstStyle/>
          <a:p>
            <a:pPr indent="0" marL="0">
              <a:buNone/>
            </a:pPr>
            <a:r>
              <a:rPr lang="en-US" sz="2800" b="1" dirty="0">
                <a:solidFill>
                  <a:srgbClr val="0B1B3A"/>
                </a:solidFill>
                <a:latin typeface="Calibri" pitchFamily="34" charset="0"/>
                <a:ea typeface="Calibri" pitchFamily="34" charset="-122"/>
                <a:cs typeface="Calibri" pitchFamily="34" charset="-120"/>
              </a:rPr>
              <a:t>Aim, Objectives and Scope</a:t>
            </a:r>
            <a:endParaRPr lang="en-US" sz="2800" dirty="0"/>
          </a:p>
        </p:txBody>
      </p:sp>
      <p:sp>
        <p:nvSpPr>
          <p:cNvPr id="5" name="Text 3"/>
          <p:cNvSpPr/>
          <p:nvPr/>
        </p:nvSpPr>
        <p:spPr>
          <a:xfrm>
            <a:off x="8945575" y="548640"/>
            <a:ext cx="2697480" cy="365760"/>
          </a:xfrm>
          <a:prstGeom prst="roundRect">
            <a:avLst>
              <a:gd name="adj" fmla="val 50000"/>
            </a:avLst>
          </a:prstGeom>
          <a:solidFill>
            <a:srgbClr val="EFF5FF"/>
          </a:solidFill>
          <a:ln w="9525">
            <a:solidFill>
              <a:srgbClr val="D2E2FD"/>
            </a:solid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Member 1</a:t>
            </a:r>
            <a:pPr algn="ctr" indent="0" marL="0">
              <a:buNone/>
            </a:pPr>
            <a:r>
              <a:rPr lang="en-US" sz="1100" b="1" dirty="0">
                <a:solidFill>
                  <a:srgbClr val="334155"/>
                </a:solidFill>
                <a:latin typeface="Calibri" pitchFamily="34" charset="0"/>
                <a:ea typeface="Calibri" pitchFamily="34" charset="-122"/>
                <a:cs typeface="Calibri" pitchFamily="34" charset="-120"/>
              </a:rPr>
              <a:t>   S S P S Bandara</a:t>
            </a:r>
            <a:endParaRPr lang="en-US" sz="1100" dirty="0"/>
          </a:p>
        </p:txBody>
      </p:sp>
      <p:sp>
        <p:nvSpPr>
          <p:cNvPr id="7" name="Shape 4"/>
          <p:cNvSpPr/>
          <p:nvPr/>
        </p:nvSpPr>
        <p:spPr>
          <a:xfrm>
            <a:off x="548640" y="1389888"/>
            <a:ext cx="11094415" cy="749808"/>
          </a:xfrm>
          <a:prstGeom prst="roundRect">
            <a:avLst>
              <a:gd name="adj" fmla="val 10976"/>
            </a:avLst>
          </a:prstGeom>
          <a:solidFill>
            <a:srgbClr val="EFF5FF"/>
          </a:solidFill>
          <a:ln w="9525">
            <a:solidFill>
              <a:srgbClr val="D2E2FD"/>
            </a:solidFill>
            <a:prstDash val="solid"/>
          </a:ln>
        </p:spPr>
      </p:sp>
      <p:sp>
        <p:nvSpPr>
          <p:cNvPr id="8" name="Text 5"/>
          <p:cNvSpPr/>
          <p:nvPr/>
        </p:nvSpPr>
        <p:spPr>
          <a:xfrm>
            <a:off x="777240" y="1389888"/>
            <a:ext cx="640080" cy="749808"/>
          </a:xfrm>
          <a:prstGeom prst="rect">
            <a:avLst/>
          </a:prstGeom>
          <a:noFill/>
          <a:ln/>
        </p:spPr>
        <p:txBody>
          <a:bodyPr wrap="square" lIns="0" tIns="0" rIns="0" bIns="0" rtlCol="0" anchor="ctr"/>
          <a:lstStyle/>
          <a:p>
            <a:pPr indent="0" marL="0">
              <a:buNone/>
            </a:pPr>
            <a:r>
              <a:rPr lang="en-US" sz="1200" b="1" spc="200" kern="0" dirty="0">
                <a:solidFill>
                  <a:srgbClr val="2563EB"/>
                </a:solidFill>
                <a:latin typeface="Calibri" pitchFamily="34" charset="0"/>
                <a:ea typeface="Calibri" pitchFamily="34" charset="-122"/>
                <a:cs typeface="Calibri" pitchFamily="34" charset="-120"/>
              </a:rPr>
              <a:t>AIM</a:t>
            </a:r>
            <a:endParaRPr lang="en-US" sz="1200" dirty="0"/>
          </a:p>
        </p:txBody>
      </p:sp>
      <p:sp>
        <p:nvSpPr>
          <p:cNvPr id="9" name="Text 6"/>
          <p:cNvSpPr/>
          <p:nvPr/>
        </p:nvSpPr>
        <p:spPr>
          <a:xfrm>
            <a:off x="1463040" y="1389888"/>
            <a:ext cx="9951415" cy="749808"/>
          </a:xfrm>
          <a:prstGeom prst="rect">
            <a:avLst/>
          </a:prstGeom>
          <a:noFill/>
          <a:ln/>
        </p:spPr>
        <p:txBody>
          <a:bodyPr wrap="square" lIns="0" tIns="0" rIns="0" bIns="0" rtlCol="0" anchor="ctr"/>
          <a:lstStyle/>
          <a:p>
            <a:pPr indent="0" marL="0">
              <a:lnSpc>
                <a:spcPct val="105000"/>
              </a:lnSpc>
              <a:buNone/>
            </a:pPr>
            <a:r>
              <a:rPr lang="en-US" sz="1450" b="1" dirty="0">
                <a:solidFill>
                  <a:srgbClr val="0B1B3A"/>
                </a:solidFill>
                <a:latin typeface="Calibri" pitchFamily="34" charset="0"/>
                <a:ea typeface="Calibri" pitchFamily="34" charset="-122"/>
                <a:cs typeface="Calibri" pitchFamily="34" charset="-120"/>
              </a:rPr>
              <a:t>Design, build and evaluate an AI-aware developer job role and career path recommendation system by mining the Stack Overflow Developer Survey 2025.</a:t>
            </a:r>
            <a:endParaRPr lang="en-US" sz="1450" dirty="0"/>
          </a:p>
        </p:txBody>
      </p:sp>
      <p:sp>
        <p:nvSpPr>
          <p:cNvPr id="10" name="Text 7"/>
          <p:cNvSpPr/>
          <p:nvPr/>
        </p:nvSpPr>
        <p:spPr>
          <a:xfrm>
            <a:off x="548640" y="2331720"/>
            <a:ext cx="5257800" cy="237744"/>
          </a:xfrm>
          <a:prstGeom prst="rect">
            <a:avLst/>
          </a:prstGeom>
          <a:noFill/>
          <a:ln/>
        </p:spPr>
        <p:txBody>
          <a:bodyPr wrap="square" lIns="0" tIns="0" rIns="0" bIns="0" rtlCol="0" anchor="ctr"/>
          <a:lstStyle/>
          <a:p>
            <a:pPr indent="0" marL="0">
              <a:buNone/>
            </a:pPr>
            <a:r>
              <a:rPr lang="en-US" sz="1050" b="1" spc="150" kern="0" dirty="0">
                <a:solidFill>
                  <a:srgbClr val="64748B"/>
                </a:solidFill>
                <a:latin typeface="Calibri" pitchFamily="34" charset="0"/>
                <a:ea typeface="Calibri" pitchFamily="34" charset="-122"/>
                <a:cs typeface="Calibri" pitchFamily="34" charset="-120"/>
              </a:rPr>
              <a:t>SIX OBJECTIVES</a:t>
            </a:r>
            <a:endParaRPr lang="en-US" sz="1050" dirty="0"/>
          </a:p>
        </p:txBody>
      </p:sp>
      <p:sp>
        <p:nvSpPr>
          <p:cNvPr id="11" name="Text 8"/>
          <p:cNvSpPr/>
          <p:nvPr/>
        </p:nvSpPr>
        <p:spPr>
          <a:xfrm>
            <a:off x="548640" y="2706624"/>
            <a:ext cx="365760" cy="365760"/>
          </a:xfrm>
          <a:prstGeom prst="ellipse">
            <a:avLst/>
          </a:prstGeom>
          <a:solidFill>
            <a:srgbClr val="0B1B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9"/>
          <p:cNvSpPr/>
          <p:nvPr/>
        </p:nvSpPr>
        <p:spPr>
          <a:xfrm>
            <a:off x="1051560" y="2651760"/>
            <a:ext cx="4754880" cy="246888"/>
          </a:xfrm>
          <a:prstGeom prst="rect">
            <a:avLst/>
          </a:prstGeom>
          <a:noFill/>
          <a:ln/>
        </p:spPr>
        <p:txBody>
          <a:bodyPr wrap="square" lIns="0" tIns="0" rIns="0" bIns="0" rtlCol="0" anchor="ctr"/>
          <a:lstStyle/>
          <a:p>
            <a:pPr indent="0" marL="0">
              <a:buNone/>
            </a:pPr>
            <a:r>
              <a:rPr lang="en-US" sz="1350" b="1" dirty="0">
                <a:solidFill>
                  <a:srgbClr val="0B1B3A"/>
                </a:solidFill>
                <a:latin typeface="Calibri" pitchFamily="34" charset="0"/>
                <a:ea typeface="Calibri" pitchFamily="34" charset="-122"/>
                <a:cs typeface="Calibri" pitchFamily="34" charset="-120"/>
              </a:rPr>
              <a:t>Understand the data</a:t>
            </a:r>
            <a:endParaRPr lang="en-US" sz="1350" dirty="0"/>
          </a:p>
        </p:txBody>
      </p:sp>
      <p:sp>
        <p:nvSpPr>
          <p:cNvPr id="13" name="Text 10"/>
          <p:cNvSpPr/>
          <p:nvPr/>
        </p:nvSpPr>
        <p:spPr>
          <a:xfrm>
            <a:off x="1051560" y="2898648"/>
            <a:ext cx="475488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Explore the survey, assess its quality, find the relevant attributes</a:t>
            </a:r>
            <a:endParaRPr lang="en-US" sz="1100" dirty="0"/>
          </a:p>
        </p:txBody>
      </p:sp>
      <p:sp>
        <p:nvSpPr>
          <p:cNvPr id="14" name="Text 11"/>
          <p:cNvSpPr/>
          <p:nvPr/>
        </p:nvSpPr>
        <p:spPr>
          <a:xfrm>
            <a:off x="548640" y="3300984"/>
            <a:ext cx="365760" cy="365760"/>
          </a:xfrm>
          <a:prstGeom prst="ellipse">
            <a:avLst/>
          </a:prstGeom>
          <a:solidFill>
            <a:srgbClr val="0B1B3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p:nvPr/>
        </p:nvSpPr>
        <p:spPr>
          <a:xfrm>
            <a:off x="1051560" y="3246120"/>
            <a:ext cx="4754880" cy="246888"/>
          </a:xfrm>
          <a:prstGeom prst="rect">
            <a:avLst/>
          </a:prstGeom>
          <a:noFill/>
          <a:ln/>
        </p:spPr>
        <p:txBody>
          <a:bodyPr wrap="square" lIns="0" tIns="0" rIns="0" bIns="0" rtlCol="0" anchor="ctr"/>
          <a:lstStyle/>
          <a:p>
            <a:pPr indent="0" marL="0">
              <a:buNone/>
            </a:pPr>
            <a:r>
              <a:rPr lang="en-US" sz="1350" b="1" dirty="0">
                <a:solidFill>
                  <a:srgbClr val="0B1B3A"/>
                </a:solidFill>
                <a:latin typeface="Calibri" pitchFamily="34" charset="0"/>
                <a:ea typeface="Calibri" pitchFamily="34" charset="-122"/>
                <a:cs typeface="Calibri" pitchFamily="34" charset="-120"/>
              </a:rPr>
              <a:t>Prepare it without leakage</a:t>
            </a:r>
            <a:endParaRPr lang="en-US" sz="1350" dirty="0"/>
          </a:p>
        </p:txBody>
      </p:sp>
      <p:sp>
        <p:nvSpPr>
          <p:cNvPr id="16" name="Text 13"/>
          <p:cNvSpPr/>
          <p:nvPr/>
        </p:nvSpPr>
        <p:spPr>
          <a:xfrm>
            <a:off x="1051560" y="3493008"/>
            <a:ext cx="475488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 reproducible pipeline that is reused unchanged at prediction time</a:t>
            </a:r>
            <a:endParaRPr lang="en-US" sz="1100" dirty="0"/>
          </a:p>
        </p:txBody>
      </p:sp>
      <p:sp>
        <p:nvSpPr>
          <p:cNvPr id="17" name="Text 14"/>
          <p:cNvSpPr/>
          <p:nvPr/>
        </p:nvSpPr>
        <p:spPr>
          <a:xfrm>
            <a:off x="548640" y="3895344"/>
            <a:ext cx="365760" cy="365760"/>
          </a:xfrm>
          <a:prstGeom prst="ellipse">
            <a:avLst/>
          </a:prstGeom>
          <a:solidFill>
            <a:srgbClr val="1D4FB8"/>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5"/>
          <p:cNvSpPr/>
          <p:nvPr/>
        </p:nvSpPr>
        <p:spPr>
          <a:xfrm>
            <a:off x="1051560" y="3840480"/>
            <a:ext cx="4754880" cy="246888"/>
          </a:xfrm>
          <a:prstGeom prst="rect">
            <a:avLst/>
          </a:prstGeom>
          <a:noFill/>
          <a:ln/>
        </p:spPr>
        <p:txBody>
          <a:bodyPr wrap="square" lIns="0" tIns="0" rIns="0" bIns="0" rtlCol="0" anchor="ctr"/>
          <a:lstStyle/>
          <a:p>
            <a:pPr indent="0" marL="0">
              <a:buNone/>
            </a:pPr>
            <a:r>
              <a:rPr lang="en-US" sz="1350" b="1" dirty="0">
                <a:solidFill>
                  <a:srgbClr val="0B1B3A"/>
                </a:solidFill>
                <a:latin typeface="Calibri" pitchFamily="34" charset="0"/>
                <a:ea typeface="Calibri" pitchFamily="34" charset="-122"/>
                <a:cs typeface="Calibri" pitchFamily="34" charset="-120"/>
              </a:rPr>
              <a:t>Compare algorithms</a:t>
            </a:r>
            <a:endParaRPr lang="en-US" sz="1350" dirty="0"/>
          </a:p>
        </p:txBody>
      </p:sp>
      <p:sp>
        <p:nvSpPr>
          <p:cNvPr id="19" name="Text 16"/>
          <p:cNvSpPr/>
          <p:nvPr/>
        </p:nvSpPr>
        <p:spPr>
          <a:xfrm>
            <a:off x="1051560" y="4087368"/>
            <a:ext cx="475488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At least four classifiers, with validation and metrics fit for imbalance</a:t>
            </a:r>
            <a:endParaRPr lang="en-US" sz="1100" dirty="0"/>
          </a:p>
        </p:txBody>
      </p:sp>
      <p:sp>
        <p:nvSpPr>
          <p:cNvPr id="20" name="Text 17"/>
          <p:cNvSpPr/>
          <p:nvPr/>
        </p:nvSpPr>
        <p:spPr>
          <a:xfrm>
            <a:off x="548640" y="4489704"/>
            <a:ext cx="365760" cy="365760"/>
          </a:xfrm>
          <a:prstGeom prst="ellipse">
            <a:avLst/>
          </a:prstGeom>
          <a:solidFill>
            <a:srgbClr val="1D4FB8"/>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8"/>
          <p:cNvSpPr/>
          <p:nvPr/>
        </p:nvSpPr>
        <p:spPr>
          <a:xfrm>
            <a:off x="1051560" y="4434840"/>
            <a:ext cx="4754880" cy="246888"/>
          </a:xfrm>
          <a:prstGeom prst="rect">
            <a:avLst/>
          </a:prstGeom>
          <a:noFill/>
          <a:ln/>
        </p:spPr>
        <p:txBody>
          <a:bodyPr wrap="square" lIns="0" tIns="0" rIns="0" bIns="0" rtlCol="0" anchor="ctr"/>
          <a:lstStyle/>
          <a:p>
            <a:pPr indent="0" marL="0">
              <a:buNone/>
            </a:pPr>
            <a:r>
              <a:rPr lang="en-US" sz="1350" b="1" dirty="0">
                <a:solidFill>
                  <a:srgbClr val="0B1B3A"/>
                </a:solidFill>
                <a:latin typeface="Calibri" pitchFamily="34" charset="0"/>
                <a:ea typeface="Calibri" pitchFamily="34" charset="-122"/>
                <a:cs typeface="Calibri" pitchFamily="34" charset="-120"/>
              </a:rPr>
              <a:t>Optimise, select, evaluate</a:t>
            </a:r>
            <a:endParaRPr lang="en-US" sz="1350" dirty="0"/>
          </a:p>
        </p:txBody>
      </p:sp>
      <p:sp>
        <p:nvSpPr>
          <p:cNvPr id="22" name="Text 19"/>
          <p:cNvSpPr/>
          <p:nvPr/>
        </p:nvSpPr>
        <p:spPr>
          <a:xfrm>
            <a:off x="1051560" y="4681728"/>
            <a:ext cx="475488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 selection rule fixed in advance; one evaluation on held-out data</a:t>
            </a:r>
            <a:endParaRPr lang="en-US" sz="1100" dirty="0"/>
          </a:p>
        </p:txBody>
      </p:sp>
      <p:sp>
        <p:nvSpPr>
          <p:cNvPr id="23" name="Text 20"/>
          <p:cNvSpPr/>
          <p:nvPr/>
        </p:nvSpPr>
        <p:spPr>
          <a:xfrm>
            <a:off x="548640" y="5084064"/>
            <a:ext cx="365760" cy="365760"/>
          </a:xfrm>
          <a:prstGeom prst="ellipse">
            <a:avLst/>
          </a:prstGeom>
          <a:solidFill>
            <a:srgbClr val="2563E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4" name="Text 21"/>
          <p:cNvSpPr/>
          <p:nvPr/>
        </p:nvSpPr>
        <p:spPr>
          <a:xfrm>
            <a:off x="1051560" y="5029200"/>
            <a:ext cx="4754880" cy="246888"/>
          </a:xfrm>
          <a:prstGeom prst="rect">
            <a:avLst/>
          </a:prstGeom>
          <a:noFill/>
          <a:ln/>
        </p:spPr>
        <p:txBody>
          <a:bodyPr wrap="square" lIns="0" tIns="0" rIns="0" bIns="0" rtlCol="0" anchor="ctr"/>
          <a:lstStyle/>
          <a:p>
            <a:pPr indent="0" marL="0">
              <a:buNone/>
            </a:pPr>
            <a:r>
              <a:rPr lang="en-US" sz="1350" b="1" dirty="0">
                <a:solidFill>
                  <a:srgbClr val="0B1B3A"/>
                </a:solidFill>
                <a:latin typeface="Calibri" pitchFamily="34" charset="0"/>
                <a:ea typeface="Calibri" pitchFamily="34" charset="-122"/>
                <a:cs typeface="Calibri" pitchFamily="34" charset="-120"/>
              </a:rPr>
              <a:t>Derive role insights</a:t>
            </a:r>
            <a:endParaRPr lang="en-US" sz="1350" dirty="0"/>
          </a:p>
        </p:txBody>
      </p:sp>
      <p:sp>
        <p:nvSpPr>
          <p:cNvPr id="25" name="Text 22"/>
          <p:cNvSpPr/>
          <p:nvPr/>
        </p:nvSpPr>
        <p:spPr>
          <a:xfrm>
            <a:off x="1051560" y="5276088"/>
            <a:ext cx="475488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AI Exposure Index, perceived AI threat, salary benchmarks, skill gap</a:t>
            </a:r>
            <a:endParaRPr lang="en-US" sz="1100" dirty="0"/>
          </a:p>
        </p:txBody>
      </p:sp>
      <p:sp>
        <p:nvSpPr>
          <p:cNvPr id="26" name="Text 23"/>
          <p:cNvSpPr/>
          <p:nvPr/>
        </p:nvSpPr>
        <p:spPr>
          <a:xfrm>
            <a:off x="548640" y="5678424"/>
            <a:ext cx="365760" cy="365760"/>
          </a:xfrm>
          <a:prstGeom prst="ellipse">
            <a:avLst/>
          </a:prstGeom>
          <a:solidFill>
            <a:srgbClr val="2563EB"/>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7" name="Text 24"/>
          <p:cNvSpPr/>
          <p:nvPr/>
        </p:nvSpPr>
        <p:spPr>
          <a:xfrm>
            <a:off x="1051560" y="5623560"/>
            <a:ext cx="4754880" cy="246888"/>
          </a:xfrm>
          <a:prstGeom prst="rect">
            <a:avLst/>
          </a:prstGeom>
          <a:noFill/>
          <a:ln/>
        </p:spPr>
        <p:txBody>
          <a:bodyPr wrap="square" lIns="0" tIns="0" rIns="0" bIns="0" rtlCol="0" anchor="ctr"/>
          <a:lstStyle/>
          <a:p>
            <a:pPr indent="0" marL="0">
              <a:buNone/>
            </a:pPr>
            <a:r>
              <a:rPr lang="en-US" sz="1350" b="1" dirty="0">
                <a:solidFill>
                  <a:srgbClr val="0B1B3A"/>
                </a:solidFill>
                <a:latin typeface="Calibri" pitchFamily="34" charset="0"/>
                <a:ea typeface="Calibri" pitchFamily="34" charset="-122"/>
                <a:cs typeface="Calibri" pitchFamily="34" charset="-120"/>
              </a:rPr>
              <a:t>Deploy and test</a:t>
            </a:r>
            <a:endParaRPr lang="en-US" sz="1350" dirty="0"/>
          </a:p>
        </p:txBody>
      </p:sp>
      <p:sp>
        <p:nvSpPr>
          <p:cNvPr id="28" name="Text 25"/>
          <p:cNvSpPr/>
          <p:nvPr/>
        </p:nvSpPr>
        <p:spPr>
          <a:xfrm>
            <a:off x="1051560" y="5870448"/>
            <a:ext cx="4754880" cy="22860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 web API and an easy-to-use web app, verified by systematic testing</a:t>
            </a:r>
            <a:endParaRPr lang="en-US" sz="1100" dirty="0"/>
          </a:p>
        </p:txBody>
      </p:sp>
      <p:sp>
        <p:nvSpPr>
          <p:cNvPr id="29" name="Text 26"/>
          <p:cNvSpPr/>
          <p:nvPr/>
        </p:nvSpPr>
        <p:spPr>
          <a:xfrm>
            <a:off x="6080760" y="2331720"/>
            <a:ext cx="5562295" cy="237744"/>
          </a:xfrm>
          <a:prstGeom prst="rect">
            <a:avLst/>
          </a:prstGeom>
          <a:noFill/>
          <a:ln/>
        </p:spPr>
        <p:txBody>
          <a:bodyPr wrap="square" lIns="0" tIns="0" rIns="0" bIns="0" rtlCol="0" anchor="ctr"/>
          <a:lstStyle/>
          <a:p>
            <a:pPr indent="0" marL="0">
              <a:buNone/>
            </a:pPr>
            <a:r>
              <a:rPr lang="en-US" sz="1050" b="1" spc="150" kern="0" dirty="0">
                <a:solidFill>
                  <a:srgbClr val="64748B"/>
                </a:solidFill>
                <a:latin typeface="Calibri" pitchFamily="34" charset="0"/>
                <a:ea typeface="Calibri" pitchFamily="34" charset="-122"/>
                <a:cs typeface="Calibri" pitchFamily="34" charset="-120"/>
              </a:rPr>
              <a:t>SCOPE AND INTENDED USE</a:t>
            </a:r>
            <a:endParaRPr lang="en-US" sz="1050" dirty="0"/>
          </a:p>
        </p:txBody>
      </p:sp>
      <p:sp>
        <p:nvSpPr>
          <p:cNvPr id="30" name="Shape 27"/>
          <p:cNvSpPr/>
          <p:nvPr/>
        </p:nvSpPr>
        <p:spPr>
          <a:xfrm>
            <a:off x="6080760" y="2651760"/>
            <a:ext cx="1371600" cy="841248"/>
          </a:xfrm>
          <a:prstGeom prst="roundRect">
            <a:avLst>
              <a:gd name="adj" fmla="val 9783"/>
            </a:avLst>
          </a:prstGeom>
          <a:solidFill>
            <a:srgbClr val="0B1B3A"/>
          </a:solidFill>
          <a:ln w="9525">
            <a:solidFill>
              <a:srgbClr val="0B1B3A"/>
            </a:solidFill>
            <a:prstDash val="solid"/>
          </a:ln>
        </p:spPr>
      </p:sp>
      <p:sp>
        <p:nvSpPr>
          <p:cNvPr id="31" name="Text 28"/>
          <p:cNvSpPr/>
          <p:nvPr/>
        </p:nvSpPr>
        <p:spPr>
          <a:xfrm>
            <a:off x="6080760" y="2688336"/>
            <a:ext cx="1371600" cy="438912"/>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20</a:t>
            </a:r>
            <a:endParaRPr lang="en-US" sz="2600" dirty="0"/>
          </a:p>
        </p:txBody>
      </p:sp>
      <p:sp>
        <p:nvSpPr>
          <p:cNvPr id="32" name="Text 29"/>
          <p:cNvSpPr/>
          <p:nvPr/>
        </p:nvSpPr>
        <p:spPr>
          <a:xfrm>
            <a:off x="6126480" y="3127248"/>
            <a:ext cx="1280160" cy="292608"/>
          </a:xfrm>
          <a:prstGeom prst="rect">
            <a:avLst/>
          </a:prstGeom>
          <a:noFill/>
          <a:ln/>
        </p:spPr>
        <p:txBody>
          <a:bodyPr wrap="square" lIns="0" tIns="0" rIns="0" bIns="0" rtlCol="0" anchor="t"/>
          <a:lstStyle/>
          <a:p>
            <a:pPr algn="ctr" indent="0" marL="0">
              <a:buNone/>
            </a:pPr>
            <a:r>
              <a:rPr lang="en-US" sz="950" dirty="0">
                <a:solidFill>
                  <a:srgbClr val="9DC1FF"/>
                </a:solidFill>
                <a:latin typeface="Calibri" pitchFamily="34" charset="0"/>
                <a:ea typeface="Calibri" pitchFamily="34" charset="-122"/>
                <a:cs typeface="Calibri" pitchFamily="34" charset="-120"/>
              </a:rPr>
              <a:t>skill-defined job roles</a:t>
            </a:r>
            <a:endParaRPr lang="en-US" sz="950" dirty="0"/>
          </a:p>
        </p:txBody>
      </p:sp>
      <p:sp>
        <p:nvSpPr>
          <p:cNvPr id="33" name="Shape 30"/>
          <p:cNvSpPr/>
          <p:nvPr/>
        </p:nvSpPr>
        <p:spPr>
          <a:xfrm>
            <a:off x="7562088" y="2651760"/>
            <a:ext cx="1371600" cy="841248"/>
          </a:xfrm>
          <a:prstGeom prst="roundRect">
            <a:avLst>
              <a:gd name="adj" fmla="val 9783"/>
            </a:avLst>
          </a:prstGeom>
          <a:solidFill>
            <a:srgbClr val="0B1B3A"/>
          </a:solidFill>
          <a:ln w="9525">
            <a:solidFill>
              <a:srgbClr val="0B1B3A"/>
            </a:solidFill>
            <a:prstDash val="solid"/>
          </a:ln>
        </p:spPr>
      </p:sp>
      <p:sp>
        <p:nvSpPr>
          <p:cNvPr id="34" name="Text 31"/>
          <p:cNvSpPr/>
          <p:nvPr/>
        </p:nvSpPr>
        <p:spPr>
          <a:xfrm>
            <a:off x="7562088" y="2688336"/>
            <a:ext cx="1371600" cy="438912"/>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12</a:t>
            </a:r>
            <a:endParaRPr lang="en-US" sz="2600" dirty="0"/>
          </a:p>
        </p:txBody>
      </p:sp>
      <p:sp>
        <p:nvSpPr>
          <p:cNvPr id="35" name="Text 32"/>
          <p:cNvSpPr/>
          <p:nvPr/>
        </p:nvSpPr>
        <p:spPr>
          <a:xfrm>
            <a:off x="7607808" y="3127248"/>
            <a:ext cx="1280160" cy="292608"/>
          </a:xfrm>
          <a:prstGeom prst="rect">
            <a:avLst/>
          </a:prstGeom>
          <a:noFill/>
          <a:ln/>
        </p:spPr>
        <p:txBody>
          <a:bodyPr wrap="square" lIns="0" tIns="0" rIns="0" bIns="0" rtlCol="0" anchor="t"/>
          <a:lstStyle/>
          <a:p>
            <a:pPr algn="ctr" indent="0" marL="0">
              <a:buNone/>
            </a:pPr>
            <a:r>
              <a:rPr lang="en-US" sz="950" dirty="0">
                <a:solidFill>
                  <a:srgbClr val="9DC1FF"/>
                </a:solidFill>
                <a:latin typeface="Calibri" pitchFamily="34" charset="0"/>
                <a:ea typeface="Calibri" pitchFamily="34" charset="-122"/>
                <a:cs typeface="Calibri" pitchFamily="34" charset="-120"/>
              </a:rPr>
              <a:t>role families</a:t>
            </a:r>
            <a:endParaRPr lang="en-US" sz="950" dirty="0"/>
          </a:p>
        </p:txBody>
      </p:sp>
      <p:sp>
        <p:nvSpPr>
          <p:cNvPr id="36" name="Shape 33"/>
          <p:cNvSpPr/>
          <p:nvPr/>
        </p:nvSpPr>
        <p:spPr>
          <a:xfrm>
            <a:off x="9043416" y="2651760"/>
            <a:ext cx="2599639" cy="841248"/>
          </a:xfrm>
          <a:prstGeom prst="roundRect">
            <a:avLst>
              <a:gd name="adj" fmla="val 9783"/>
            </a:avLst>
          </a:prstGeom>
          <a:solidFill>
            <a:srgbClr val="F6F8FB"/>
          </a:solidFill>
          <a:ln w="9525">
            <a:solidFill>
              <a:srgbClr val="DCE3EC"/>
            </a:solidFill>
            <a:prstDash val="solid"/>
          </a:ln>
        </p:spPr>
      </p:sp>
      <p:sp>
        <p:nvSpPr>
          <p:cNvPr id="37" name="Text 34"/>
          <p:cNvSpPr/>
          <p:nvPr/>
        </p:nvSpPr>
        <p:spPr>
          <a:xfrm>
            <a:off x="9189720" y="2724912"/>
            <a:ext cx="2361895" cy="219456"/>
          </a:xfrm>
          <a:prstGeom prst="rect">
            <a:avLst/>
          </a:prstGeom>
          <a:noFill/>
          <a:ln/>
        </p:spPr>
        <p:txBody>
          <a:bodyPr wrap="square" lIns="0" tIns="0" rIns="0" bIns="0" rtlCol="0" anchor="ctr"/>
          <a:lstStyle/>
          <a:p>
            <a:pPr indent="0" marL="0">
              <a:buNone/>
            </a:pPr>
            <a:r>
              <a:rPr lang="en-US" sz="950" b="1" spc="150" kern="0" dirty="0">
                <a:solidFill>
                  <a:srgbClr val="2563EB"/>
                </a:solidFill>
                <a:latin typeface="Calibri" pitchFamily="34" charset="0"/>
                <a:ea typeface="Calibri" pitchFamily="34" charset="-122"/>
                <a:cs typeface="Calibri" pitchFamily="34" charset="-120"/>
              </a:rPr>
              <a:t>TARGET USERS</a:t>
            </a:r>
            <a:endParaRPr lang="en-US" sz="950" dirty="0"/>
          </a:p>
        </p:txBody>
      </p:sp>
      <p:sp>
        <p:nvSpPr>
          <p:cNvPr id="38" name="Text 35"/>
          <p:cNvSpPr/>
          <p:nvPr/>
        </p:nvSpPr>
        <p:spPr>
          <a:xfrm>
            <a:off x="9189720" y="2944368"/>
            <a:ext cx="2316175" cy="475488"/>
          </a:xfrm>
          <a:prstGeom prst="rect">
            <a:avLst/>
          </a:prstGeom>
          <a:noFill/>
          <a:ln/>
        </p:spPr>
        <p:txBody>
          <a:bodyPr wrap="square" lIns="0" tIns="0" rIns="0" bIns="0" rtlCol="0" anchor="t"/>
          <a:lstStyle/>
          <a:p>
            <a:pPr indent="0" marL="0">
              <a:lnSpc>
                <a:spcPct val="98000"/>
              </a:lnSpc>
              <a:buNone/>
            </a:pPr>
            <a:r>
              <a:rPr lang="en-US" sz="1300" b="1" dirty="0">
                <a:solidFill>
                  <a:srgbClr val="0B1B3A"/>
                </a:solidFill>
                <a:latin typeface="Calibri" pitchFamily="34" charset="0"/>
                <a:ea typeface="Calibri" pitchFamily="34" charset="-122"/>
                <a:cs typeface="Calibri" pitchFamily="34" charset="-120"/>
              </a:rPr>
              <a:t>Students and early-career developers</a:t>
            </a:r>
            <a:endParaRPr lang="en-US" sz="1300" dirty="0"/>
          </a:p>
        </p:txBody>
      </p:sp>
      <p:sp>
        <p:nvSpPr>
          <p:cNvPr id="39" name="Shape 36"/>
          <p:cNvSpPr/>
          <p:nvPr/>
        </p:nvSpPr>
        <p:spPr>
          <a:xfrm>
            <a:off x="6080760" y="3639312"/>
            <a:ext cx="2717140" cy="1828800"/>
          </a:xfrm>
          <a:prstGeom prst="roundRect">
            <a:avLst>
              <a:gd name="adj" fmla="val 4500"/>
            </a:avLst>
          </a:prstGeom>
          <a:solidFill>
            <a:srgbClr val="ECFDF5"/>
          </a:solidFill>
          <a:ln w="9525">
            <a:solidFill>
              <a:srgbClr val="B7E9D2"/>
            </a:solidFill>
            <a:prstDash val="solid"/>
          </a:ln>
        </p:spPr>
      </p:sp>
      <p:sp>
        <p:nvSpPr>
          <p:cNvPr id="40" name="Text 37"/>
          <p:cNvSpPr/>
          <p:nvPr/>
        </p:nvSpPr>
        <p:spPr>
          <a:xfrm>
            <a:off x="6263640" y="3703320"/>
            <a:ext cx="2351380" cy="256032"/>
          </a:xfrm>
          <a:prstGeom prst="rect">
            <a:avLst/>
          </a:prstGeom>
          <a:noFill/>
          <a:ln/>
        </p:spPr>
        <p:txBody>
          <a:bodyPr wrap="square" lIns="0" tIns="0" rIns="0" bIns="0" rtlCol="0" anchor="ctr"/>
          <a:lstStyle/>
          <a:p>
            <a:pPr indent="0" marL="0">
              <a:buNone/>
            </a:pPr>
            <a:r>
              <a:rPr lang="en-US" sz="1100" b="1" spc="150" kern="0" dirty="0">
                <a:solidFill>
                  <a:srgbClr val="047857"/>
                </a:solidFill>
                <a:latin typeface="Calibri" pitchFamily="34" charset="0"/>
                <a:ea typeface="Calibri" pitchFamily="34" charset="-122"/>
                <a:cs typeface="Calibri" pitchFamily="34" charset="-120"/>
              </a:rPr>
              <a:t>IN SCOPE</a:t>
            </a:r>
            <a:endParaRPr lang="en-US" sz="1100" dirty="0"/>
          </a:p>
        </p:txBody>
      </p:sp>
      <p:sp>
        <p:nvSpPr>
          <p:cNvPr id="41" name="Text 38"/>
          <p:cNvSpPr/>
          <p:nvPr/>
        </p:nvSpPr>
        <p:spPr>
          <a:xfrm>
            <a:off x="6263640" y="3986784"/>
            <a:ext cx="2387956" cy="1444752"/>
          </a:xfrm>
          <a:prstGeom prst="rect">
            <a:avLst/>
          </a:prstGeom>
          <a:noFill/>
          <a:ln/>
        </p:spPr>
        <p:txBody>
          <a:bodyPr wrap="square" lIns="0" tIns="0" rIns="0" bIns="0" rtlCol="0" anchor="t"/>
          <a:lstStyle/>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Top-3 roles and families, with probabilities</a:t>
            </a:r>
            <a:endParaRPr lang="en-US" sz="1050" dirty="0"/>
          </a:p>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AI exposure, AI threat, salary and skill gap per role</a:t>
            </a:r>
            <a:endParaRPr lang="en-US" sz="1050" dirty="0"/>
          </a:p>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Web API and web app for a single user</a:t>
            </a:r>
            <a:endParaRPr lang="en-US" sz="1050" dirty="0"/>
          </a:p>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Unit, integration and system testing</a:t>
            </a:r>
            <a:endParaRPr lang="en-US" sz="1050" dirty="0"/>
          </a:p>
        </p:txBody>
      </p:sp>
      <p:sp>
        <p:nvSpPr>
          <p:cNvPr id="42" name="Shape 39"/>
          <p:cNvSpPr/>
          <p:nvPr/>
        </p:nvSpPr>
        <p:spPr>
          <a:xfrm>
            <a:off x="8925916" y="3639312"/>
            <a:ext cx="2717140" cy="1828800"/>
          </a:xfrm>
          <a:prstGeom prst="roundRect">
            <a:avLst>
              <a:gd name="adj" fmla="val 4500"/>
            </a:avLst>
          </a:prstGeom>
          <a:solidFill>
            <a:srgbClr val="FFF4EC"/>
          </a:solidFill>
          <a:ln w="9525">
            <a:solidFill>
              <a:srgbClr val="FBD5B8"/>
            </a:solidFill>
            <a:prstDash val="solid"/>
          </a:ln>
        </p:spPr>
      </p:sp>
      <p:sp>
        <p:nvSpPr>
          <p:cNvPr id="43" name="Text 40"/>
          <p:cNvSpPr/>
          <p:nvPr/>
        </p:nvSpPr>
        <p:spPr>
          <a:xfrm>
            <a:off x="9108796" y="3703320"/>
            <a:ext cx="2351380" cy="256032"/>
          </a:xfrm>
          <a:prstGeom prst="rect">
            <a:avLst/>
          </a:prstGeom>
          <a:noFill/>
          <a:ln/>
        </p:spPr>
        <p:txBody>
          <a:bodyPr wrap="square" lIns="0" tIns="0" rIns="0" bIns="0" rtlCol="0" anchor="ctr"/>
          <a:lstStyle/>
          <a:p>
            <a:pPr indent="0" marL="0">
              <a:buNone/>
            </a:pPr>
            <a:r>
              <a:rPr lang="en-US" sz="1100" b="1" spc="150" kern="0" dirty="0">
                <a:solidFill>
                  <a:srgbClr val="C2410C"/>
                </a:solidFill>
                <a:latin typeface="Calibri" pitchFamily="34" charset="0"/>
                <a:ea typeface="Calibri" pitchFamily="34" charset="-122"/>
                <a:cs typeface="Calibri" pitchFamily="34" charset="-120"/>
              </a:rPr>
              <a:t>OUT OF SCOPE</a:t>
            </a:r>
            <a:endParaRPr lang="en-US" sz="1100" dirty="0"/>
          </a:p>
        </p:txBody>
      </p:sp>
      <p:sp>
        <p:nvSpPr>
          <p:cNvPr id="44" name="Text 41"/>
          <p:cNvSpPr/>
          <p:nvPr/>
        </p:nvSpPr>
        <p:spPr>
          <a:xfrm>
            <a:off x="9108796" y="3986784"/>
            <a:ext cx="2387956" cy="1444752"/>
          </a:xfrm>
          <a:prstGeom prst="rect">
            <a:avLst/>
          </a:prstGeom>
          <a:noFill/>
          <a:ln/>
        </p:spPr>
        <p:txBody>
          <a:bodyPr wrap="square" lIns="0" tIns="0" rIns="0" bIns="0" rtlCol="0" anchor="t"/>
          <a:lstStyle/>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Management, executive and non-technical roles</a:t>
            </a:r>
            <a:endParaRPr lang="en-US" sz="1050" dirty="0"/>
          </a:p>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Age, gender or other sensitive attributes as inputs</a:t>
            </a:r>
            <a:endParaRPr lang="en-US" sz="1050" dirty="0"/>
          </a:p>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Hiring, screening or salary-setting decisions</a:t>
            </a:r>
            <a:endParaRPr lang="en-US" sz="1050" dirty="0"/>
          </a:p>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Storing or logging user input; large-scale hosting</a:t>
            </a:r>
            <a:endParaRPr lang="en-US" sz="1050" dirty="0"/>
          </a:p>
        </p:txBody>
      </p:sp>
      <p:sp>
        <p:nvSpPr>
          <p:cNvPr id="45" name="Shape 42"/>
          <p:cNvSpPr/>
          <p:nvPr/>
        </p:nvSpPr>
        <p:spPr>
          <a:xfrm>
            <a:off x="6080760" y="5596128"/>
            <a:ext cx="5562295" cy="658368"/>
          </a:xfrm>
          <a:prstGeom prst="roundRect">
            <a:avLst>
              <a:gd name="adj" fmla="val 12500"/>
            </a:avLst>
          </a:prstGeom>
          <a:solidFill>
            <a:srgbClr val="F6F8FB"/>
          </a:solidFill>
          <a:ln w="9525">
            <a:solidFill>
              <a:srgbClr val="DCE3EC"/>
            </a:solidFill>
            <a:prstDash val="solid"/>
          </a:ln>
        </p:spPr>
      </p:sp>
      <p:sp>
        <p:nvSpPr>
          <p:cNvPr id="46" name="Text 43"/>
          <p:cNvSpPr/>
          <p:nvPr/>
        </p:nvSpPr>
        <p:spPr>
          <a:xfrm>
            <a:off x="6263640" y="5596128"/>
            <a:ext cx="5196535" cy="658368"/>
          </a:xfrm>
          <a:prstGeom prst="rect">
            <a:avLst/>
          </a:prstGeom>
          <a:noFill/>
          <a:ln/>
        </p:spPr>
        <p:txBody>
          <a:bodyPr wrap="square" lIns="0" tIns="0" rIns="0" bIns="0" rtlCol="0" anchor="ctr"/>
          <a:lstStyle/>
          <a:p>
            <a:pPr indent="0" marL="0">
              <a:lnSpc>
                <a:spcPct val="103000"/>
              </a:lnSpc>
              <a:buNone/>
            </a:pPr>
            <a:r>
              <a:rPr lang="en-US" sz="1050" b="1" dirty="0">
                <a:solidFill>
                  <a:srgbClr val="0B1B3A"/>
                </a:solidFill>
                <a:latin typeface="Calibri" pitchFamily="34" charset="0"/>
                <a:ea typeface="Calibri" pitchFamily="34" charset="-122"/>
                <a:cs typeface="Calibri" pitchFamily="34" charset="-120"/>
              </a:rPr>
              <a:t>Intended use:  </a:t>
            </a:r>
            <a:pPr indent="0" marL="0">
              <a:lnSpc>
                <a:spcPct val="103000"/>
              </a:lnSpc>
              <a:buNone/>
            </a:pPr>
            <a:r>
              <a:rPr lang="en-US" sz="1050" dirty="0">
                <a:solidFill>
                  <a:srgbClr val="334155"/>
                </a:solidFill>
                <a:latin typeface="Calibri" pitchFamily="34" charset="0"/>
                <a:ea typeface="Calibri" pitchFamily="34" charset="-122"/>
                <a:cs typeface="Calibri" pitchFamily="34" charset="-120"/>
              </a:rPr>
              <a:t>suggestions for learning and career planning. A low score means a profile is unlike that role’s survey respondents, not that the person cannot do the job.</a:t>
            </a:r>
            <a:endParaRPr lang="en-US" sz="1050" dirty="0"/>
          </a:p>
        </p:txBody>
      </p:sp>
      <p:sp>
        <p:nvSpPr>
          <p:cNvPr id="25" name="Slide Number Placeholder 0"/>
          <p:cNvSpPr>
            <a:spLocks noGrp="1"/>
          </p:cNvSpPr>
          <p:nvPr>
            <p:ph type="sldNum" sz="quarter" idx="4294967295"/>
          </p:nvPr>
        </p:nvSpPr>
        <p:spPr>
          <a:xfrm>
            <a:off x="11094415" y="6464808"/>
            <a:ext cx="5486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64748B"/>
                </a:solidFill>
                <a:latin typeface="Calibri"/>
                <a:ea typeface="Calibri"/>
                <a:cs typeface="Calibri"/>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57200"/>
            <a:ext cx="64008" cy="713232"/>
          </a:xfrm>
          <a:prstGeom prst="rect">
            <a:avLst/>
          </a:prstGeom>
          <a:solidFill>
            <a:srgbClr val="2563EB"/>
          </a:solidFill>
          <a:ln/>
        </p:spPr>
      </p:sp>
      <p:sp>
        <p:nvSpPr>
          <p:cNvPr id="3" name="Text 1"/>
          <p:cNvSpPr/>
          <p:nvPr/>
        </p:nvSpPr>
        <p:spPr>
          <a:xfrm>
            <a:off x="749808" y="429768"/>
            <a:ext cx="7315200" cy="256032"/>
          </a:xfrm>
          <a:prstGeom prst="rect">
            <a:avLst/>
          </a:prstGeom>
          <a:noFill/>
          <a:ln/>
        </p:spPr>
        <p:txBody>
          <a:bodyPr wrap="square" lIns="0" tIns="0" rIns="0" bIns="0" rtlCol="0" anchor="t"/>
          <a:lstStyle/>
          <a:p>
            <a:pPr indent="0" marL="0">
              <a:buNone/>
            </a:pPr>
            <a:r>
              <a:rPr lang="en-US" sz="1100" b="1" spc="200" kern="0" dirty="0">
                <a:solidFill>
                  <a:srgbClr val="2563EB"/>
                </a:solidFill>
                <a:latin typeface="Calibri" pitchFamily="34" charset="0"/>
                <a:ea typeface="Calibri" pitchFamily="34" charset="-122"/>
                <a:cs typeface="Calibri" pitchFamily="34" charset="-120"/>
              </a:rPr>
              <a:t>PROBLEM, OBJECTIVES &amp; DATASET</a:t>
            </a:r>
            <a:endParaRPr lang="en-US" sz="1100" dirty="0"/>
          </a:p>
        </p:txBody>
      </p:sp>
      <p:sp>
        <p:nvSpPr>
          <p:cNvPr id="4" name="Text 2"/>
          <p:cNvSpPr/>
          <p:nvPr/>
        </p:nvSpPr>
        <p:spPr>
          <a:xfrm>
            <a:off x="749808" y="676656"/>
            <a:ext cx="8229600" cy="512064"/>
          </a:xfrm>
          <a:prstGeom prst="rect">
            <a:avLst/>
          </a:prstGeom>
          <a:noFill/>
          <a:ln/>
        </p:spPr>
        <p:txBody>
          <a:bodyPr wrap="square" lIns="0" tIns="0" rIns="0" bIns="0" rtlCol="0" anchor="ctr"/>
          <a:lstStyle/>
          <a:p>
            <a:pPr indent="0" marL="0">
              <a:buNone/>
            </a:pPr>
            <a:r>
              <a:rPr lang="en-US" sz="2800" b="1" dirty="0">
                <a:solidFill>
                  <a:srgbClr val="0B1B3A"/>
                </a:solidFill>
                <a:latin typeface="Calibri" pitchFamily="34" charset="0"/>
                <a:ea typeface="Calibri" pitchFamily="34" charset="-122"/>
                <a:cs typeface="Calibri" pitchFamily="34" charset="-120"/>
              </a:rPr>
              <a:t>Dataset and Exploratory Data Analysis</a:t>
            </a:r>
            <a:endParaRPr lang="en-US" sz="2800" dirty="0"/>
          </a:p>
        </p:txBody>
      </p:sp>
      <p:sp>
        <p:nvSpPr>
          <p:cNvPr id="5" name="Text 3"/>
          <p:cNvSpPr/>
          <p:nvPr/>
        </p:nvSpPr>
        <p:spPr>
          <a:xfrm>
            <a:off x="8945575" y="548640"/>
            <a:ext cx="2697480" cy="365760"/>
          </a:xfrm>
          <a:prstGeom prst="roundRect">
            <a:avLst>
              <a:gd name="adj" fmla="val 50000"/>
            </a:avLst>
          </a:prstGeom>
          <a:solidFill>
            <a:srgbClr val="EFF5FF"/>
          </a:solidFill>
          <a:ln w="9525">
            <a:solidFill>
              <a:srgbClr val="D2E2FD"/>
            </a:solid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Member 1</a:t>
            </a:r>
            <a:pPr algn="ctr" indent="0" marL="0">
              <a:buNone/>
            </a:pPr>
            <a:r>
              <a:rPr lang="en-US" sz="1100" b="1" dirty="0">
                <a:solidFill>
                  <a:srgbClr val="334155"/>
                </a:solidFill>
                <a:latin typeface="Calibri" pitchFamily="34" charset="0"/>
                <a:ea typeface="Calibri" pitchFamily="34" charset="-122"/>
                <a:cs typeface="Calibri" pitchFamily="34" charset="-120"/>
              </a:rPr>
              <a:t>   S S P S Bandara</a:t>
            </a:r>
            <a:endParaRPr lang="en-US" sz="1100" dirty="0"/>
          </a:p>
        </p:txBody>
      </p:sp>
      <p:sp>
        <p:nvSpPr>
          <p:cNvPr id="7" name="Shape 4"/>
          <p:cNvSpPr/>
          <p:nvPr/>
        </p:nvSpPr>
        <p:spPr>
          <a:xfrm>
            <a:off x="548640" y="1389888"/>
            <a:ext cx="3291840" cy="3785616"/>
          </a:xfrm>
          <a:prstGeom prst="roundRect">
            <a:avLst>
              <a:gd name="adj" fmla="val 2500"/>
            </a:avLst>
          </a:prstGeom>
          <a:solidFill>
            <a:srgbClr val="F6F8FB"/>
          </a:solidFill>
          <a:ln w="9525">
            <a:solidFill>
              <a:srgbClr val="DCE3EC"/>
            </a:solidFill>
            <a:prstDash val="solid"/>
          </a:ln>
        </p:spPr>
      </p:sp>
      <p:sp>
        <p:nvSpPr>
          <p:cNvPr id="8" name="Text 5"/>
          <p:cNvSpPr/>
          <p:nvPr/>
        </p:nvSpPr>
        <p:spPr>
          <a:xfrm>
            <a:off x="731520" y="1481328"/>
            <a:ext cx="2926080" cy="457200"/>
          </a:xfrm>
          <a:prstGeom prst="rect">
            <a:avLst/>
          </a:prstGeom>
          <a:noFill/>
          <a:ln/>
        </p:spPr>
        <p:txBody>
          <a:bodyPr wrap="square" lIns="0" tIns="0" rIns="0" bIns="0" rtlCol="0" anchor="t"/>
          <a:lstStyle/>
          <a:p>
            <a:pPr indent="0" marL="0">
              <a:lnSpc>
                <a:spcPct val="98000"/>
              </a:lnSpc>
              <a:buNone/>
            </a:pPr>
            <a:r>
              <a:rPr lang="en-US" sz="1300" b="1" dirty="0">
                <a:solidFill>
                  <a:srgbClr val="0B1B3A"/>
                </a:solidFill>
                <a:latin typeface="Calibri" pitchFamily="34" charset="0"/>
                <a:ea typeface="Calibri" pitchFamily="34" charset="-122"/>
                <a:cs typeface="Calibri" pitchFamily="34" charset="-120"/>
              </a:rPr>
              <a:t>Stack Overflow Annual Developer Survey 2025</a:t>
            </a:r>
            <a:endParaRPr lang="en-US" sz="1300" dirty="0"/>
          </a:p>
        </p:txBody>
      </p:sp>
      <p:sp>
        <p:nvSpPr>
          <p:cNvPr id="9" name="Shape 6"/>
          <p:cNvSpPr/>
          <p:nvPr/>
        </p:nvSpPr>
        <p:spPr>
          <a:xfrm>
            <a:off x="731520" y="2011680"/>
            <a:ext cx="1417320" cy="749808"/>
          </a:xfrm>
          <a:prstGeom prst="roundRect">
            <a:avLst>
              <a:gd name="adj" fmla="val 8537"/>
            </a:avLst>
          </a:prstGeom>
          <a:solidFill>
            <a:srgbClr val="0B1B3A"/>
          </a:solidFill>
          <a:ln/>
        </p:spPr>
      </p:sp>
      <p:sp>
        <p:nvSpPr>
          <p:cNvPr id="10" name="Text 7"/>
          <p:cNvSpPr/>
          <p:nvPr/>
        </p:nvSpPr>
        <p:spPr>
          <a:xfrm>
            <a:off x="731520" y="2039112"/>
            <a:ext cx="1417320" cy="420624"/>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49,123</a:t>
            </a:r>
            <a:endParaRPr lang="en-US" sz="2200" dirty="0"/>
          </a:p>
        </p:txBody>
      </p:sp>
      <p:sp>
        <p:nvSpPr>
          <p:cNvPr id="11" name="Text 8"/>
          <p:cNvSpPr/>
          <p:nvPr/>
        </p:nvSpPr>
        <p:spPr>
          <a:xfrm>
            <a:off x="731520" y="2450592"/>
            <a:ext cx="1417320" cy="237744"/>
          </a:xfrm>
          <a:prstGeom prst="rect">
            <a:avLst/>
          </a:prstGeom>
          <a:noFill/>
          <a:ln/>
        </p:spPr>
        <p:txBody>
          <a:bodyPr wrap="square" lIns="0" tIns="0" rIns="0" bIns="0" rtlCol="0" anchor="ctr"/>
          <a:lstStyle/>
          <a:p>
            <a:pPr algn="ctr" indent="0" marL="0">
              <a:buNone/>
            </a:pPr>
            <a:r>
              <a:rPr lang="en-US" sz="1000" dirty="0">
                <a:solidFill>
                  <a:srgbClr val="9DC1FF"/>
                </a:solidFill>
                <a:latin typeface="Calibri" pitchFamily="34" charset="0"/>
                <a:ea typeface="Calibri" pitchFamily="34" charset="-122"/>
                <a:cs typeface="Calibri" pitchFamily="34" charset="-120"/>
              </a:rPr>
              <a:t>responses</a:t>
            </a:r>
            <a:endParaRPr lang="en-US" sz="1000" dirty="0"/>
          </a:p>
        </p:txBody>
      </p:sp>
      <p:sp>
        <p:nvSpPr>
          <p:cNvPr id="12" name="Shape 9"/>
          <p:cNvSpPr/>
          <p:nvPr/>
        </p:nvSpPr>
        <p:spPr>
          <a:xfrm>
            <a:off x="2240280" y="2011680"/>
            <a:ext cx="1417320" cy="749808"/>
          </a:xfrm>
          <a:prstGeom prst="roundRect">
            <a:avLst>
              <a:gd name="adj" fmla="val 8537"/>
            </a:avLst>
          </a:prstGeom>
          <a:solidFill>
            <a:srgbClr val="0B1B3A"/>
          </a:solidFill>
          <a:ln/>
        </p:spPr>
      </p:sp>
      <p:sp>
        <p:nvSpPr>
          <p:cNvPr id="13" name="Text 10"/>
          <p:cNvSpPr/>
          <p:nvPr/>
        </p:nvSpPr>
        <p:spPr>
          <a:xfrm>
            <a:off x="2240280" y="2039112"/>
            <a:ext cx="1417320" cy="420624"/>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170</a:t>
            </a:r>
            <a:endParaRPr lang="en-US" sz="2200" dirty="0"/>
          </a:p>
        </p:txBody>
      </p:sp>
      <p:sp>
        <p:nvSpPr>
          <p:cNvPr id="14" name="Text 11"/>
          <p:cNvSpPr/>
          <p:nvPr/>
        </p:nvSpPr>
        <p:spPr>
          <a:xfrm>
            <a:off x="2240280" y="2450592"/>
            <a:ext cx="1417320" cy="237744"/>
          </a:xfrm>
          <a:prstGeom prst="rect">
            <a:avLst/>
          </a:prstGeom>
          <a:noFill/>
          <a:ln/>
        </p:spPr>
        <p:txBody>
          <a:bodyPr wrap="square" lIns="0" tIns="0" rIns="0" bIns="0" rtlCol="0" anchor="ctr"/>
          <a:lstStyle/>
          <a:p>
            <a:pPr algn="ctr" indent="0" marL="0">
              <a:buNone/>
            </a:pPr>
            <a:r>
              <a:rPr lang="en-US" sz="1000" dirty="0">
                <a:solidFill>
                  <a:srgbClr val="9DC1FF"/>
                </a:solidFill>
                <a:latin typeface="Calibri" pitchFamily="34" charset="0"/>
                <a:ea typeface="Calibri" pitchFamily="34" charset="-122"/>
                <a:cs typeface="Calibri" pitchFamily="34" charset="-120"/>
              </a:rPr>
              <a:t>attributes</a:t>
            </a:r>
            <a:endParaRPr lang="en-US" sz="1000" dirty="0"/>
          </a:p>
        </p:txBody>
      </p:sp>
      <p:sp>
        <p:nvSpPr>
          <p:cNvPr id="15" name="Text 12"/>
          <p:cNvSpPr/>
          <p:nvPr/>
        </p:nvSpPr>
        <p:spPr>
          <a:xfrm>
            <a:off x="731520" y="2871216"/>
            <a:ext cx="2926080" cy="219456"/>
          </a:xfrm>
          <a:prstGeom prst="rect">
            <a:avLst/>
          </a:prstGeom>
          <a:noFill/>
          <a:ln/>
        </p:spPr>
        <p:txBody>
          <a:bodyPr wrap="square" lIns="0" tIns="0" rIns="0" bIns="0" rtlCol="0" anchor="ctr"/>
          <a:lstStyle/>
          <a:p>
            <a:pPr indent="0" marL="0">
              <a:buNone/>
            </a:pPr>
            <a:r>
              <a:rPr lang="en-US" sz="950" b="1" spc="150" kern="0" dirty="0">
                <a:solidFill>
                  <a:srgbClr val="2563EB"/>
                </a:solidFill>
                <a:latin typeface="Calibri" pitchFamily="34" charset="0"/>
                <a:ea typeface="Calibri" pitchFamily="34" charset="-122"/>
                <a:cs typeface="Calibri" pitchFamily="34" charset="-120"/>
              </a:rPr>
              <a:t>ATTRIBUTES USED</a:t>
            </a:r>
            <a:endParaRPr lang="en-US" sz="950" dirty="0"/>
          </a:p>
        </p:txBody>
      </p:sp>
      <p:sp>
        <p:nvSpPr>
          <p:cNvPr id="16" name="Text 13"/>
          <p:cNvSpPr/>
          <p:nvPr/>
        </p:nvSpPr>
        <p:spPr>
          <a:xfrm>
            <a:off x="731520" y="3108960"/>
            <a:ext cx="2971800" cy="1481328"/>
          </a:xfrm>
          <a:prstGeom prst="rect">
            <a:avLst/>
          </a:prstGeom>
          <a:noFill/>
          <a:ln/>
        </p:spPr>
        <p:txBody>
          <a:bodyPr wrap="square" lIns="0" tIns="0" rIns="0" bIns="0" rtlCol="0" anchor="t"/>
          <a:lstStyle/>
          <a:p>
            <a:pPr indent="0" marL="0">
              <a:spcAft>
                <a:spcPts val="550"/>
              </a:spcAft>
              <a:buNone/>
            </a:pPr>
            <a:r>
              <a:rPr lang="en-US" sz="1050" b="1" dirty="0">
                <a:solidFill>
                  <a:srgbClr val="0B1B3A"/>
                </a:solidFill>
                <a:latin typeface="Calibri" pitchFamily="34" charset="0"/>
                <a:ea typeface="Calibri" pitchFamily="34" charset="-122"/>
                <a:cs typeface="Calibri" pitchFamily="34" charset="-120"/>
              </a:rPr>
              <a:t>Job role: </a:t>
            </a:r>
            <a:pPr indent="0" marL="0">
              <a:spcAft>
                <a:spcPts val="550"/>
              </a:spcAft>
              <a:buNone/>
            </a:pPr>
            <a:r>
              <a:rPr lang="en-US" sz="1050" dirty="0">
                <a:solidFill>
                  <a:srgbClr val="334155"/>
                </a:solidFill>
                <a:latin typeface="Calibri" pitchFamily="34" charset="0"/>
                <a:ea typeface="Calibri" pitchFamily="34" charset="-122"/>
                <a:cs typeface="Calibri" pitchFamily="34" charset="-120"/>
              </a:rPr>
              <a:t>class label (20 roles kept)</a:t>
            </a:r>
            <a:endParaRPr lang="en-US" sz="1050" dirty="0"/>
          </a:p>
          <a:p>
            <a:pPr indent="0" marL="0">
              <a:spcAft>
                <a:spcPts val="550"/>
              </a:spcAft>
              <a:buNone/>
            </a:pPr>
            <a:r>
              <a:rPr lang="en-US" sz="1050" b="1" dirty="0">
                <a:solidFill>
                  <a:srgbClr val="0B1B3A"/>
                </a:solidFill>
                <a:latin typeface="Calibri" pitchFamily="34" charset="0"/>
                <a:ea typeface="Calibri" pitchFamily="34" charset="-122"/>
                <a:cs typeface="Calibri" pitchFamily="34" charset="-120"/>
              </a:rPr>
              <a:t>Technologies: </a:t>
            </a:r>
            <a:pPr indent="0" marL="0">
              <a:spcAft>
                <a:spcPts val="550"/>
              </a:spcAft>
              <a:buNone/>
            </a:pPr>
            <a:r>
              <a:rPr lang="en-US" sz="1050" dirty="0">
                <a:solidFill>
                  <a:srgbClr val="334155"/>
                </a:solidFill>
                <a:latin typeface="Calibri" pitchFamily="34" charset="0"/>
                <a:ea typeface="Calibri" pitchFamily="34" charset="-122"/>
                <a:cs typeface="Calibri" pitchFamily="34" charset="-120"/>
              </a:rPr>
              <a:t>7 areas, used and wanted</a:t>
            </a:r>
            <a:endParaRPr lang="en-US" sz="1050" dirty="0"/>
          </a:p>
          <a:p>
            <a:pPr indent="0" marL="0">
              <a:spcAft>
                <a:spcPts val="550"/>
              </a:spcAft>
              <a:buNone/>
            </a:pPr>
            <a:r>
              <a:rPr lang="en-US" sz="1050" b="1" dirty="0">
                <a:solidFill>
                  <a:srgbClr val="0B1B3A"/>
                </a:solidFill>
                <a:latin typeface="Calibri" pitchFamily="34" charset="0"/>
                <a:ea typeface="Calibri" pitchFamily="34" charset="-122"/>
                <a:cs typeface="Calibri" pitchFamily="34" charset="-120"/>
              </a:rPr>
              <a:t>Experience, education: </a:t>
            </a:r>
            <a:pPr indent="0" marL="0">
              <a:spcAft>
                <a:spcPts val="550"/>
              </a:spcAft>
              <a:buNone/>
            </a:pPr>
            <a:r>
              <a:rPr lang="en-US" sz="1050" dirty="0">
                <a:solidFill>
                  <a:srgbClr val="334155"/>
                </a:solidFill>
                <a:latin typeface="Calibri" pitchFamily="34" charset="0"/>
                <a:ea typeface="Calibri" pitchFamily="34" charset="-122"/>
                <a:cs typeface="Calibri" pitchFamily="34" charset="-120"/>
              </a:rPr>
              <a:t>years coding / working</a:t>
            </a:r>
            <a:endParaRPr lang="en-US" sz="1050" dirty="0"/>
          </a:p>
          <a:p>
            <a:pPr indent="0" marL="0">
              <a:spcAft>
                <a:spcPts val="550"/>
              </a:spcAft>
              <a:buNone/>
            </a:pPr>
            <a:r>
              <a:rPr lang="en-US" sz="1050" b="1" dirty="0">
                <a:solidFill>
                  <a:srgbClr val="0B1B3A"/>
                </a:solidFill>
                <a:latin typeface="Calibri" pitchFamily="34" charset="0"/>
                <a:ea typeface="Calibri" pitchFamily="34" charset="-122"/>
                <a:cs typeface="Calibri" pitchFamily="34" charset="-120"/>
              </a:rPr>
              <a:t>Location: </a:t>
            </a:r>
            <a:pPr indent="0" marL="0">
              <a:spcAft>
                <a:spcPts val="550"/>
              </a:spcAft>
              <a:buNone/>
            </a:pPr>
            <a:r>
              <a:rPr lang="en-US" sz="1050" dirty="0">
                <a:solidFill>
                  <a:srgbClr val="334155"/>
                </a:solidFill>
                <a:latin typeface="Calibri" pitchFamily="34" charset="0"/>
                <a:ea typeface="Calibri" pitchFamily="34" charset="-122"/>
                <a:cs typeface="Calibri" pitchFamily="34" charset="-120"/>
              </a:rPr>
              <a:t>177 countries → 13 regions</a:t>
            </a:r>
            <a:endParaRPr lang="en-US" sz="1050" dirty="0"/>
          </a:p>
          <a:p>
            <a:pPr indent="0" marL="0">
              <a:spcAft>
                <a:spcPts val="550"/>
              </a:spcAft>
              <a:buNone/>
            </a:pPr>
            <a:r>
              <a:rPr lang="en-US" sz="1050" b="1" dirty="0">
                <a:solidFill>
                  <a:srgbClr val="0B1B3A"/>
                </a:solidFill>
                <a:latin typeface="Calibri" pitchFamily="34" charset="0"/>
                <a:ea typeface="Calibri" pitchFamily="34" charset="-122"/>
                <a:cs typeface="Calibri" pitchFamily="34" charset="-120"/>
              </a:rPr>
              <a:t>AI usage: </a:t>
            </a:r>
            <a:pPr indent="0" marL="0">
              <a:spcAft>
                <a:spcPts val="550"/>
              </a:spcAft>
              <a:buNone/>
            </a:pPr>
            <a:r>
              <a:rPr lang="en-US" sz="1050" dirty="0">
                <a:solidFill>
                  <a:srgbClr val="334155"/>
                </a:solidFill>
                <a:latin typeface="Calibri" pitchFamily="34" charset="0"/>
                <a:ea typeface="Calibri" pitchFamily="34" charset="-122"/>
                <a:cs typeface="Calibri" pitchFamily="34" charset="-120"/>
              </a:rPr>
              <a:t>attitudes + 13-task matrix</a:t>
            </a:r>
            <a:endParaRPr lang="en-US" sz="1050" dirty="0"/>
          </a:p>
          <a:p>
            <a:pPr indent="0" marL="0">
              <a:spcAft>
                <a:spcPts val="550"/>
              </a:spcAft>
              <a:buNone/>
            </a:pPr>
            <a:r>
              <a:rPr lang="en-US" sz="1050" b="1" dirty="0">
                <a:solidFill>
                  <a:srgbClr val="0B1B3A"/>
                </a:solidFill>
                <a:latin typeface="Calibri" pitchFamily="34" charset="0"/>
                <a:ea typeface="Calibri" pitchFamily="34" charset="-122"/>
                <a:cs typeface="Calibri" pitchFamily="34" charset="-120"/>
              </a:rPr>
              <a:t>Pay: </a:t>
            </a:r>
            <a:pPr indent="0" marL="0">
              <a:spcAft>
                <a:spcPts val="550"/>
              </a:spcAft>
              <a:buNone/>
            </a:pPr>
            <a:r>
              <a:rPr lang="en-US" sz="1050" dirty="0">
                <a:solidFill>
                  <a:srgbClr val="334155"/>
                </a:solidFill>
                <a:latin typeface="Calibri" pitchFamily="34" charset="0"/>
                <a:ea typeface="Calibri" pitchFamily="34" charset="-122"/>
                <a:cs typeface="Calibri" pitchFamily="34" charset="-120"/>
              </a:rPr>
              <a:t>benchmark only, never an input</a:t>
            </a:r>
            <a:endParaRPr lang="en-US" sz="1050" dirty="0"/>
          </a:p>
        </p:txBody>
      </p:sp>
      <p:sp>
        <p:nvSpPr>
          <p:cNvPr id="17" name="Shape 14"/>
          <p:cNvSpPr/>
          <p:nvPr/>
        </p:nvSpPr>
        <p:spPr>
          <a:xfrm>
            <a:off x="731520" y="4645152"/>
            <a:ext cx="2926080" cy="0"/>
          </a:xfrm>
          <a:prstGeom prst="line">
            <a:avLst/>
          </a:prstGeom>
          <a:noFill/>
          <a:ln w="9525">
            <a:solidFill>
              <a:srgbClr val="DCE3EC"/>
            </a:solidFill>
            <a:prstDash val="solid"/>
          </a:ln>
        </p:spPr>
      </p:sp>
      <p:sp>
        <p:nvSpPr>
          <p:cNvPr id="18" name="Text 15"/>
          <p:cNvSpPr/>
          <p:nvPr/>
        </p:nvSpPr>
        <p:spPr>
          <a:xfrm>
            <a:off x="731520" y="4681728"/>
            <a:ext cx="2971800" cy="420624"/>
          </a:xfrm>
          <a:prstGeom prst="rect">
            <a:avLst/>
          </a:prstGeom>
          <a:noFill/>
          <a:ln/>
        </p:spPr>
        <p:txBody>
          <a:bodyPr wrap="square" lIns="0" tIns="0" rIns="0" bIns="0" rtlCol="0" anchor="ctr"/>
          <a:lstStyle/>
          <a:p>
            <a:pPr indent="0" marL="0">
              <a:lnSpc>
                <a:spcPct val="100000"/>
              </a:lnSpc>
              <a:buNone/>
            </a:pPr>
            <a:r>
              <a:rPr lang="en-US" sz="1000" b="1" dirty="0">
                <a:solidFill>
                  <a:srgbClr val="0B1B3A"/>
                </a:solidFill>
                <a:latin typeface="Calibri" pitchFamily="34" charset="0"/>
                <a:ea typeface="Calibri" pitchFamily="34" charset="-122"/>
                <a:cs typeface="Calibri" pitchFamily="34" charset="-120"/>
              </a:rPr>
              <a:t>Licence: </a:t>
            </a:r>
            <a:pPr indent="0" marL="0">
              <a:lnSpc>
                <a:spcPct val="100000"/>
              </a:lnSpc>
              <a:buNone/>
            </a:pPr>
            <a:r>
              <a:rPr lang="en-US" sz="1000" dirty="0">
                <a:solidFill>
                  <a:srgbClr val="334155"/>
                </a:solidFill>
                <a:latin typeface="Calibri" pitchFamily="34" charset="0"/>
                <a:ea typeface="Calibri" pitchFamily="34" charset="-122"/>
                <a:cs typeface="Calibri" pitchFamily="34" charset="-120"/>
              </a:rPr>
              <a:t>ODbL v1.0. The app shows the attribution on every result.</a:t>
            </a:r>
            <a:endParaRPr lang="en-US" sz="1000" dirty="0"/>
          </a:p>
        </p:txBody>
      </p:sp>
      <p:sp>
        <p:nvSpPr>
          <p:cNvPr id="19" name="Shape 16"/>
          <p:cNvSpPr/>
          <p:nvPr/>
        </p:nvSpPr>
        <p:spPr>
          <a:xfrm>
            <a:off x="4005072" y="1389888"/>
            <a:ext cx="4343400" cy="3785616"/>
          </a:xfrm>
          <a:prstGeom prst="roundRect">
            <a:avLst>
              <a:gd name="adj" fmla="val 2174"/>
            </a:avLst>
          </a:prstGeom>
          <a:solidFill>
            <a:srgbClr val="FFFFFF"/>
          </a:solidFill>
          <a:ln w="9525">
            <a:solidFill>
              <a:srgbClr val="DCE3EC"/>
            </a:solidFill>
            <a:prstDash val="solid"/>
          </a:ln>
        </p:spPr>
      </p:sp>
      <p:sp>
        <p:nvSpPr>
          <p:cNvPr id="20" name="Text 17"/>
          <p:cNvSpPr/>
          <p:nvPr/>
        </p:nvSpPr>
        <p:spPr>
          <a:xfrm>
            <a:off x="4187952" y="1463040"/>
            <a:ext cx="3977640" cy="256032"/>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Class imbalance: 20 job roles, training split</a:t>
            </a:r>
            <a:endParaRPr lang="en-US" sz="1250" dirty="0"/>
          </a:p>
        </p:txBody>
      </p:sp>
      <p:graphicFrame>
        <p:nvGraphicFramePr>
          <p:cNvPr id="21" name="Chart 0" descr=""/>
          <p:cNvGraphicFramePr/>
          <p:nvPr/>
        </p:nvGraphicFramePr>
        <p:xfrm>
          <a:off x="4078224" y="1719072"/>
          <a:ext cx="4197096" cy="3163824"/>
        </p:xfrm>
        <a:graphic xmlns:a="http://schemas.openxmlformats.org/drawingml/2006/main">
          <a:graphicData uri="http://schemas.openxmlformats.org/drawingml/2006/chart">
            <c:chart xmlns:c="http://schemas.openxmlformats.org/drawingml/2006/chart" r:id="rId1"/>
          </a:graphicData>
        </a:graphic>
      </p:graphicFrame>
      <p:sp>
        <p:nvSpPr>
          <p:cNvPr id="22" name="Text 18"/>
          <p:cNvSpPr/>
          <p:nvPr/>
        </p:nvSpPr>
        <p:spPr>
          <a:xfrm>
            <a:off x="4187952" y="4864608"/>
            <a:ext cx="3977640" cy="256032"/>
          </a:xfrm>
          <a:prstGeom prst="rect">
            <a:avLst/>
          </a:prstGeom>
          <a:noFill/>
          <a:ln/>
        </p:spPr>
        <p:txBody>
          <a:bodyPr wrap="square" lIns="0" tIns="0" rIns="0" bIns="0" rtlCol="0" anchor="ctr"/>
          <a:lstStyle/>
          <a:p>
            <a:pPr indent="0" marL="0">
              <a:buNone/>
            </a:pPr>
            <a:r>
              <a:rPr lang="en-US" sz="1050" b="1" dirty="0">
                <a:solidFill>
                  <a:srgbClr val="0B1B3A"/>
                </a:solidFill>
                <a:latin typeface="Calibri" pitchFamily="34" charset="0"/>
                <a:ea typeface="Calibri" pitchFamily="34" charset="-122"/>
                <a:cs typeface="Calibri" pitchFamily="34" charset="-120"/>
              </a:rPr>
              <a:t>Full-stack is 39.4%</a:t>
            </a:r>
            <a:pPr indent="0" marL="0">
              <a:buNone/>
            </a:pPr>
            <a:r>
              <a:rPr lang="en-US" sz="1050" dirty="0">
                <a:solidFill>
                  <a:srgbClr val="334155"/>
                </a:solidFill>
                <a:latin typeface="Calibri" pitchFamily="34" charset="0"/>
                <a:ea typeface="Calibri" pitchFamily="34" charset="-122"/>
                <a:cs typeface="Calibri" pitchFamily="34" charset="-120"/>
              </a:rPr>
              <a:t> of 18,457; UX / UI Designer has 47. Ratio about </a:t>
            </a:r>
            <a:pPr indent="0" marL="0">
              <a:buNone/>
            </a:pPr>
            <a:r>
              <a:rPr lang="en-US" sz="1050" b="1" dirty="0">
                <a:solidFill>
                  <a:srgbClr val="C2410C"/>
                </a:solidFill>
                <a:latin typeface="Calibri" pitchFamily="34" charset="0"/>
                <a:ea typeface="Calibri" pitchFamily="34" charset="-122"/>
                <a:cs typeface="Calibri" pitchFamily="34" charset="-120"/>
              </a:rPr>
              <a:t>155:1</a:t>
            </a:r>
            <a:endParaRPr lang="en-US" sz="1050" dirty="0"/>
          </a:p>
        </p:txBody>
      </p:sp>
      <p:sp>
        <p:nvSpPr>
          <p:cNvPr id="23" name="Shape 19"/>
          <p:cNvSpPr/>
          <p:nvPr/>
        </p:nvSpPr>
        <p:spPr>
          <a:xfrm>
            <a:off x="8513064" y="1389888"/>
            <a:ext cx="3129991" cy="3785616"/>
          </a:xfrm>
          <a:prstGeom prst="roundRect">
            <a:avLst>
              <a:gd name="adj" fmla="val 2629"/>
            </a:avLst>
          </a:prstGeom>
          <a:solidFill>
            <a:srgbClr val="FFFFFF"/>
          </a:solidFill>
          <a:ln w="9525">
            <a:solidFill>
              <a:srgbClr val="DCE3EC"/>
            </a:solidFill>
            <a:prstDash val="solid"/>
          </a:ln>
        </p:spPr>
      </p:sp>
      <p:sp>
        <p:nvSpPr>
          <p:cNvPr id="24" name="Text 20"/>
          <p:cNvSpPr/>
          <p:nvPr/>
        </p:nvSpPr>
        <p:spPr>
          <a:xfrm>
            <a:off x="8650224" y="1463040"/>
            <a:ext cx="2855671" cy="256032"/>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Similarity of role technology profiles</a:t>
            </a:r>
            <a:endParaRPr lang="en-US" sz="1250" dirty="0"/>
          </a:p>
        </p:txBody>
      </p:sp>
      <p:pic>
        <p:nvPicPr>
          <p:cNvPr id="25" name="Image 0" descr="/Users/yoosufahamed/Desktop/SLIIT/Y3S2/FDM-Fundamentals of Data Mining/Mini Project/SkillPath Repo/skillpath/output/assets/fig-similarity.png">    </p:cNvPr>
          <p:cNvPicPr>
            <a:picLocks noChangeAspect="1"/>
          </p:cNvPicPr>
          <p:nvPr/>
        </p:nvPicPr>
        <p:blipFill>
          <a:blip r:embed="rId2"/>
          <a:stretch>
            <a:fillRect/>
          </a:stretch>
        </p:blipFill>
        <p:spPr>
          <a:xfrm>
            <a:off x="8650224" y="1764792"/>
            <a:ext cx="2855671" cy="2214097"/>
          </a:xfrm>
          <a:prstGeom prst="rect">
            <a:avLst/>
          </a:prstGeom>
        </p:spPr>
      </p:pic>
      <p:sp>
        <p:nvSpPr>
          <p:cNvPr id="26" name="Text 21"/>
          <p:cNvSpPr/>
          <p:nvPr/>
        </p:nvSpPr>
        <p:spPr>
          <a:xfrm>
            <a:off x="8650224" y="4033753"/>
            <a:ext cx="2855671" cy="512064"/>
          </a:xfrm>
          <a:prstGeom prst="rect">
            <a:avLst/>
          </a:prstGeom>
          <a:noFill/>
          <a:ln/>
        </p:spPr>
        <p:txBody>
          <a:bodyPr wrap="square" lIns="0" tIns="0" rIns="0" bIns="0" rtlCol="0" anchor="t"/>
          <a:lstStyle/>
          <a:p>
            <a:pPr indent="0" marL="0">
              <a:lnSpc>
                <a:spcPct val="102000"/>
              </a:lnSpc>
              <a:buNone/>
            </a:pPr>
            <a:r>
              <a:rPr lang="en-US" sz="1050" dirty="0">
                <a:solidFill>
                  <a:srgbClr val="334155"/>
                </a:solidFill>
                <a:latin typeface="Calibri" pitchFamily="34" charset="0"/>
                <a:ea typeface="Calibri" pitchFamily="34" charset="-122"/>
                <a:cs typeface="Calibri" pitchFamily="34" charset="-120"/>
              </a:rPr>
              <a:t>Cosine similarity: </a:t>
            </a:r>
            <a:pPr indent="0" marL="0">
              <a:lnSpc>
                <a:spcPct val="102000"/>
              </a:lnSpc>
              <a:buNone/>
            </a:pPr>
            <a:r>
              <a:rPr lang="en-US" sz="1050" b="1" dirty="0">
                <a:solidFill>
                  <a:srgbClr val="C2410C"/>
                </a:solidFill>
                <a:latin typeface="Calibri" pitchFamily="34" charset="0"/>
                <a:ea typeface="Calibri" pitchFamily="34" charset="-122"/>
                <a:cs typeface="Calibri" pitchFamily="34" charset="-120"/>
              </a:rPr>
              <a:t>0.99</a:t>
            </a:r>
            <a:pPr indent="0" marL="0">
              <a:lnSpc>
                <a:spcPct val="102000"/>
              </a:lnSpc>
              <a:buNone/>
            </a:pPr>
            <a:r>
              <a:rPr lang="en-US" sz="1050" dirty="0">
                <a:solidFill>
                  <a:srgbClr val="334155"/>
                </a:solidFill>
                <a:latin typeface="Calibri" pitchFamily="34" charset="0"/>
                <a:ea typeface="Calibri" pitchFamily="34" charset="-122"/>
                <a:cs typeface="Calibri" pitchFamily="34" charset="-120"/>
              </a:rPr>
              <a:t> Cloud Infrastructure vs DevOps; </a:t>
            </a:r>
            <a:pPr indent="0" marL="0">
              <a:lnSpc>
                <a:spcPct val="102000"/>
              </a:lnSpc>
              <a:buNone/>
            </a:pPr>
            <a:r>
              <a:rPr lang="en-US" sz="1050" b="1" dirty="0">
                <a:solidFill>
                  <a:srgbClr val="C2410C"/>
                </a:solidFill>
                <a:latin typeface="Calibri" pitchFamily="34" charset="0"/>
                <a:ea typeface="Calibri" pitchFamily="34" charset="-122"/>
                <a:cs typeface="Calibri" pitchFamily="34" charset="-120"/>
              </a:rPr>
              <a:t>0.97</a:t>
            </a:r>
            <a:pPr indent="0" marL="0">
              <a:lnSpc>
                <a:spcPct val="102000"/>
              </a:lnSpc>
              <a:buNone/>
            </a:pPr>
            <a:r>
              <a:rPr lang="en-US" sz="1050" dirty="0">
                <a:solidFill>
                  <a:srgbClr val="334155"/>
                </a:solidFill>
                <a:latin typeface="Calibri" pitchFamily="34" charset="0"/>
                <a:ea typeface="Calibri" pitchFamily="34" charset="-122"/>
                <a:cs typeface="Calibri" pitchFamily="34" charset="-120"/>
              </a:rPr>
              <a:t> Data Engineer vs Data Scientist</a:t>
            </a:r>
            <a:endParaRPr lang="en-US" sz="1050" dirty="0"/>
          </a:p>
        </p:txBody>
      </p:sp>
      <p:sp>
        <p:nvSpPr>
          <p:cNvPr id="27" name="Text 22"/>
          <p:cNvSpPr/>
          <p:nvPr/>
        </p:nvSpPr>
        <p:spPr>
          <a:xfrm>
            <a:off x="8650224" y="4582393"/>
            <a:ext cx="2855671" cy="384048"/>
          </a:xfrm>
          <a:prstGeom prst="rect">
            <a:avLst/>
          </a:prstGeom>
          <a:noFill/>
          <a:ln/>
        </p:spPr>
        <p:txBody>
          <a:bodyPr wrap="square" lIns="0" tIns="0" rIns="0" bIns="0" rtlCol="0" anchor="t"/>
          <a:lstStyle/>
          <a:p>
            <a:pPr indent="0" marL="0">
              <a:lnSpc>
                <a:spcPct val="100000"/>
              </a:lnSpc>
              <a:buNone/>
            </a:pPr>
            <a:r>
              <a:rPr lang="en-US" sz="1000" i="1" dirty="0">
                <a:solidFill>
                  <a:srgbClr val="64748B"/>
                </a:solidFill>
                <a:latin typeface="Calibri" pitchFamily="34" charset="0"/>
                <a:ea typeface="Calibri" pitchFamily="34" charset="-122"/>
                <a:cs typeface="Calibri" pitchFamily="34" charset="-120"/>
              </a:rPr>
              <a:t>No algorithm can fully separate roles that use the same tools.</a:t>
            </a:r>
            <a:endParaRPr lang="en-US" sz="1000" dirty="0"/>
          </a:p>
        </p:txBody>
      </p:sp>
      <p:sp>
        <p:nvSpPr>
          <p:cNvPr id="28" name="Shape 23"/>
          <p:cNvSpPr/>
          <p:nvPr/>
        </p:nvSpPr>
        <p:spPr>
          <a:xfrm>
            <a:off x="548640" y="5321808"/>
            <a:ext cx="2677592" cy="932688"/>
          </a:xfrm>
          <a:prstGeom prst="roundRect">
            <a:avLst>
              <a:gd name="adj" fmla="val 8824"/>
            </a:avLst>
          </a:prstGeom>
          <a:solidFill>
            <a:srgbClr val="EFF5FF"/>
          </a:solidFill>
          <a:ln w="9525">
            <a:solidFill>
              <a:srgbClr val="D2E2FD"/>
            </a:solidFill>
            <a:prstDash val="solid"/>
          </a:ln>
        </p:spPr>
      </p:sp>
      <p:sp>
        <p:nvSpPr>
          <p:cNvPr id="29" name="Text 24"/>
          <p:cNvSpPr/>
          <p:nvPr/>
        </p:nvSpPr>
        <p:spPr>
          <a:xfrm>
            <a:off x="694944" y="5376672"/>
            <a:ext cx="2403272" cy="274320"/>
          </a:xfrm>
          <a:prstGeom prst="rect">
            <a:avLst/>
          </a:prstGeom>
          <a:noFill/>
          <a:ln/>
        </p:spPr>
        <p:txBody>
          <a:bodyPr wrap="square" lIns="0" tIns="0" rIns="0" bIns="0" rtlCol="0" anchor="ctr"/>
          <a:lstStyle/>
          <a:p>
            <a:pPr indent="0" marL="0">
              <a:buNone/>
            </a:pPr>
            <a:r>
              <a:rPr lang="en-US" sz="900" b="1" spc="100" kern="0" dirty="0">
                <a:solidFill>
                  <a:srgbClr val="2563EB"/>
                </a:solidFill>
                <a:latin typeface="Calibri" pitchFamily="34" charset="0"/>
                <a:ea typeface="Calibri" pitchFamily="34" charset="-122"/>
                <a:cs typeface="Calibri" pitchFamily="34" charset="-120"/>
              </a:rPr>
              <a:t>FINDING  </a:t>
            </a:r>
            <a:pPr indent="0" marL="0">
              <a:buNone/>
            </a:pPr>
            <a:r>
              <a:rPr lang="en-US" sz="1200" b="1" dirty="0">
                <a:solidFill>
                  <a:srgbClr val="0B1B3A"/>
                </a:solidFill>
                <a:latin typeface="Calibri" pitchFamily="34" charset="0"/>
                <a:ea typeface="Calibri" pitchFamily="34" charset="-122"/>
                <a:cs typeface="Calibri" pitchFamily="34" charset="-120"/>
              </a:rPr>
              <a:t>155:1 imbalance</a:t>
            </a:r>
            <a:endParaRPr lang="en-US" sz="1200" dirty="0"/>
          </a:p>
        </p:txBody>
      </p:sp>
      <p:sp>
        <p:nvSpPr>
          <p:cNvPr id="30" name="Text 25"/>
          <p:cNvSpPr/>
          <p:nvPr/>
        </p:nvSpPr>
        <p:spPr>
          <a:xfrm>
            <a:off x="694944" y="5669280"/>
            <a:ext cx="2403272" cy="530352"/>
          </a:xfrm>
          <a:prstGeom prst="rect">
            <a:avLst/>
          </a:prstGeom>
          <a:noFill/>
          <a:ln/>
        </p:spPr>
        <p:txBody>
          <a:bodyPr wrap="square" lIns="0" tIns="0" rIns="0" bIns="0" rtlCol="0" anchor="t"/>
          <a:lstStyle/>
          <a:p>
            <a:pPr indent="0" marL="0">
              <a:lnSpc>
                <a:spcPct val="103000"/>
              </a:lnSpc>
              <a:buNone/>
            </a:pPr>
            <a:r>
              <a:rPr lang="en-US" sz="1050" b="1" dirty="0">
                <a:solidFill>
                  <a:srgbClr val="2563EB"/>
                </a:solidFill>
                <a:latin typeface="Calibri" pitchFamily="34" charset="0"/>
                <a:ea typeface="Calibri" pitchFamily="34" charset="-122"/>
                <a:cs typeface="Calibri" pitchFamily="34" charset="-120"/>
              </a:rPr>
              <a:t>→ </a:t>
            </a:r>
            <a:pPr indent="0" marL="0">
              <a:lnSpc>
                <a:spcPct val="103000"/>
              </a:lnSpc>
              <a:buNone/>
            </a:pPr>
            <a:r>
              <a:rPr lang="en-US" sz="1050" dirty="0">
                <a:solidFill>
                  <a:srgbClr val="334155"/>
                </a:solidFill>
                <a:latin typeface="Calibri" pitchFamily="34" charset="0"/>
                <a:ea typeface="Calibri" pitchFamily="34" charset="-122"/>
                <a:cs typeface="Calibri" pitchFamily="34" charset="-120"/>
              </a:rPr>
              <a:t>Macro-F1 as the primary metric; stratified split and folds</a:t>
            </a:r>
            <a:endParaRPr lang="en-US" sz="1050" dirty="0"/>
          </a:p>
        </p:txBody>
      </p:sp>
      <p:sp>
        <p:nvSpPr>
          <p:cNvPr id="31" name="Shape 26"/>
          <p:cNvSpPr/>
          <p:nvPr/>
        </p:nvSpPr>
        <p:spPr>
          <a:xfrm>
            <a:off x="3354248" y="5321808"/>
            <a:ext cx="2677592" cy="932688"/>
          </a:xfrm>
          <a:prstGeom prst="roundRect">
            <a:avLst>
              <a:gd name="adj" fmla="val 8824"/>
            </a:avLst>
          </a:prstGeom>
          <a:solidFill>
            <a:srgbClr val="EFF5FF"/>
          </a:solidFill>
          <a:ln w="9525">
            <a:solidFill>
              <a:srgbClr val="D2E2FD"/>
            </a:solidFill>
            <a:prstDash val="solid"/>
          </a:ln>
        </p:spPr>
      </p:sp>
      <p:sp>
        <p:nvSpPr>
          <p:cNvPr id="32" name="Text 27"/>
          <p:cNvSpPr/>
          <p:nvPr/>
        </p:nvSpPr>
        <p:spPr>
          <a:xfrm>
            <a:off x="3500552" y="5376672"/>
            <a:ext cx="2403272" cy="274320"/>
          </a:xfrm>
          <a:prstGeom prst="rect">
            <a:avLst/>
          </a:prstGeom>
          <a:noFill/>
          <a:ln/>
        </p:spPr>
        <p:txBody>
          <a:bodyPr wrap="square" lIns="0" tIns="0" rIns="0" bIns="0" rtlCol="0" anchor="ctr"/>
          <a:lstStyle/>
          <a:p>
            <a:pPr indent="0" marL="0">
              <a:buNone/>
            </a:pPr>
            <a:r>
              <a:rPr lang="en-US" sz="900" b="1" spc="100" kern="0" dirty="0">
                <a:solidFill>
                  <a:srgbClr val="2563EB"/>
                </a:solidFill>
                <a:latin typeface="Calibri" pitchFamily="34" charset="0"/>
                <a:ea typeface="Calibri" pitchFamily="34" charset="-122"/>
                <a:cs typeface="Calibri" pitchFamily="34" charset="-120"/>
              </a:rPr>
              <a:t>FINDING  </a:t>
            </a:r>
            <a:pPr indent="0" marL="0">
              <a:buNone/>
            </a:pPr>
            <a:r>
              <a:rPr lang="en-US" sz="1200" b="1" dirty="0">
                <a:solidFill>
                  <a:srgbClr val="0B1B3A"/>
                </a:solidFill>
                <a:latin typeface="Calibri" pitchFamily="34" charset="0"/>
                <a:ea typeface="Calibri" pitchFamily="34" charset="-122"/>
                <a:cs typeface="Calibri" pitchFamily="34" charset="-120"/>
              </a:rPr>
              <a:t>Near-identical roles</a:t>
            </a:r>
            <a:endParaRPr lang="en-US" sz="1200" dirty="0"/>
          </a:p>
        </p:txBody>
      </p:sp>
      <p:sp>
        <p:nvSpPr>
          <p:cNvPr id="33" name="Text 28"/>
          <p:cNvSpPr/>
          <p:nvPr/>
        </p:nvSpPr>
        <p:spPr>
          <a:xfrm>
            <a:off x="3500552" y="5669280"/>
            <a:ext cx="2403272" cy="530352"/>
          </a:xfrm>
          <a:prstGeom prst="rect">
            <a:avLst/>
          </a:prstGeom>
          <a:noFill/>
          <a:ln/>
        </p:spPr>
        <p:txBody>
          <a:bodyPr wrap="square" lIns="0" tIns="0" rIns="0" bIns="0" rtlCol="0" anchor="t"/>
          <a:lstStyle/>
          <a:p>
            <a:pPr indent="0" marL="0">
              <a:lnSpc>
                <a:spcPct val="103000"/>
              </a:lnSpc>
              <a:buNone/>
            </a:pPr>
            <a:r>
              <a:rPr lang="en-US" sz="1050" b="1" dirty="0">
                <a:solidFill>
                  <a:srgbClr val="2563EB"/>
                </a:solidFill>
                <a:latin typeface="Calibri" pitchFamily="34" charset="0"/>
                <a:ea typeface="Calibri" pitchFamily="34" charset="-122"/>
                <a:cs typeface="Calibri" pitchFamily="34" charset="-120"/>
              </a:rPr>
              <a:t>→ </a:t>
            </a:r>
            <a:pPr indent="0" marL="0">
              <a:lnSpc>
                <a:spcPct val="103000"/>
              </a:lnSpc>
              <a:buNone/>
            </a:pPr>
            <a:r>
              <a:rPr lang="en-US" sz="1050" dirty="0">
                <a:solidFill>
                  <a:srgbClr val="334155"/>
                </a:solidFill>
                <a:latin typeface="Calibri" pitchFamily="34" charset="0"/>
                <a:ea typeface="Calibri" pitchFamily="34" charset="-122"/>
                <a:cs typeface="Calibri" pitchFamily="34" charset="-120"/>
              </a:rPr>
              <a:t>Recommend three roles plus family totals, not one answer</a:t>
            </a:r>
            <a:endParaRPr lang="en-US" sz="1050" dirty="0"/>
          </a:p>
        </p:txBody>
      </p:sp>
      <p:sp>
        <p:nvSpPr>
          <p:cNvPr id="34" name="Shape 29"/>
          <p:cNvSpPr/>
          <p:nvPr/>
        </p:nvSpPr>
        <p:spPr>
          <a:xfrm>
            <a:off x="6159856" y="5321808"/>
            <a:ext cx="2677592" cy="932688"/>
          </a:xfrm>
          <a:prstGeom prst="roundRect">
            <a:avLst>
              <a:gd name="adj" fmla="val 8824"/>
            </a:avLst>
          </a:prstGeom>
          <a:solidFill>
            <a:srgbClr val="EFF5FF"/>
          </a:solidFill>
          <a:ln w="9525">
            <a:solidFill>
              <a:srgbClr val="D2E2FD"/>
            </a:solidFill>
            <a:prstDash val="solid"/>
          </a:ln>
        </p:spPr>
      </p:sp>
      <p:sp>
        <p:nvSpPr>
          <p:cNvPr id="35" name="Text 30"/>
          <p:cNvSpPr/>
          <p:nvPr/>
        </p:nvSpPr>
        <p:spPr>
          <a:xfrm>
            <a:off x="6306160" y="5376672"/>
            <a:ext cx="2403272" cy="274320"/>
          </a:xfrm>
          <a:prstGeom prst="rect">
            <a:avLst/>
          </a:prstGeom>
          <a:noFill/>
          <a:ln/>
        </p:spPr>
        <p:txBody>
          <a:bodyPr wrap="square" lIns="0" tIns="0" rIns="0" bIns="0" rtlCol="0" anchor="ctr"/>
          <a:lstStyle/>
          <a:p>
            <a:pPr indent="0" marL="0">
              <a:buNone/>
            </a:pPr>
            <a:r>
              <a:rPr lang="en-US" sz="900" b="1" spc="100" kern="0" dirty="0">
                <a:solidFill>
                  <a:srgbClr val="2563EB"/>
                </a:solidFill>
                <a:latin typeface="Calibri" pitchFamily="34" charset="0"/>
                <a:ea typeface="Calibri" pitchFamily="34" charset="-122"/>
                <a:cs typeface="Calibri" pitchFamily="34" charset="-120"/>
              </a:rPr>
              <a:t>FINDING  </a:t>
            </a:r>
            <a:pPr indent="0" marL="0">
              <a:buNone/>
            </a:pPr>
            <a:r>
              <a:rPr lang="en-US" sz="1200" b="1" dirty="0">
                <a:solidFill>
                  <a:srgbClr val="0B1B3A"/>
                </a:solidFill>
                <a:latin typeface="Calibri" pitchFamily="34" charset="0"/>
                <a:ea typeface="Calibri" pitchFamily="34" charset="-122"/>
                <a:cs typeface="Calibri" pitchFamily="34" charset="-120"/>
              </a:rPr>
              <a:t>Distinctive technologies</a:t>
            </a:r>
            <a:endParaRPr lang="en-US" sz="1200" dirty="0"/>
          </a:p>
        </p:txBody>
      </p:sp>
      <p:sp>
        <p:nvSpPr>
          <p:cNvPr id="36" name="Text 31"/>
          <p:cNvSpPr/>
          <p:nvPr/>
        </p:nvSpPr>
        <p:spPr>
          <a:xfrm>
            <a:off x="6306160" y="5669280"/>
            <a:ext cx="2403272" cy="530352"/>
          </a:xfrm>
          <a:prstGeom prst="rect">
            <a:avLst/>
          </a:prstGeom>
          <a:noFill/>
          <a:ln/>
        </p:spPr>
        <p:txBody>
          <a:bodyPr wrap="square" lIns="0" tIns="0" rIns="0" bIns="0" rtlCol="0" anchor="t"/>
          <a:lstStyle/>
          <a:p>
            <a:pPr indent="0" marL="0">
              <a:lnSpc>
                <a:spcPct val="103000"/>
              </a:lnSpc>
              <a:buNone/>
            </a:pPr>
            <a:r>
              <a:rPr lang="en-US" sz="1050" b="1" dirty="0">
                <a:solidFill>
                  <a:srgbClr val="2563EB"/>
                </a:solidFill>
                <a:latin typeface="Calibri" pitchFamily="34" charset="0"/>
                <a:ea typeface="Calibri" pitchFamily="34" charset="-122"/>
                <a:cs typeface="Calibri" pitchFamily="34" charset="-120"/>
              </a:rPr>
              <a:t>→ </a:t>
            </a:r>
            <a:pPr indent="0" marL="0">
              <a:lnSpc>
                <a:spcPct val="103000"/>
              </a:lnSpc>
              <a:buNone/>
            </a:pPr>
            <a:r>
              <a:rPr lang="en-US" sz="1050" dirty="0">
                <a:solidFill>
                  <a:srgbClr val="334155"/>
                </a:solidFill>
                <a:latin typeface="Calibri" pitchFamily="34" charset="0"/>
                <a:ea typeface="Calibri" pitchFamily="34" charset="-122"/>
                <a:cs typeface="Calibri" pitchFamily="34" charset="-120"/>
              </a:rPr>
              <a:t>Swift is 9.7× as common in Mobile: multi-hot flags, lift for skill gap</a:t>
            </a:r>
            <a:endParaRPr lang="en-US" sz="1050" dirty="0"/>
          </a:p>
        </p:txBody>
      </p:sp>
      <p:sp>
        <p:nvSpPr>
          <p:cNvPr id="37" name="Shape 32"/>
          <p:cNvSpPr/>
          <p:nvPr/>
        </p:nvSpPr>
        <p:spPr>
          <a:xfrm>
            <a:off x="8965463" y="5321808"/>
            <a:ext cx="2677592" cy="932688"/>
          </a:xfrm>
          <a:prstGeom prst="roundRect">
            <a:avLst>
              <a:gd name="adj" fmla="val 8824"/>
            </a:avLst>
          </a:prstGeom>
          <a:solidFill>
            <a:srgbClr val="EFF5FF"/>
          </a:solidFill>
          <a:ln w="9525">
            <a:solidFill>
              <a:srgbClr val="D2E2FD"/>
            </a:solidFill>
            <a:prstDash val="solid"/>
          </a:ln>
        </p:spPr>
      </p:sp>
      <p:sp>
        <p:nvSpPr>
          <p:cNvPr id="38" name="Text 33"/>
          <p:cNvSpPr/>
          <p:nvPr/>
        </p:nvSpPr>
        <p:spPr>
          <a:xfrm>
            <a:off x="9111767" y="5376672"/>
            <a:ext cx="2403272" cy="274320"/>
          </a:xfrm>
          <a:prstGeom prst="rect">
            <a:avLst/>
          </a:prstGeom>
          <a:noFill/>
          <a:ln/>
        </p:spPr>
        <p:txBody>
          <a:bodyPr wrap="square" lIns="0" tIns="0" rIns="0" bIns="0" rtlCol="0" anchor="ctr"/>
          <a:lstStyle/>
          <a:p>
            <a:pPr indent="0" marL="0">
              <a:buNone/>
            </a:pPr>
            <a:r>
              <a:rPr lang="en-US" sz="900" b="1" spc="100" kern="0" dirty="0">
                <a:solidFill>
                  <a:srgbClr val="2563EB"/>
                </a:solidFill>
                <a:latin typeface="Calibri" pitchFamily="34" charset="0"/>
                <a:ea typeface="Calibri" pitchFamily="34" charset="-122"/>
                <a:cs typeface="Calibri" pitchFamily="34" charset="-120"/>
              </a:rPr>
              <a:t>FINDING  </a:t>
            </a:r>
            <a:pPr indent="0" marL="0">
              <a:buNone/>
            </a:pPr>
            <a:r>
              <a:rPr lang="en-US" sz="1200" b="1" dirty="0">
                <a:solidFill>
                  <a:srgbClr val="0B1B3A"/>
                </a:solidFill>
                <a:latin typeface="Calibri" pitchFamily="34" charset="0"/>
                <a:ea typeface="Calibri" pitchFamily="34" charset="-122"/>
                <a:cs typeface="Calibri" pitchFamily="34" charset="-120"/>
              </a:rPr>
              <a:t>AI use differs by role</a:t>
            </a:r>
            <a:endParaRPr lang="en-US" sz="1200" dirty="0"/>
          </a:p>
        </p:txBody>
      </p:sp>
      <p:sp>
        <p:nvSpPr>
          <p:cNvPr id="39" name="Text 34"/>
          <p:cNvSpPr/>
          <p:nvPr/>
        </p:nvSpPr>
        <p:spPr>
          <a:xfrm>
            <a:off x="9111767" y="5669280"/>
            <a:ext cx="2403272" cy="530352"/>
          </a:xfrm>
          <a:prstGeom prst="rect">
            <a:avLst/>
          </a:prstGeom>
          <a:noFill/>
          <a:ln/>
        </p:spPr>
        <p:txBody>
          <a:bodyPr wrap="square" lIns="0" tIns="0" rIns="0" bIns="0" rtlCol="0" anchor="t"/>
          <a:lstStyle/>
          <a:p>
            <a:pPr indent="0" marL="0">
              <a:lnSpc>
                <a:spcPct val="103000"/>
              </a:lnSpc>
              <a:buNone/>
            </a:pPr>
            <a:r>
              <a:rPr lang="en-US" sz="1050" b="1" dirty="0">
                <a:solidFill>
                  <a:srgbClr val="2563EB"/>
                </a:solidFill>
                <a:latin typeface="Calibri" pitchFamily="34" charset="0"/>
                <a:ea typeface="Calibri" pitchFamily="34" charset="-122"/>
                <a:cs typeface="Calibri" pitchFamily="34" charset="-120"/>
              </a:rPr>
              <a:t>→ </a:t>
            </a:r>
            <a:pPr indent="0" marL="0">
              <a:lnSpc>
                <a:spcPct val="103000"/>
              </a:lnSpc>
              <a:buNone/>
            </a:pPr>
            <a:r>
              <a:rPr lang="en-US" sz="1050" dirty="0">
                <a:solidFill>
                  <a:srgbClr val="334155"/>
                </a:solidFill>
                <a:latin typeface="Calibri" pitchFamily="34" charset="0"/>
                <a:ea typeface="Calibri" pitchFamily="34" charset="-122"/>
                <a:cs typeface="Calibri" pitchFamily="34" charset="-120"/>
              </a:rPr>
              <a:t>19.1 of 100 tasks now, 39.0 expected; 14.4% feel threatened</a:t>
            </a:r>
            <a:endParaRPr lang="en-US" sz="1050" dirty="0"/>
          </a:p>
        </p:txBody>
      </p:sp>
      <p:sp>
        <p:nvSpPr>
          <p:cNvPr id="25" name="Slide Number Placeholder 0"/>
          <p:cNvSpPr>
            <a:spLocks noGrp="1"/>
          </p:cNvSpPr>
          <p:nvPr>
            <p:ph type="sldNum" sz="quarter" idx="4294967295"/>
          </p:nvPr>
        </p:nvSpPr>
        <p:spPr>
          <a:xfrm>
            <a:off x="11094415" y="6464808"/>
            <a:ext cx="5486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64748B"/>
                </a:solidFill>
                <a:latin typeface="Calibri"/>
                <a:ea typeface="Calibri"/>
                <a:cs typeface="Calibri"/>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57200"/>
            <a:ext cx="64008" cy="713232"/>
          </a:xfrm>
          <a:prstGeom prst="rect">
            <a:avLst/>
          </a:prstGeom>
          <a:solidFill>
            <a:srgbClr val="2563EB"/>
          </a:solidFill>
          <a:ln/>
        </p:spPr>
      </p:sp>
      <p:sp>
        <p:nvSpPr>
          <p:cNvPr id="3" name="Text 1"/>
          <p:cNvSpPr/>
          <p:nvPr/>
        </p:nvSpPr>
        <p:spPr>
          <a:xfrm>
            <a:off x="749808" y="429768"/>
            <a:ext cx="7315200" cy="256032"/>
          </a:xfrm>
          <a:prstGeom prst="rect">
            <a:avLst/>
          </a:prstGeom>
          <a:noFill/>
          <a:ln/>
        </p:spPr>
        <p:txBody>
          <a:bodyPr wrap="square" lIns="0" tIns="0" rIns="0" bIns="0" rtlCol="0" anchor="t"/>
          <a:lstStyle/>
          <a:p>
            <a:pPr indent="0" marL="0">
              <a:buNone/>
            </a:pPr>
            <a:r>
              <a:rPr lang="en-US" sz="1100" b="1" spc="200" kern="0" dirty="0">
                <a:solidFill>
                  <a:srgbClr val="2563EB"/>
                </a:solidFill>
                <a:latin typeface="Calibri" pitchFamily="34" charset="0"/>
                <a:ea typeface="Calibri" pitchFamily="34" charset="-122"/>
                <a:cs typeface="Calibri" pitchFamily="34" charset="-120"/>
              </a:rPr>
              <a:t>METHODOLOGY, PREPROCESSING &amp; FEATURES</a:t>
            </a:r>
            <a:endParaRPr lang="en-US" sz="1100" dirty="0"/>
          </a:p>
        </p:txBody>
      </p:sp>
      <p:sp>
        <p:nvSpPr>
          <p:cNvPr id="4" name="Text 2"/>
          <p:cNvSpPr/>
          <p:nvPr/>
        </p:nvSpPr>
        <p:spPr>
          <a:xfrm>
            <a:off x="749808" y="676656"/>
            <a:ext cx="8229600" cy="512064"/>
          </a:xfrm>
          <a:prstGeom prst="rect">
            <a:avLst/>
          </a:prstGeom>
          <a:noFill/>
          <a:ln/>
        </p:spPr>
        <p:txBody>
          <a:bodyPr wrap="square" lIns="0" tIns="0" rIns="0" bIns="0" rtlCol="0" anchor="ctr"/>
          <a:lstStyle/>
          <a:p>
            <a:pPr indent="0" marL="0">
              <a:buNone/>
            </a:pPr>
            <a:r>
              <a:rPr lang="en-US" sz="2800" b="1" dirty="0">
                <a:solidFill>
                  <a:srgbClr val="0B1B3A"/>
                </a:solidFill>
                <a:latin typeface="Calibri" pitchFamily="34" charset="0"/>
                <a:ea typeface="Calibri" pitchFamily="34" charset="-122"/>
                <a:cs typeface="Calibri" pitchFamily="34" charset="-120"/>
              </a:rPr>
              <a:t>CRISP-DM Methodology</a:t>
            </a:r>
            <a:endParaRPr lang="en-US" sz="2800" dirty="0"/>
          </a:p>
        </p:txBody>
      </p:sp>
      <p:sp>
        <p:nvSpPr>
          <p:cNvPr id="5" name="Text 3"/>
          <p:cNvSpPr/>
          <p:nvPr/>
        </p:nvSpPr>
        <p:spPr>
          <a:xfrm>
            <a:off x="8945575" y="548640"/>
            <a:ext cx="2697480" cy="365760"/>
          </a:xfrm>
          <a:prstGeom prst="roundRect">
            <a:avLst>
              <a:gd name="adj" fmla="val 50000"/>
            </a:avLst>
          </a:prstGeom>
          <a:solidFill>
            <a:srgbClr val="EFF5FF"/>
          </a:solidFill>
          <a:ln w="9525">
            <a:solidFill>
              <a:srgbClr val="D2E2FD"/>
            </a:solid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Member 2</a:t>
            </a:r>
            <a:pPr algn="ctr" indent="0" marL="0">
              <a:buNone/>
            </a:pPr>
            <a:r>
              <a:rPr lang="en-US" sz="1100" b="1" dirty="0">
                <a:solidFill>
                  <a:srgbClr val="334155"/>
                </a:solidFill>
                <a:latin typeface="Calibri" pitchFamily="34" charset="0"/>
                <a:ea typeface="Calibri" pitchFamily="34" charset="-122"/>
                <a:cs typeface="Calibri" pitchFamily="34" charset="-120"/>
              </a:rPr>
              <a:t>   Yoosuf A.A</a:t>
            </a:r>
            <a:endParaRPr lang="en-US" sz="1100" dirty="0"/>
          </a:p>
        </p:txBody>
      </p:sp>
      <p:sp>
        <p:nvSpPr>
          <p:cNvPr id="7" name="Shape 4"/>
          <p:cNvSpPr/>
          <p:nvPr/>
        </p:nvSpPr>
        <p:spPr>
          <a:xfrm>
            <a:off x="548640" y="1417320"/>
            <a:ext cx="1867357" cy="749808"/>
          </a:xfrm>
          <a:prstGeom prst="homePlate">
            <a:avLst/>
          </a:prstGeom>
          <a:solidFill>
            <a:srgbClr val="0B1B3A"/>
          </a:solidFill>
          <a:ln/>
        </p:spPr>
      </p:sp>
      <p:sp>
        <p:nvSpPr>
          <p:cNvPr id="8" name="Text 5"/>
          <p:cNvSpPr/>
          <p:nvPr/>
        </p:nvSpPr>
        <p:spPr>
          <a:xfrm>
            <a:off x="640080" y="1417320"/>
            <a:ext cx="1391869" cy="749808"/>
          </a:xfrm>
          <a:prstGeom prst="rect">
            <a:avLst/>
          </a:prstGeom>
          <a:noFill/>
          <a:ln/>
        </p:spPr>
        <p:txBody>
          <a:bodyPr wrap="square" lIns="0" tIns="0" rIns="0" bIns="0" rtlCol="0" anchor="ctr"/>
          <a:lstStyle/>
          <a:p>
            <a:pPr algn="ctr" indent="0" marL="0">
              <a:lnSpc>
                <a:spcPct val="95000"/>
              </a:lnSpc>
              <a:buNone/>
            </a:pPr>
            <a:r>
              <a:rPr lang="en-US" sz="1200" b="1" dirty="0">
                <a:solidFill>
                  <a:srgbClr val="9DC1FF"/>
                </a:solidFill>
                <a:latin typeface="Calibri" pitchFamily="34" charset="0"/>
                <a:ea typeface="Calibri" pitchFamily="34" charset="-122"/>
                <a:cs typeface="Calibri" pitchFamily="34" charset="-120"/>
              </a:rPr>
              <a:t>1  </a:t>
            </a:r>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Business</a:t>
            </a:r>
            <a:endParaRPr lang="en-US" sz="1200" dirty="0"/>
          </a:p>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understanding</a:t>
            </a:r>
            <a:endParaRPr lang="en-US" sz="1200" dirty="0"/>
          </a:p>
        </p:txBody>
      </p:sp>
      <p:sp>
        <p:nvSpPr>
          <p:cNvPr id="9" name="Shape 6"/>
          <p:cNvSpPr/>
          <p:nvPr/>
        </p:nvSpPr>
        <p:spPr>
          <a:xfrm>
            <a:off x="548640" y="2331720"/>
            <a:ext cx="1757629" cy="2395728"/>
          </a:xfrm>
          <a:prstGeom prst="roundRect">
            <a:avLst>
              <a:gd name="adj" fmla="val 4682"/>
            </a:avLst>
          </a:prstGeom>
          <a:solidFill>
            <a:srgbClr val="F6F8FB"/>
          </a:solidFill>
          <a:ln w="9525">
            <a:solidFill>
              <a:srgbClr val="DCE3EC"/>
            </a:solidFill>
            <a:prstDash val="solid"/>
          </a:ln>
        </p:spPr>
      </p:sp>
      <p:sp>
        <p:nvSpPr>
          <p:cNvPr id="10" name="Text 7"/>
          <p:cNvSpPr/>
          <p:nvPr/>
        </p:nvSpPr>
        <p:spPr>
          <a:xfrm>
            <a:off x="685800" y="2404872"/>
            <a:ext cx="1483309" cy="219456"/>
          </a:xfrm>
          <a:prstGeom prst="rect">
            <a:avLst/>
          </a:prstGeom>
          <a:noFill/>
          <a:ln/>
        </p:spPr>
        <p:txBody>
          <a:bodyPr wrap="square" lIns="0" tIns="0" rIns="0" bIns="0" rtlCol="0" anchor="ctr"/>
          <a:lstStyle/>
          <a:p>
            <a:pPr indent="0" marL="0">
              <a:buNone/>
            </a:pPr>
            <a:r>
              <a:rPr lang="en-US" sz="900" b="1" spc="150" kern="0" dirty="0">
                <a:solidFill>
                  <a:srgbClr val="2563EB"/>
                </a:solidFill>
                <a:latin typeface="Calibri" pitchFamily="34" charset="0"/>
                <a:ea typeface="Calibri" pitchFamily="34" charset="-122"/>
                <a:cs typeface="Calibri" pitchFamily="34" charset="-120"/>
              </a:rPr>
              <a:t>IN SKILLPATH</a:t>
            </a:r>
            <a:endParaRPr lang="en-US" sz="900" dirty="0"/>
          </a:p>
        </p:txBody>
      </p:sp>
      <p:sp>
        <p:nvSpPr>
          <p:cNvPr id="11" name="Text 8"/>
          <p:cNvSpPr/>
          <p:nvPr/>
        </p:nvSpPr>
        <p:spPr>
          <a:xfrm>
            <a:off x="685800" y="2670048"/>
            <a:ext cx="1529029" cy="1417320"/>
          </a:xfrm>
          <a:prstGeom prst="rect">
            <a:avLst/>
          </a:prstGeom>
          <a:noFill/>
          <a:ln/>
        </p:spPr>
        <p:txBody>
          <a:bodyPr wrap="square" lIns="0" tIns="0" rIns="0" bIns="0" rtlCol="0" anchor="t"/>
          <a:lstStyle/>
          <a:p>
            <a:pPr marL="139700" indent="-1397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Problem, aim and six objectives</a:t>
            </a:r>
            <a:endParaRPr lang="en-US" sz="1050" dirty="0"/>
          </a:p>
          <a:p>
            <a:pPr marL="139700" indent="-1397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Approved project proposal</a:t>
            </a:r>
            <a:endParaRPr lang="en-US" sz="1050" dirty="0"/>
          </a:p>
          <a:p>
            <a:pPr marL="139700" indent="-1397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Users: students, early-career developers</a:t>
            </a:r>
            <a:endParaRPr lang="en-US" sz="1050" dirty="0"/>
          </a:p>
        </p:txBody>
      </p:sp>
      <p:sp>
        <p:nvSpPr>
          <p:cNvPr id="12" name="Shape 9"/>
          <p:cNvSpPr/>
          <p:nvPr/>
        </p:nvSpPr>
        <p:spPr>
          <a:xfrm>
            <a:off x="685800" y="4133088"/>
            <a:ext cx="1483309" cy="0"/>
          </a:xfrm>
          <a:prstGeom prst="line">
            <a:avLst/>
          </a:prstGeom>
          <a:noFill/>
          <a:ln w="9525">
            <a:solidFill>
              <a:srgbClr val="DCE3EC"/>
            </a:solidFill>
            <a:prstDash val="solid"/>
          </a:ln>
        </p:spPr>
      </p:sp>
      <p:sp>
        <p:nvSpPr>
          <p:cNvPr id="13" name="Text 10"/>
          <p:cNvSpPr/>
          <p:nvPr/>
        </p:nvSpPr>
        <p:spPr>
          <a:xfrm>
            <a:off x="685800" y="4178808"/>
            <a:ext cx="1529029" cy="475488"/>
          </a:xfrm>
          <a:prstGeom prst="rect">
            <a:avLst/>
          </a:prstGeom>
          <a:noFill/>
          <a:ln/>
        </p:spPr>
        <p:txBody>
          <a:bodyPr wrap="square" lIns="0" tIns="0" rIns="0" bIns="0" rtlCol="0" anchor="ctr"/>
          <a:lstStyle/>
          <a:p>
            <a:pPr indent="0" marL="0">
              <a:buNone/>
            </a:pPr>
            <a:r>
              <a:rPr lang="en-US" sz="950" dirty="0">
                <a:solidFill>
                  <a:srgbClr val="64748B"/>
                </a:solidFill>
                <a:latin typeface="Consolas" pitchFamily="34" charset="0"/>
                <a:ea typeface="Consolas" pitchFamily="34" charset="-122"/>
                <a:cs typeface="Consolas" pitchFamily="34" charset="-120"/>
              </a:rPr>
              <a:t>Proposal · report chapter 1</a:t>
            </a:r>
            <a:endParaRPr lang="en-US" sz="950" dirty="0"/>
          </a:p>
        </p:txBody>
      </p:sp>
      <p:sp>
        <p:nvSpPr>
          <p:cNvPr id="14" name="Shape 11"/>
          <p:cNvSpPr/>
          <p:nvPr/>
        </p:nvSpPr>
        <p:spPr>
          <a:xfrm>
            <a:off x="2324557" y="1417320"/>
            <a:ext cx="1958797" cy="749808"/>
          </a:xfrm>
          <a:prstGeom prst="chevron">
            <a:avLst/>
          </a:prstGeom>
          <a:solidFill>
            <a:srgbClr val="12306B"/>
          </a:solidFill>
          <a:ln/>
        </p:spPr>
      </p:sp>
      <p:sp>
        <p:nvSpPr>
          <p:cNvPr id="15" name="Text 12"/>
          <p:cNvSpPr/>
          <p:nvPr/>
        </p:nvSpPr>
        <p:spPr>
          <a:xfrm>
            <a:off x="2726893" y="1417320"/>
            <a:ext cx="1282141" cy="749808"/>
          </a:xfrm>
          <a:prstGeom prst="rect">
            <a:avLst/>
          </a:prstGeom>
          <a:noFill/>
          <a:ln/>
        </p:spPr>
        <p:txBody>
          <a:bodyPr wrap="square" lIns="0" tIns="0" rIns="0" bIns="0" rtlCol="0" anchor="ctr"/>
          <a:lstStyle/>
          <a:p>
            <a:pPr algn="ctr" indent="0" marL="0">
              <a:lnSpc>
                <a:spcPct val="95000"/>
              </a:lnSpc>
              <a:buNone/>
            </a:pPr>
            <a:r>
              <a:rPr lang="en-US" sz="1200" b="1" dirty="0">
                <a:solidFill>
                  <a:srgbClr val="9DC1FF"/>
                </a:solidFill>
                <a:latin typeface="Calibri" pitchFamily="34" charset="0"/>
                <a:ea typeface="Calibri" pitchFamily="34" charset="-122"/>
                <a:cs typeface="Calibri" pitchFamily="34" charset="-120"/>
              </a:rPr>
              <a:t>2  </a:t>
            </a:r>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Data</a:t>
            </a:r>
            <a:endParaRPr lang="en-US" sz="1200" dirty="0"/>
          </a:p>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understanding</a:t>
            </a:r>
            <a:endParaRPr lang="en-US" sz="1200" dirty="0"/>
          </a:p>
        </p:txBody>
      </p:sp>
      <p:sp>
        <p:nvSpPr>
          <p:cNvPr id="16" name="Shape 13"/>
          <p:cNvSpPr/>
          <p:nvPr/>
        </p:nvSpPr>
        <p:spPr>
          <a:xfrm>
            <a:off x="2415997" y="2331720"/>
            <a:ext cx="1757629" cy="2395728"/>
          </a:xfrm>
          <a:prstGeom prst="roundRect">
            <a:avLst>
              <a:gd name="adj" fmla="val 4682"/>
            </a:avLst>
          </a:prstGeom>
          <a:solidFill>
            <a:srgbClr val="F6F8FB"/>
          </a:solidFill>
          <a:ln w="9525">
            <a:solidFill>
              <a:srgbClr val="DCE3EC"/>
            </a:solidFill>
            <a:prstDash val="solid"/>
          </a:ln>
        </p:spPr>
      </p:sp>
      <p:sp>
        <p:nvSpPr>
          <p:cNvPr id="17" name="Text 14"/>
          <p:cNvSpPr/>
          <p:nvPr/>
        </p:nvSpPr>
        <p:spPr>
          <a:xfrm>
            <a:off x="2553157" y="2404872"/>
            <a:ext cx="1483309" cy="219456"/>
          </a:xfrm>
          <a:prstGeom prst="rect">
            <a:avLst/>
          </a:prstGeom>
          <a:noFill/>
          <a:ln/>
        </p:spPr>
        <p:txBody>
          <a:bodyPr wrap="square" lIns="0" tIns="0" rIns="0" bIns="0" rtlCol="0" anchor="ctr"/>
          <a:lstStyle/>
          <a:p>
            <a:pPr indent="0" marL="0">
              <a:buNone/>
            </a:pPr>
            <a:r>
              <a:rPr lang="en-US" sz="900" b="1" spc="150" kern="0" dirty="0">
                <a:solidFill>
                  <a:srgbClr val="2563EB"/>
                </a:solidFill>
                <a:latin typeface="Calibri" pitchFamily="34" charset="0"/>
                <a:ea typeface="Calibri" pitchFamily="34" charset="-122"/>
                <a:cs typeface="Calibri" pitchFamily="34" charset="-120"/>
              </a:rPr>
              <a:t>IN SKILLPATH</a:t>
            </a:r>
            <a:endParaRPr lang="en-US" sz="900" dirty="0"/>
          </a:p>
        </p:txBody>
      </p:sp>
      <p:sp>
        <p:nvSpPr>
          <p:cNvPr id="18" name="Text 15"/>
          <p:cNvSpPr/>
          <p:nvPr/>
        </p:nvSpPr>
        <p:spPr>
          <a:xfrm>
            <a:off x="2553157" y="2670048"/>
            <a:ext cx="1529029" cy="1417320"/>
          </a:xfrm>
          <a:prstGeom prst="rect">
            <a:avLst/>
          </a:prstGeom>
          <a:noFill/>
          <a:ln/>
        </p:spPr>
        <p:txBody>
          <a:bodyPr wrap="square" lIns="0" tIns="0" rIns="0" bIns="0" rtlCol="0" anchor="t"/>
          <a:lstStyle/>
          <a:p>
            <a:pPr marL="139700" indent="-1397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Quality audit of 49,123 × 170</a:t>
            </a:r>
            <a:endParaRPr lang="en-US" sz="1050" dirty="0"/>
          </a:p>
          <a:p>
            <a:pPr marL="139700" indent="-1397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EDA on the training split only</a:t>
            </a:r>
            <a:endParaRPr lang="en-US" sz="1050" dirty="0"/>
          </a:p>
          <a:p>
            <a:pPr marL="139700" indent="-1397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Imbalance, similarity, lift, AI, salary</a:t>
            </a:r>
            <a:endParaRPr lang="en-US" sz="1050" dirty="0"/>
          </a:p>
        </p:txBody>
      </p:sp>
      <p:sp>
        <p:nvSpPr>
          <p:cNvPr id="19" name="Shape 16"/>
          <p:cNvSpPr/>
          <p:nvPr/>
        </p:nvSpPr>
        <p:spPr>
          <a:xfrm>
            <a:off x="2553157" y="4133088"/>
            <a:ext cx="1483309" cy="0"/>
          </a:xfrm>
          <a:prstGeom prst="line">
            <a:avLst/>
          </a:prstGeom>
          <a:noFill/>
          <a:ln w="9525">
            <a:solidFill>
              <a:srgbClr val="DCE3EC"/>
            </a:solidFill>
            <a:prstDash val="solid"/>
          </a:ln>
        </p:spPr>
      </p:sp>
      <p:sp>
        <p:nvSpPr>
          <p:cNvPr id="20" name="Text 17"/>
          <p:cNvSpPr/>
          <p:nvPr/>
        </p:nvSpPr>
        <p:spPr>
          <a:xfrm>
            <a:off x="2553157" y="4178808"/>
            <a:ext cx="1529029" cy="475488"/>
          </a:xfrm>
          <a:prstGeom prst="rect">
            <a:avLst/>
          </a:prstGeom>
          <a:noFill/>
          <a:ln/>
        </p:spPr>
        <p:txBody>
          <a:bodyPr wrap="square" lIns="0" tIns="0" rIns="0" bIns="0" rtlCol="0" anchor="ctr"/>
          <a:lstStyle/>
          <a:p>
            <a:pPr indent="0" marL="0">
              <a:buNone/>
            </a:pPr>
            <a:r>
              <a:rPr lang="en-US" sz="950" dirty="0">
                <a:solidFill>
                  <a:srgbClr val="64748B"/>
                </a:solidFill>
                <a:latin typeface="Consolas" pitchFamily="34" charset="0"/>
                <a:ea typeface="Consolas" pitchFamily="34" charset="-122"/>
                <a:cs typeface="Consolas" pitchFamily="34" charset="-120"/>
              </a:rPr>
              <a:t>notebooks 01, 02</a:t>
            </a:r>
            <a:endParaRPr lang="en-US" sz="950" dirty="0"/>
          </a:p>
        </p:txBody>
      </p:sp>
      <p:sp>
        <p:nvSpPr>
          <p:cNvPr id="21" name="Shape 18"/>
          <p:cNvSpPr/>
          <p:nvPr/>
        </p:nvSpPr>
        <p:spPr>
          <a:xfrm>
            <a:off x="4191914" y="1417320"/>
            <a:ext cx="1958797" cy="749808"/>
          </a:xfrm>
          <a:prstGeom prst="chevron">
            <a:avLst/>
          </a:prstGeom>
          <a:solidFill>
            <a:srgbClr val="18429A"/>
          </a:solidFill>
          <a:ln/>
        </p:spPr>
      </p:sp>
      <p:sp>
        <p:nvSpPr>
          <p:cNvPr id="22" name="Text 19"/>
          <p:cNvSpPr/>
          <p:nvPr/>
        </p:nvSpPr>
        <p:spPr>
          <a:xfrm>
            <a:off x="4594250" y="1417320"/>
            <a:ext cx="1282141" cy="749808"/>
          </a:xfrm>
          <a:prstGeom prst="rect">
            <a:avLst/>
          </a:prstGeom>
          <a:noFill/>
          <a:ln/>
        </p:spPr>
        <p:txBody>
          <a:bodyPr wrap="square" lIns="0" tIns="0" rIns="0" bIns="0" rtlCol="0" anchor="ctr"/>
          <a:lstStyle/>
          <a:p>
            <a:pPr algn="ctr" indent="0" marL="0">
              <a:lnSpc>
                <a:spcPct val="95000"/>
              </a:lnSpc>
              <a:buNone/>
            </a:pPr>
            <a:r>
              <a:rPr lang="en-US" sz="1200" b="1" dirty="0">
                <a:solidFill>
                  <a:srgbClr val="9DC1FF"/>
                </a:solidFill>
                <a:latin typeface="Calibri" pitchFamily="34" charset="0"/>
                <a:ea typeface="Calibri" pitchFamily="34" charset="-122"/>
                <a:cs typeface="Calibri" pitchFamily="34" charset="-120"/>
              </a:rPr>
              <a:t>3  </a:t>
            </a:r>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Data</a:t>
            </a:r>
            <a:endParaRPr lang="en-US" sz="1200" dirty="0"/>
          </a:p>
          <a:p>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preparation</a:t>
            </a:r>
            <a:endParaRPr lang="en-US" sz="1200" dirty="0"/>
          </a:p>
        </p:txBody>
      </p:sp>
      <p:sp>
        <p:nvSpPr>
          <p:cNvPr id="23" name="Shape 20"/>
          <p:cNvSpPr/>
          <p:nvPr/>
        </p:nvSpPr>
        <p:spPr>
          <a:xfrm>
            <a:off x="4283354" y="2331720"/>
            <a:ext cx="1757629" cy="2395728"/>
          </a:xfrm>
          <a:prstGeom prst="roundRect">
            <a:avLst>
              <a:gd name="adj" fmla="val 4682"/>
            </a:avLst>
          </a:prstGeom>
          <a:solidFill>
            <a:srgbClr val="F6F8FB"/>
          </a:solidFill>
          <a:ln w="9525">
            <a:solidFill>
              <a:srgbClr val="DCE3EC"/>
            </a:solidFill>
            <a:prstDash val="solid"/>
          </a:ln>
        </p:spPr>
      </p:sp>
      <p:sp>
        <p:nvSpPr>
          <p:cNvPr id="24" name="Text 21"/>
          <p:cNvSpPr/>
          <p:nvPr/>
        </p:nvSpPr>
        <p:spPr>
          <a:xfrm>
            <a:off x="4420514" y="2404872"/>
            <a:ext cx="1483309" cy="219456"/>
          </a:xfrm>
          <a:prstGeom prst="rect">
            <a:avLst/>
          </a:prstGeom>
          <a:noFill/>
          <a:ln/>
        </p:spPr>
        <p:txBody>
          <a:bodyPr wrap="square" lIns="0" tIns="0" rIns="0" bIns="0" rtlCol="0" anchor="ctr"/>
          <a:lstStyle/>
          <a:p>
            <a:pPr indent="0" marL="0">
              <a:buNone/>
            </a:pPr>
            <a:r>
              <a:rPr lang="en-US" sz="900" b="1" spc="150" kern="0" dirty="0">
                <a:solidFill>
                  <a:srgbClr val="2563EB"/>
                </a:solidFill>
                <a:latin typeface="Calibri" pitchFamily="34" charset="0"/>
                <a:ea typeface="Calibri" pitchFamily="34" charset="-122"/>
                <a:cs typeface="Calibri" pitchFamily="34" charset="-120"/>
              </a:rPr>
              <a:t>IN SKILLPATH</a:t>
            </a:r>
            <a:endParaRPr lang="en-US" sz="900" dirty="0"/>
          </a:p>
        </p:txBody>
      </p:sp>
      <p:sp>
        <p:nvSpPr>
          <p:cNvPr id="25" name="Text 22"/>
          <p:cNvSpPr/>
          <p:nvPr/>
        </p:nvSpPr>
        <p:spPr>
          <a:xfrm>
            <a:off x="4420514" y="2670048"/>
            <a:ext cx="1529029" cy="1417320"/>
          </a:xfrm>
          <a:prstGeom prst="rect">
            <a:avLst/>
          </a:prstGeom>
          <a:noFill/>
          <a:ln/>
        </p:spPr>
        <p:txBody>
          <a:bodyPr wrap="square" lIns="0" tIns="0" rIns="0" bIns="0" rtlCol="0" anchor="t"/>
          <a:lstStyle/>
          <a:p>
            <a:pPr marL="139700" indent="-1397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Deterministic cleaning and cohort</a:t>
            </a:r>
            <a:endParaRPr lang="en-US" sz="1050" dirty="0"/>
          </a:p>
          <a:p>
            <a:pPr marL="139700" indent="-1397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Frozen stratified 80/20 split</a:t>
            </a:r>
            <a:endParaRPr lang="en-US" sz="1050" dirty="0"/>
          </a:p>
          <a:p>
            <a:pPr marL="139700" indent="-1397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Shared 479-feature pipeline</a:t>
            </a:r>
            <a:endParaRPr lang="en-US" sz="1050" dirty="0"/>
          </a:p>
        </p:txBody>
      </p:sp>
      <p:sp>
        <p:nvSpPr>
          <p:cNvPr id="26" name="Shape 23"/>
          <p:cNvSpPr/>
          <p:nvPr/>
        </p:nvSpPr>
        <p:spPr>
          <a:xfrm>
            <a:off x="4420514" y="4133088"/>
            <a:ext cx="1483309" cy="0"/>
          </a:xfrm>
          <a:prstGeom prst="line">
            <a:avLst/>
          </a:prstGeom>
          <a:noFill/>
          <a:ln w="9525">
            <a:solidFill>
              <a:srgbClr val="DCE3EC"/>
            </a:solidFill>
            <a:prstDash val="solid"/>
          </a:ln>
        </p:spPr>
      </p:sp>
      <p:sp>
        <p:nvSpPr>
          <p:cNvPr id="27" name="Text 24"/>
          <p:cNvSpPr/>
          <p:nvPr/>
        </p:nvSpPr>
        <p:spPr>
          <a:xfrm>
            <a:off x="4420514" y="4178808"/>
            <a:ext cx="1529029" cy="475488"/>
          </a:xfrm>
          <a:prstGeom prst="rect">
            <a:avLst/>
          </a:prstGeom>
          <a:noFill/>
          <a:ln/>
        </p:spPr>
        <p:txBody>
          <a:bodyPr wrap="square" lIns="0" tIns="0" rIns="0" bIns="0" rtlCol="0" anchor="ctr"/>
          <a:lstStyle/>
          <a:p>
            <a:pPr indent="0" marL="0">
              <a:buNone/>
            </a:pPr>
            <a:r>
              <a:rPr lang="en-US" sz="950" dirty="0">
                <a:solidFill>
                  <a:srgbClr val="64748B"/>
                </a:solidFill>
                <a:latin typeface="Consolas" pitchFamily="34" charset="0"/>
                <a:ea typeface="Consolas" pitchFamily="34" charset="-122"/>
                <a:cs typeface="Consolas" pitchFamily="34" charset="-120"/>
              </a:rPr>
              <a:t>src/skillpath · build_dataset.py</a:t>
            </a:r>
            <a:endParaRPr lang="en-US" sz="950" dirty="0"/>
          </a:p>
        </p:txBody>
      </p:sp>
      <p:sp>
        <p:nvSpPr>
          <p:cNvPr id="28" name="Shape 25"/>
          <p:cNvSpPr/>
          <p:nvPr/>
        </p:nvSpPr>
        <p:spPr>
          <a:xfrm>
            <a:off x="6059272" y="1417320"/>
            <a:ext cx="1958797" cy="749808"/>
          </a:xfrm>
          <a:prstGeom prst="chevron">
            <a:avLst/>
          </a:prstGeom>
          <a:solidFill>
            <a:srgbClr val="1D4FB8"/>
          </a:solidFill>
          <a:ln/>
        </p:spPr>
      </p:sp>
      <p:sp>
        <p:nvSpPr>
          <p:cNvPr id="29" name="Text 26"/>
          <p:cNvSpPr/>
          <p:nvPr/>
        </p:nvSpPr>
        <p:spPr>
          <a:xfrm>
            <a:off x="6461608" y="1417320"/>
            <a:ext cx="1282141" cy="749808"/>
          </a:xfrm>
          <a:prstGeom prst="rect">
            <a:avLst/>
          </a:prstGeom>
          <a:noFill/>
          <a:ln/>
        </p:spPr>
        <p:txBody>
          <a:bodyPr wrap="square" lIns="0" tIns="0" rIns="0" bIns="0" rtlCol="0" anchor="ctr"/>
          <a:lstStyle/>
          <a:p>
            <a:pPr algn="ctr" indent="0" marL="0">
              <a:lnSpc>
                <a:spcPct val="95000"/>
              </a:lnSpc>
              <a:buNone/>
            </a:pPr>
            <a:r>
              <a:rPr lang="en-US" sz="1200" b="1" dirty="0">
                <a:solidFill>
                  <a:srgbClr val="9DC1FF"/>
                </a:solidFill>
                <a:latin typeface="Calibri" pitchFamily="34" charset="0"/>
                <a:ea typeface="Calibri" pitchFamily="34" charset="-122"/>
                <a:cs typeface="Calibri" pitchFamily="34" charset="-120"/>
              </a:rPr>
              <a:t>4  </a:t>
            </a:r>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Modelling</a:t>
            </a:r>
            <a:endParaRPr lang="en-US" sz="1200" dirty="0"/>
          </a:p>
        </p:txBody>
      </p:sp>
      <p:sp>
        <p:nvSpPr>
          <p:cNvPr id="30" name="Shape 27"/>
          <p:cNvSpPr/>
          <p:nvPr/>
        </p:nvSpPr>
        <p:spPr>
          <a:xfrm>
            <a:off x="6150712" y="2331720"/>
            <a:ext cx="1757629" cy="2395728"/>
          </a:xfrm>
          <a:prstGeom prst="roundRect">
            <a:avLst>
              <a:gd name="adj" fmla="val 4682"/>
            </a:avLst>
          </a:prstGeom>
          <a:solidFill>
            <a:srgbClr val="F6F8FB"/>
          </a:solidFill>
          <a:ln w="9525">
            <a:solidFill>
              <a:srgbClr val="DCE3EC"/>
            </a:solidFill>
            <a:prstDash val="solid"/>
          </a:ln>
        </p:spPr>
      </p:sp>
      <p:sp>
        <p:nvSpPr>
          <p:cNvPr id="31" name="Text 28"/>
          <p:cNvSpPr/>
          <p:nvPr/>
        </p:nvSpPr>
        <p:spPr>
          <a:xfrm>
            <a:off x="6287872" y="2404872"/>
            <a:ext cx="1483309" cy="219456"/>
          </a:xfrm>
          <a:prstGeom prst="rect">
            <a:avLst/>
          </a:prstGeom>
          <a:noFill/>
          <a:ln/>
        </p:spPr>
        <p:txBody>
          <a:bodyPr wrap="square" lIns="0" tIns="0" rIns="0" bIns="0" rtlCol="0" anchor="ctr"/>
          <a:lstStyle/>
          <a:p>
            <a:pPr indent="0" marL="0">
              <a:buNone/>
            </a:pPr>
            <a:r>
              <a:rPr lang="en-US" sz="900" b="1" spc="150" kern="0" dirty="0">
                <a:solidFill>
                  <a:srgbClr val="2563EB"/>
                </a:solidFill>
                <a:latin typeface="Calibri" pitchFamily="34" charset="0"/>
                <a:ea typeface="Calibri" pitchFamily="34" charset="-122"/>
                <a:cs typeface="Calibri" pitchFamily="34" charset="-120"/>
              </a:rPr>
              <a:t>IN SKILLPATH</a:t>
            </a:r>
            <a:endParaRPr lang="en-US" sz="900" dirty="0"/>
          </a:p>
        </p:txBody>
      </p:sp>
      <p:sp>
        <p:nvSpPr>
          <p:cNvPr id="32" name="Text 29"/>
          <p:cNvSpPr/>
          <p:nvPr/>
        </p:nvSpPr>
        <p:spPr>
          <a:xfrm>
            <a:off x="6287872" y="2670048"/>
            <a:ext cx="1529029" cy="1417320"/>
          </a:xfrm>
          <a:prstGeom prst="rect">
            <a:avLst/>
          </a:prstGeom>
          <a:noFill/>
          <a:ln/>
        </p:spPr>
        <p:txBody>
          <a:bodyPr wrap="square" lIns="0" tIns="0" rIns="0" bIns="0" rtlCol="0" anchor="t"/>
          <a:lstStyle/>
          <a:p>
            <a:pPr marL="139700" indent="-1397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Six algorithms and a baseline</a:t>
            </a:r>
            <a:endParaRPr lang="en-US" sz="1050" dirty="0"/>
          </a:p>
          <a:p>
            <a:pPr marL="139700" indent="-1397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Stratified 5-fold cross-validation</a:t>
            </a:r>
            <a:endParaRPr lang="en-US" sz="1050" dirty="0"/>
          </a:p>
          <a:p>
            <a:pPr marL="139700" indent="-1397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Four optimisation phases</a:t>
            </a:r>
            <a:endParaRPr lang="en-US" sz="1050" dirty="0"/>
          </a:p>
        </p:txBody>
      </p:sp>
      <p:sp>
        <p:nvSpPr>
          <p:cNvPr id="33" name="Shape 30"/>
          <p:cNvSpPr/>
          <p:nvPr/>
        </p:nvSpPr>
        <p:spPr>
          <a:xfrm>
            <a:off x="6287872" y="4133088"/>
            <a:ext cx="1483309" cy="0"/>
          </a:xfrm>
          <a:prstGeom prst="line">
            <a:avLst/>
          </a:prstGeom>
          <a:noFill/>
          <a:ln w="9525">
            <a:solidFill>
              <a:srgbClr val="DCE3EC"/>
            </a:solidFill>
            <a:prstDash val="solid"/>
          </a:ln>
        </p:spPr>
      </p:sp>
      <p:sp>
        <p:nvSpPr>
          <p:cNvPr id="34" name="Text 31"/>
          <p:cNvSpPr/>
          <p:nvPr/>
        </p:nvSpPr>
        <p:spPr>
          <a:xfrm>
            <a:off x="6287872" y="4178808"/>
            <a:ext cx="1529029" cy="475488"/>
          </a:xfrm>
          <a:prstGeom prst="rect">
            <a:avLst/>
          </a:prstGeom>
          <a:noFill/>
          <a:ln/>
        </p:spPr>
        <p:txBody>
          <a:bodyPr wrap="square" lIns="0" tIns="0" rIns="0" bIns="0" rtlCol="0" anchor="ctr"/>
          <a:lstStyle/>
          <a:p>
            <a:pPr indent="0" marL="0">
              <a:buNone/>
            </a:pPr>
            <a:r>
              <a:rPr lang="en-US" sz="950" dirty="0">
                <a:solidFill>
                  <a:srgbClr val="64748B"/>
                </a:solidFill>
                <a:latin typeface="Consolas" pitchFamily="34" charset="0"/>
                <a:ea typeface="Consolas" pitchFamily="34" charset="-122"/>
                <a:cs typeface="Consolas" pitchFamily="34" charset="-120"/>
              </a:rPr>
              <a:t>run_models.py · tune_models.py</a:t>
            </a:r>
            <a:endParaRPr lang="en-US" sz="950" dirty="0"/>
          </a:p>
        </p:txBody>
      </p:sp>
      <p:sp>
        <p:nvSpPr>
          <p:cNvPr id="35" name="Shape 32"/>
          <p:cNvSpPr/>
          <p:nvPr/>
        </p:nvSpPr>
        <p:spPr>
          <a:xfrm>
            <a:off x="7926629" y="1417320"/>
            <a:ext cx="1958797" cy="749808"/>
          </a:xfrm>
          <a:prstGeom prst="chevron">
            <a:avLst/>
          </a:prstGeom>
          <a:solidFill>
            <a:srgbClr val="2563EB"/>
          </a:solidFill>
          <a:ln/>
        </p:spPr>
      </p:sp>
      <p:sp>
        <p:nvSpPr>
          <p:cNvPr id="36" name="Text 33"/>
          <p:cNvSpPr/>
          <p:nvPr/>
        </p:nvSpPr>
        <p:spPr>
          <a:xfrm>
            <a:off x="8328965" y="1417320"/>
            <a:ext cx="1282141" cy="749808"/>
          </a:xfrm>
          <a:prstGeom prst="rect">
            <a:avLst/>
          </a:prstGeom>
          <a:noFill/>
          <a:ln/>
        </p:spPr>
        <p:txBody>
          <a:bodyPr wrap="square" lIns="0" tIns="0" rIns="0" bIns="0" rtlCol="0" anchor="ctr"/>
          <a:lstStyle/>
          <a:p>
            <a:pPr algn="ctr" indent="0" marL="0">
              <a:lnSpc>
                <a:spcPct val="95000"/>
              </a:lnSpc>
              <a:buNone/>
            </a:pPr>
            <a:r>
              <a:rPr lang="en-US" sz="1200" b="1" dirty="0">
                <a:solidFill>
                  <a:srgbClr val="9DC1FF"/>
                </a:solidFill>
                <a:latin typeface="Calibri" pitchFamily="34" charset="0"/>
                <a:ea typeface="Calibri" pitchFamily="34" charset="-122"/>
                <a:cs typeface="Calibri" pitchFamily="34" charset="-120"/>
              </a:rPr>
              <a:t>5  </a:t>
            </a:r>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Evaluation</a:t>
            </a:r>
            <a:endParaRPr lang="en-US" sz="1200" dirty="0"/>
          </a:p>
        </p:txBody>
      </p:sp>
      <p:sp>
        <p:nvSpPr>
          <p:cNvPr id="37" name="Shape 34"/>
          <p:cNvSpPr/>
          <p:nvPr/>
        </p:nvSpPr>
        <p:spPr>
          <a:xfrm>
            <a:off x="8018069" y="2331720"/>
            <a:ext cx="1757629" cy="2395728"/>
          </a:xfrm>
          <a:prstGeom prst="roundRect">
            <a:avLst>
              <a:gd name="adj" fmla="val 4682"/>
            </a:avLst>
          </a:prstGeom>
          <a:solidFill>
            <a:srgbClr val="F6F8FB"/>
          </a:solidFill>
          <a:ln w="9525">
            <a:solidFill>
              <a:srgbClr val="DCE3EC"/>
            </a:solidFill>
            <a:prstDash val="solid"/>
          </a:ln>
        </p:spPr>
      </p:sp>
      <p:sp>
        <p:nvSpPr>
          <p:cNvPr id="38" name="Text 35"/>
          <p:cNvSpPr/>
          <p:nvPr/>
        </p:nvSpPr>
        <p:spPr>
          <a:xfrm>
            <a:off x="8155229" y="2404872"/>
            <a:ext cx="1483309" cy="219456"/>
          </a:xfrm>
          <a:prstGeom prst="rect">
            <a:avLst/>
          </a:prstGeom>
          <a:noFill/>
          <a:ln/>
        </p:spPr>
        <p:txBody>
          <a:bodyPr wrap="square" lIns="0" tIns="0" rIns="0" bIns="0" rtlCol="0" anchor="ctr"/>
          <a:lstStyle/>
          <a:p>
            <a:pPr indent="0" marL="0">
              <a:buNone/>
            </a:pPr>
            <a:r>
              <a:rPr lang="en-US" sz="900" b="1" spc="150" kern="0" dirty="0">
                <a:solidFill>
                  <a:srgbClr val="2563EB"/>
                </a:solidFill>
                <a:latin typeface="Calibri" pitchFamily="34" charset="0"/>
                <a:ea typeface="Calibri" pitchFamily="34" charset="-122"/>
                <a:cs typeface="Calibri" pitchFamily="34" charset="-120"/>
              </a:rPr>
              <a:t>IN SKILLPATH</a:t>
            </a:r>
            <a:endParaRPr lang="en-US" sz="900" dirty="0"/>
          </a:p>
        </p:txBody>
      </p:sp>
      <p:sp>
        <p:nvSpPr>
          <p:cNvPr id="39" name="Text 36"/>
          <p:cNvSpPr/>
          <p:nvPr/>
        </p:nvSpPr>
        <p:spPr>
          <a:xfrm>
            <a:off x="8155229" y="2670048"/>
            <a:ext cx="1529029" cy="1417320"/>
          </a:xfrm>
          <a:prstGeom prst="rect">
            <a:avLst/>
          </a:prstGeom>
          <a:noFill/>
          <a:ln/>
        </p:spPr>
        <p:txBody>
          <a:bodyPr wrap="square" lIns="0" tIns="0" rIns="0" bIns="0" rtlCol="0" anchor="t"/>
          <a:lstStyle/>
          <a:p>
            <a:pPr marL="139700" indent="-1397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Selection rule fixed in advance</a:t>
            </a:r>
            <a:endParaRPr lang="en-US" sz="1050" dirty="0"/>
          </a:p>
          <a:p>
            <a:pPr marL="139700" indent="-1397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One test on 4,615 held-out people</a:t>
            </a:r>
            <a:endParaRPr lang="en-US" sz="1050" dirty="0"/>
          </a:p>
          <a:p>
            <a:pPr marL="139700" indent="-1397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Model card with limitations</a:t>
            </a:r>
            <a:endParaRPr lang="en-US" sz="1050" dirty="0"/>
          </a:p>
        </p:txBody>
      </p:sp>
      <p:sp>
        <p:nvSpPr>
          <p:cNvPr id="40" name="Shape 37"/>
          <p:cNvSpPr/>
          <p:nvPr/>
        </p:nvSpPr>
        <p:spPr>
          <a:xfrm>
            <a:off x="8155229" y="4133088"/>
            <a:ext cx="1483309" cy="0"/>
          </a:xfrm>
          <a:prstGeom prst="line">
            <a:avLst/>
          </a:prstGeom>
          <a:noFill/>
          <a:ln w="9525">
            <a:solidFill>
              <a:srgbClr val="DCE3EC"/>
            </a:solidFill>
            <a:prstDash val="solid"/>
          </a:ln>
        </p:spPr>
      </p:sp>
      <p:sp>
        <p:nvSpPr>
          <p:cNvPr id="41" name="Text 38"/>
          <p:cNvSpPr/>
          <p:nvPr/>
        </p:nvSpPr>
        <p:spPr>
          <a:xfrm>
            <a:off x="8155229" y="4178808"/>
            <a:ext cx="1529029" cy="475488"/>
          </a:xfrm>
          <a:prstGeom prst="rect">
            <a:avLst/>
          </a:prstGeom>
          <a:noFill/>
          <a:ln/>
        </p:spPr>
        <p:txBody>
          <a:bodyPr wrap="square" lIns="0" tIns="0" rIns="0" bIns="0" rtlCol="0" anchor="ctr"/>
          <a:lstStyle/>
          <a:p>
            <a:pPr indent="0" marL="0">
              <a:buNone/>
            </a:pPr>
            <a:r>
              <a:rPr lang="en-US" sz="950" dirty="0">
                <a:solidFill>
                  <a:srgbClr val="64748B"/>
                </a:solidFill>
                <a:latin typeface="Consolas" pitchFamily="34" charset="0"/>
                <a:ea typeface="Consolas" pitchFamily="34" charset="-122"/>
                <a:cs typeface="Consolas" pitchFamily="34" charset="-120"/>
              </a:rPr>
              <a:t>finalise_model.py · model_card.json</a:t>
            </a:r>
            <a:endParaRPr lang="en-US" sz="950" dirty="0"/>
          </a:p>
        </p:txBody>
      </p:sp>
      <p:sp>
        <p:nvSpPr>
          <p:cNvPr id="42" name="Shape 39"/>
          <p:cNvSpPr/>
          <p:nvPr/>
        </p:nvSpPr>
        <p:spPr>
          <a:xfrm>
            <a:off x="9793986" y="1417320"/>
            <a:ext cx="1958797" cy="749808"/>
          </a:xfrm>
          <a:prstGeom prst="chevron">
            <a:avLst/>
          </a:prstGeom>
          <a:solidFill>
            <a:srgbClr val="3B82F6"/>
          </a:solidFill>
          <a:ln/>
        </p:spPr>
      </p:sp>
      <p:sp>
        <p:nvSpPr>
          <p:cNvPr id="43" name="Text 40"/>
          <p:cNvSpPr/>
          <p:nvPr/>
        </p:nvSpPr>
        <p:spPr>
          <a:xfrm>
            <a:off x="10196322" y="1417320"/>
            <a:ext cx="1282141" cy="749808"/>
          </a:xfrm>
          <a:prstGeom prst="rect">
            <a:avLst/>
          </a:prstGeom>
          <a:noFill/>
          <a:ln/>
        </p:spPr>
        <p:txBody>
          <a:bodyPr wrap="square" lIns="0" tIns="0" rIns="0" bIns="0" rtlCol="0" anchor="ctr"/>
          <a:lstStyle/>
          <a:p>
            <a:pPr algn="ctr" indent="0" marL="0">
              <a:lnSpc>
                <a:spcPct val="95000"/>
              </a:lnSpc>
              <a:buNone/>
            </a:pPr>
            <a:r>
              <a:rPr lang="en-US" sz="1200" b="1" dirty="0">
                <a:solidFill>
                  <a:srgbClr val="9DC1FF"/>
                </a:solidFill>
                <a:latin typeface="Calibri" pitchFamily="34" charset="0"/>
                <a:ea typeface="Calibri" pitchFamily="34" charset="-122"/>
                <a:cs typeface="Calibri" pitchFamily="34" charset="-120"/>
              </a:rPr>
              <a:t>6  </a:t>
            </a:r>
            <a:pPr algn="ctr" indent="0" marL="0">
              <a:lnSpc>
                <a:spcPct val="95000"/>
              </a:lnSpc>
              <a:buNone/>
            </a:pPr>
            <a:r>
              <a:rPr lang="en-US" sz="1200" b="1" dirty="0">
                <a:solidFill>
                  <a:srgbClr val="FFFFFF"/>
                </a:solidFill>
                <a:latin typeface="Calibri" pitchFamily="34" charset="0"/>
                <a:ea typeface="Calibri" pitchFamily="34" charset="-122"/>
                <a:cs typeface="Calibri" pitchFamily="34" charset="-120"/>
              </a:rPr>
              <a:t>Deployment</a:t>
            </a:r>
            <a:endParaRPr lang="en-US" sz="1200" dirty="0"/>
          </a:p>
        </p:txBody>
      </p:sp>
      <p:sp>
        <p:nvSpPr>
          <p:cNvPr id="44" name="Shape 41"/>
          <p:cNvSpPr/>
          <p:nvPr/>
        </p:nvSpPr>
        <p:spPr>
          <a:xfrm>
            <a:off x="9885426" y="2331720"/>
            <a:ext cx="1757629" cy="2395728"/>
          </a:xfrm>
          <a:prstGeom prst="roundRect">
            <a:avLst>
              <a:gd name="adj" fmla="val 4682"/>
            </a:avLst>
          </a:prstGeom>
          <a:solidFill>
            <a:srgbClr val="F6F8FB"/>
          </a:solidFill>
          <a:ln w="9525">
            <a:solidFill>
              <a:srgbClr val="DCE3EC"/>
            </a:solidFill>
            <a:prstDash val="solid"/>
          </a:ln>
        </p:spPr>
      </p:sp>
      <p:sp>
        <p:nvSpPr>
          <p:cNvPr id="45" name="Text 42"/>
          <p:cNvSpPr/>
          <p:nvPr/>
        </p:nvSpPr>
        <p:spPr>
          <a:xfrm>
            <a:off x="10022586" y="2404872"/>
            <a:ext cx="1483309" cy="219456"/>
          </a:xfrm>
          <a:prstGeom prst="rect">
            <a:avLst/>
          </a:prstGeom>
          <a:noFill/>
          <a:ln/>
        </p:spPr>
        <p:txBody>
          <a:bodyPr wrap="square" lIns="0" tIns="0" rIns="0" bIns="0" rtlCol="0" anchor="ctr"/>
          <a:lstStyle/>
          <a:p>
            <a:pPr indent="0" marL="0">
              <a:buNone/>
            </a:pPr>
            <a:r>
              <a:rPr lang="en-US" sz="900" b="1" spc="150" kern="0" dirty="0">
                <a:solidFill>
                  <a:srgbClr val="2563EB"/>
                </a:solidFill>
                <a:latin typeface="Calibri" pitchFamily="34" charset="0"/>
                <a:ea typeface="Calibri" pitchFamily="34" charset="-122"/>
                <a:cs typeface="Calibri" pitchFamily="34" charset="-120"/>
              </a:rPr>
              <a:t>IN SKILLPATH</a:t>
            </a:r>
            <a:endParaRPr lang="en-US" sz="900" dirty="0"/>
          </a:p>
        </p:txBody>
      </p:sp>
      <p:sp>
        <p:nvSpPr>
          <p:cNvPr id="46" name="Text 43"/>
          <p:cNvSpPr/>
          <p:nvPr/>
        </p:nvSpPr>
        <p:spPr>
          <a:xfrm>
            <a:off x="10022586" y="2670048"/>
            <a:ext cx="1529029" cy="1417320"/>
          </a:xfrm>
          <a:prstGeom prst="rect">
            <a:avLst/>
          </a:prstGeom>
          <a:noFill/>
          <a:ln/>
        </p:spPr>
        <p:txBody>
          <a:bodyPr wrap="square" lIns="0" tIns="0" rIns="0" bIns="0" rtlCol="0" anchor="t"/>
          <a:lstStyle/>
          <a:p>
            <a:pPr marL="139700" indent="-1397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FastAPI web API</a:t>
            </a:r>
            <a:endParaRPr lang="en-US" sz="1050" dirty="0"/>
          </a:p>
          <a:p>
            <a:pPr marL="139700" indent="-1397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React web application</a:t>
            </a:r>
            <a:endParaRPr lang="en-US" sz="1050" dirty="0"/>
          </a:p>
          <a:p>
            <a:pPr marL="139700" indent="-139700">
              <a:spcAft>
                <a:spcPts val="500"/>
              </a:spcAft>
              <a:buSzPct val="100000"/>
              <a:buChar char="•"/>
            </a:pPr>
            <a:r>
              <a:rPr lang="en-US" sz="1050" dirty="0">
                <a:solidFill>
                  <a:srgbClr val="334155"/>
                </a:solidFill>
                <a:latin typeface="Calibri" pitchFamily="34" charset="0"/>
                <a:ea typeface="Calibri" pitchFamily="34" charset="-122"/>
                <a:cs typeface="Calibri" pitchFamily="34" charset="-120"/>
              </a:rPr>
              <a:t>Verified by 178 automated tests</a:t>
            </a:r>
            <a:endParaRPr lang="en-US" sz="1050" dirty="0"/>
          </a:p>
        </p:txBody>
      </p:sp>
      <p:sp>
        <p:nvSpPr>
          <p:cNvPr id="47" name="Shape 44"/>
          <p:cNvSpPr/>
          <p:nvPr/>
        </p:nvSpPr>
        <p:spPr>
          <a:xfrm>
            <a:off x="10022586" y="4133088"/>
            <a:ext cx="1483309" cy="0"/>
          </a:xfrm>
          <a:prstGeom prst="line">
            <a:avLst/>
          </a:prstGeom>
          <a:noFill/>
          <a:ln w="9525">
            <a:solidFill>
              <a:srgbClr val="DCE3EC"/>
            </a:solidFill>
            <a:prstDash val="solid"/>
          </a:ln>
        </p:spPr>
      </p:sp>
      <p:sp>
        <p:nvSpPr>
          <p:cNvPr id="48" name="Text 45"/>
          <p:cNvSpPr/>
          <p:nvPr/>
        </p:nvSpPr>
        <p:spPr>
          <a:xfrm>
            <a:off x="10022586" y="4178808"/>
            <a:ext cx="1529029" cy="475488"/>
          </a:xfrm>
          <a:prstGeom prst="rect">
            <a:avLst/>
          </a:prstGeom>
          <a:noFill/>
          <a:ln/>
        </p:spPr>
        <p:txBody>
          <a:bodyPr wrap="square" lIns="0" tIns="0" rIns="0" bIns="0" rtlCol="0" anchor="ctr"/>
          <a:lstStyle/>
          <a:p>
            <a:pPr indent="0" marL="0">
              <a:buNone/>
            </a:pPr>
            <a:r>
              <a:rPr lang="en-US" sz="950" dirty="0">
                <a:solidFill>
                  <a:srgbClr val="64748B"/>
                </a:solidFill>
                <a:latin typeface="Consolas" pitchFamily="34" charset="0"/>
                <a:ea typeface="Consolas" pitchFamily="34" charset="-122"/>
                <a:cs typeface="Consolas" pitchFamily="34" charset="-120"/>
              </a:rPr>
              <a:t>app/ · frontend/ · tests/</a:t>
            </a:r>
            <a:endParaRPr lang="en-US" sz="950" dirty="0"/>
          </a:p>
        </p:txBody>
      </p:sp>
      <p:sp>
        <p:nvSpPr>
          <p:cNvPr id="49" name="Shape 46"/>
          <p:cNvSpPr/>
          <p:nvPr/>
        </p:nvSpPr>
        <p:spPr>
          <a:xfrm>
            <a:off x="548640" y="4864608"/>
            <a:ext cx="11094415" cy="457200"/>
          </a:xfrm>
          <a:prstGeom prst="roundRect">
            <a:avLst>
              <a:gd name="adj" fmla="val 18000"/>
            </a:avLst>
          </a:prstGeom>
          <a:solidFill>
            <a:srgbClr val="FFF4EC"/>
          </a:solidFill>
          <a:ln w="9525">
            <a:solidFill>
              <a:srgbClr val="FBD5B8"/>
            </a:solidFill>
            <a:prstDash val="solid"/>
          </a:ln>
        </p:spPr>
      </p:sp>
      <p:sp>
        <p:nvSpPr>
          <p:cNvPr id="50" name="Text 47"/>
          <p:cNvSpPr/>
          <p:nvPr/>
        </p:nvSpPr>
        <p:spPr>
          <a:xfrm>
            <a:off x="731520" y="4864608"/>
            <a:ext cx="10728655" cy="457200"/>
          </a:xfrm>
          <a:prstGeom prst="rect">
            <a:avLst/>
          </a:prstGeom>
          <a:noFill/>
          <a:ln/>
        </p:spPr>
        <p:txBody>
          <a:bodyPr wrap="square" lIns="0" tIns="0" rIns="0" bIns="0" rtlCol="0" anchor="ctr"/>
          <a:lstStyle/>
          <a:p>
            <a:pPr indent="0" marL="0">
              <a:buNone/>
            </a:pPr>
            <a:r>
              <a:rPr lang="en-US" sz="1100" b="1" dirty="0">
                <a:solidFill>
                  <a:srgbClr val="C2410C"/>
                </a:solidFill>
                <a:latin typeface="Calibri" pitchFamily="34" charset="0"/>
                <a:ea typeface="Calibri" pitchFamily="34" charset="-122"/>
                <a:cs typeface="Calibri" pitchFamily="34" charset="-120"/>
              </a:rPr>
              <a:t>Iterative, not a waterfall:  </a:t>
            </a:r>
            <a:pPr indent="0" marL="0">
              <a:buNone/>
            </a:pPr>
            <a:r>
              <a:rPr lang="en-US" sz="1100" dirty="0">
                <a:solidFill>
                  <a:srgbClr val="334155"/>
                </a:solidFill>
                <a:latin typeface="Calibri" pitchFamily="34" charset="0"/>
                <a:ea typeface="Calibri" pitchFamily="34" charset="-122"/>
                <a:cs typeface="Calibri" pitchFamily="34" charset="-120"/>
              </a:rPr>
              <a:t>modelling fed back into preparation: scaling binary flags cost 0.025 macro-F1, and class weighting was dropped for Logistic Regression.</a:t>
            </a:r>
            <a:endParaRPr lang="en-US" sz="1100" dirty="0"/>
          </a:p>
        </p:txBody>
      </p:sp>
      <p:sp>
        <p:nvSpPr>
          <p:cNvPr id="51" name="Shape 48"/>
          <p:cNvSpPr/>
          <p:nvPr/>
        </p:nvSpPr>
        <p:spPr>
          <a:xfrm>
            <a:off x="548640" y="5449824"/>
            <a:ext cx="2677592" cy="804672"/>
          </a:xfrm>
          <a:prstGeom prst="roundRect">
            <a:avLst>
              <a:gd name="adj" fmla="val 10227"/>
            </a:avLst>
          </a:prstGeom>
          <a:solidFill>
            <a:srgbClr val="EFF5FF"/>
          </a:solidFill>
          <a:ln w="9525">
            <a:solidFill>
              <a:srgbClr val="D2E2FD"/>
            </a:solidFill>
            <a:prstDash val="solid"/>
          </a:ln>
        </p:spPr>
      </p:sp>
      <p:sp>
        <p:nvSpPr>
          <p:cNvPr id="52" name="Text 49"/>
          <p:cNvSpPr/>
          <p:nvPr/>
        </p:nvSpPr>
        <p:spPr>
          <a:xfrm>
            <a:off x="694944" y="5486400"/>
            <a:ext cx="2403272" cy="256032"/>
          </a:xfrm>
          <a:prstGeom prst="rect">
            <a:avLst/>
          </a:prstGeom>
          <a:noFill/>
          <a:ln/>
        </p:spPr>
        <p:txBody>
          <a:bodyPr wrap="square" lIns="0" tIns="0" rIns="0" bIns="0" rtlCol="0" anchor="ctr"/>
          <a:lstStyle/>
          <a:p>
            <a:pPr indent="0" marL="0">
              <a:buNone/>
            </a:pPr>
            <a:r>
              <a:rPr lang="en-US" sz="1200" b="1" dirty="0">
                <a:solidFill>
                  <a:srgbClr val="0B1B3A"/>
                </a:solidFill>
                <a:latin typeface="Calibri" pitchFamily="34" charset="0"/>
                <a:ea typeface="Calibri" pitchFamily="34" charset="-122"/>
                <a:cs typeface="Calibri" pitchFamily="34" charset="-120"/>
              </a:rPr>
              <a:t>One shared package</a:t>
            </a:r>
            <a:endParaRPr lang="en-US" sz="1200" dirty="0"/>
          </a:p>
        </p:txBody>
      </p:sp>
      <p:sp>
        <p:nvSpPr>
          <p:cNvPr id="53" name="Text 50"/>
          <p:cNvSpPr/>
          <p:nvPr/>
        </p:nvSpPr>
        <p:spPr>
          <a:xfrm>
            <a:off x="694944" y="5742432"/>
            <a:ext cx="2403272" cy="457200"/>
          </a:xfrm>
          <a:prstGeom prst="rect">
            <a:avLst/>
          </a:prstGeom>
          <a:noFill/>
          <a:ln/>
        </p:spPr>
        <p:txBody>
          <a:bodyPr wrap="square" lIns="0" tIns="0" rIns="0" bIns="0" rtlCol="0" anchor="t"/>
          <a:lstStyle/>
          <a:p>
            <a:pPr indent="0" marL="0">
              <a:lnSpc>
                <a:spcPct val="100000"/>
              </a:lnSpc>
              <a:buNone/>
            </a:pPr>
            <a:r>
              <a:rPr lang="en-US" sz="1000" dirty="0">
                <a:solidFill>
                  <a:srgbClr val="334155"/>
                </a:solidFill>
                <a:latin typeface="Calibri" pitchFamily="34" charset="0"/>
                <a:ea typeface="Calibri" pitchFamily="34" charset="-122"/>
                <a:cs typeface="Calibri" pitchFamily="34" charset="-120"/>
              </a:rPr>
              <a:t>Notebooks, scripts and the web backend use the same skillpath code</a:t>
            </a:r>
            <a:endParaRPr lang="en-US" sz="1000" dirty="0"/>
          </a:p>
        </p:txBody>
      </p:sp>
      <p:sp>
        <p:nvSpPr>
          <p:cNvPr id="54" name="Shape 51"/>
          <p:cNvSpPr/>
          <p:nvPr/>
        </p:nvSpPr>
        <p:spPr>
          <a:xfrm>
            <a:off x="3354248" y="5449824"/>
            <a:ext cx="2677592" cy="804672"/>
          </a:xfrm>
          <a:prstGeom prst="roundRect">
            <a:avLst>
              <a:gd name="adj" fmla="val 10227"/>
            </a:avLst>
          </a:prstGeom>
          <a:solidFill>
            <a:srgbClr val="EFF5FF"/>
          </a:solidFill>
          <a:ln w="9525">
            <a:solidFill>
              <a:srgbClr val="D2E2FD"/>
            </a:solidFill>
            <a:prstDash val="solid"/>
          </a:ln>
        </p:spPr>
      </p:sp>
      <p:sp>
        <p:nvSpPr>
          <p:cNvPr id="55" name="Text 52"/>
          <p:cNvSpPr/>
          <p:nvPr/>
        </p:nvSpPr>
        <p:spPr>
          <a:xfrm>
            <a:off x="3500552" y="5486400"/>
            <a:ext cx="2403272" cy="256032"/>
          </a:xfrm>
          <a:prstGeom prst="rect">
            <a:avLst/>
          </a:prstGeom>
          <a:noFill/>
          <a:ln/>
        </p:spPr>
        <p:txBody>
          <a:bodyPr wrap="square" lIns="0" tIns="0" rIns="0" bIns="0" rtlCol="0" anchor="ctr"/>
          <a:lstStyle/>
          <a:p>
            <a:pPr indent="0" marL="0">
              <a:buNone/>
            </a:pPr>
            <a:r>
              <a:rPr lang="en-US" sz="1200" b="1" dirty="0">
                <a:solidFill>
                  <a:srgbClr val="0B1B3A"/>
                </a:solidFill>
                <a:latin typeface="Calibri" pitchFamily="34" charset="0"/>
                <a:ea typeface="Calibri" pitchFamily="34" charset="-122"/>
                <a:cs typeface="Calibri" pitchFamily="34" charset="-120"/>
              </a:rPr>
              <a:t>Split first, learn later</a:t>
            </a:r>
            <a:endParaRPr lang="en-US" sz="1200" dirty="0"/>
          </a:p>
        </p:txBody>
      </p:sp>
      <p:sp>
        <p:nvSpPr>
          <p:cNvPr id="56" name="Text 53"/>
          <p:cNvSpPr/>
          <p:nvPr/>
        </p:nvSpPr>
        <p:spPr>
          <a:xfrm>
            <a:off x="3500552" y="5742432"/>
            <a:ext cx="2403272" cy="457200"/>
          </a:xfrm>
          <a:prstGeom prst="rect">
            <a:avLst/>
          </a:prstGeom>
          <a:noFill/>
          <a:ln/>
        </p:spPr>
        <p:txBody>
          <a:bodyPr wrap="square" lIns="0" tIns="0" rIns="0" bIns="0" rtlCol="0" anchor="t"/>
          <a:lstStyle/>
          <a:p>
            <a:pPr indent="0" marL="0">
              <a:lnSpc>
                <a:spcPct val="100000"/>
              </a:lnSpc>
              <a:buNone/>
            </a:pPr>
            <a:r>
              <a:rPr lang="en-US" sz="1000" dirty="0">
                <a:solidFill>
                  <a:srgbClr val="334155"/>
                </a:solidFill>
                <a:latin typeface="Calibri" pitchFamily="34" charset="0"/>
                <a:ea typeface="Calibri" pitchFamily="34" charset="-122"/>
                <a:cs typeface="Calibri" pitchFamily="34" charset="-120"/>
              </a:rPr>
              <a:t>Only fixed rules run before the split; the rest is fitted on training rows</a:t>
            </a:r>
            <a:endParaRPr lang="en-US" sz="1000" dirty="0"/>
          </a:p>
        </p:txBody>
      </p:sp>
      <p:sp>
        <p:nvSpPr>
          <p:cNvPr id="57" name="Shape 54"/>
          <p:cNvSpPr/>
          <p:nvPr/>
        </p:nvSpPr>
        <p:spPr>
          <a:xfrm>
            <a:off x="6159856" y="5449824"/>
            <a:ext cx="2677592" cy="804672"/>
          </a:xfrm>
          <a:prstGeom prst="roundRect">
            <a:avLst>
              <a:gd name="adj" fmla="val 10227"/>
            </a:avLst>
          </a:prstGeom>
          <a:solidFill>
            <a:srgbClr val="EFF5FF"/>
          </a:solidFill>
          <a:ln w="9525">
            <a:solidFill>
              <a:srgbClr val="D2E2FD"/>
            </a:solidFill>
            <a:prstDash val="solid"/>
          </a:ln>
        </p:spPr>
      </p:sp>
      <p:sp>
        <p:nvSpPr>
          <p:cNvPr id="58" name="Text 55"/>
          <p:cNvSpPr/>
          <p:nvPr/>
        </p:nvSpPr>
        <p:spPr>
          <a:xfrm>
            <a:off x="6306160" y="5486400"/>
            <a:ext cx="2403272" cy="256032"/>
          </a:xfrm>
          <a:prstGeom prst="rect">
            <a:avLst/>
          </a:prstGeom>
          <a:noFill/>
          <a:ln/>
        </p:spPr>
        <p:txBody>
          <a:bodyPr wrap="square" lIns="0" tIns="0" rIns="0" bIns="0" rtlCol="0" anchor="ctr"/>
          <a:lstStyle/>
          <a:p>
            <a:pPr indent="0" marL="0">
              <a:buNone/>
            </a:pPr>
            <a:r>
              <a:rPr lang="en-US" sz="1200" b="1" dirty="0">
                <a:solidFill>
                  <a:srgbClr val="0B1B3A"/>
                </a:solidFill>
                <a:latin typeface="Calibri" pitchFamily="34" charset="0"/>
                <a:ea typeface="Calibri" pitchFamily="34" charset="-122"/>
                <a:cs typeface="Calibri" pitchFamily="34" charset="-120"/>
              </a:rPr>
              <a:t>Preprocessing inside the model</a:t>
            </a:r>
            <a:endParaRPr lang="en-US" sz="1200" dirty="0"/>
          </a:p>
        </p:txBody>
      </p:sp>
      <p:sp>
        <p:nvSpPr>
          <p:cNvPr id="59" name="Text 56"/>
          <p:cNvSpPr/>
          <p:nvPr/>
        </p:nvSpPr>
        <p:spPr>
          <a:xfrm>
            <a:off x="6306160" y="5742432"/>
            <a:ext cx="2403272" cy="457200"/>
          </a:xfrm>
          <a:prstGeom prst="rect">
            <a:avLst/>
          </a:prstGeom>
          <a:noFill/>
          <a:ln/>
        </p:spPr>
        <p:txBody>
          <a:bodyPr wrap="square" lIns="0" tIns="0" rIns="0" bIns="0" rtlCol="0" anchor="t"/>
          <a:lstStyle/>
          <a:p>
            <a:pPr indent="0" marL="0">
              <a:lnSpc>
                <a:spcPct val="100000"/>
              </a:lnSpc>
              <a:buNone/>
            </a:pPr>
            <a:r>
              <a:rPr lang="en-US" sz="1000" dirty="0">
                <a:solidFill>
                  <a:srgbClr val="334155"/>
                </a:solidFill>
                <a:latin typeface="Calibri" pitchFamily="34" charset="0"/>
                <a:ea typeface="Calibri" pitchFamily="34" charset="-122"/>
                <a:cs typeface="Calibri" pitchFamily="34" charset="-120"/>
              </a:rPr>
              <a:t>Refitted on every fold; the API applies the identical transformation</a:t>
            </a:r>
            <a:endParaRPr lang="en-US" sz="1000" dirty="0"/>
          </a:p>
        </p:txBody>
      </p:sp>
      <p:sp>
        <p:nvSpPr>
          <p:cNvPr id="60" name="Shape 57"/>
          <p:cNvSpPr/>
          <p:nvPr/>
        </p:nvSpPr>
        <p:spPr>
          <a:xfrm>
            <a:off x="8965463" y="5449824"/>
            <a:ext cx="2677592" cy="804672"/>
          </a:xfrm>
          <a:prstGeom prst="roundRect">
            <a:avLst>
              <a:gd name="adj" fmla="val 10227"/>
            </a:avLst>
          </a:prstGeom>
          <a:solidFill>
            <a:srgbClr val="EFF5FF"/>
          </a:solidFill>
          <a:ln w="9525">
            <a:solidFill>
              <a:srgbClr val="D2E2FD"/>
            </a:solidFill>
            <a:prstDash val="solid"/>
          </a:ln>
        </p:spPr>
      </p:sp>
      <p:sp>
        <p:nvSpPr>
          <p:cNvPr id="61" name="Text 58"/>
          <p:cNvSpPr/>
          <p:nvPr/>
        </p:nvSpPr>
        <p:spPr>
          <a:xfrm>
            <a:off x="9111767" y="5486400"/>
            <a:ext cx="2403272" cy="256032"/>
          </a:xfrm>
          <a:prstGeom prst="rect">
            <a:avLst/>
          </a:prstGeom>
          <a:noFill/>
          <a:ln/>
        </p:spPr>
        <p:txBody>
          <a:bodyPr wrap="square" lIns="0" tIns="0" rIns="0" bIns="0" rtlCol="0" anchor="ctr"/>
          <a:lstStyle/>
          <a:p>
            <a:pPr indent="0" marL="0">
              <a:buNone/>
            </a:pPr>
            <a:r>
              <a:rPr lang="en-US" sz="1200" b="1" dirty="0">
                <a:solidFill>
                  <a:srgbClr val="0B1B3A"/>
                </a:solidFill>
                <a:latin typeface="Calibri" pitchFamily="34" charset="0"/>
                <a:ea typeface="Calibri" pitchFamily="34" charset="-122"/>
                <a:cs typeface="Calibri" pitchFamily="34" charset="-120"/>
              </a:rPr>
              <a:t>Test split opened once</a:t>
            </a:r>
            <a:endParaRPr lang="en-US" sz="1200" dirty="0"/>
          </a:p>
        </p:txBody>
      </p:sp>
      <p:sp>
        <p:nvSpPr>
          <p:cNvPr id="62" name="Text 59"/>
          <p:cNvSpPr/>
          <p:nvPr/>
        </p:nvSpPr>
        <p:spPr>
          <a:xfrm>
            <a:off x="9111767" y="5742432"/>
            <a:ext cx="2403272" cy="457200"/>
          </a:xfrm>
          <a:prstGeom prst="rect">
            <a:avLst/>
          </a:prstGeom>
          <a:noFill/>
          <a:ln/>
        </p:spPr>
        <p:txBody>
          <a:bodyPr wrap="square" lIns="0" tIns="0" rIns="0" bIns="0" rtlCol="0" anchor="t"/>
          <a:lstStyle/>
          <a:p>
            <a:pPr indent="0" marL="0">
              <a:lnSpc>
                <a:spcPct val="100000"/>
              </a:lnSpc>
              <a:buNone/>
            </a:pPr>
            <a:r>
              <a:rPr lang="en-US" sz="1000" dirty="0">
                <a:solidFill>
                  <a:srgbClr val="334155"/>
                </a:solidFill>
                <a:latin typeface="Calibri" pitchFamily="34" charset="0"/>
                <a:ea typeface="Calibri" pitchFamily="34" charset="-122"/>
                <a:cs typeface="Calibri" pitchFamily="34" charset="-120"/>
              </a:rPr>
              <a:t>Read by one script, after the model is chosen; seed 42 throughout</a:t>
            </a:r>
            <a:endParaRPr lang="en-US" sz="1000" dirty="0"/>
          </a:p>
        </p:txBody>
      </p:sp>
      <p:sp>
        <p:nvSpPr>
          <p:cNvPr id="25" name="Slide Number Placeholder 0"/>
          <p:cNvSpPr>
            <a:spLocks noGrp="1"/>
          </p:cNvSpPr>
          <p:nvPr>
            <p:ph type="sldNum" sz="quarter" idx="4294967295"/>
          </p:nvPr>
        </p:nvSpPr>
        <p:spPr>
          <a:xfrm>
            <a:off x="11094415" y="6464808"/>
            <a:ext cx="5486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64748B"/>
                </a:solidFill>
                <a:latin typeface="Calibri"/>
                <a:ea typeface="Calibri"/>
                <a:cs typeface="Calibri"/>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64008" cy="713232"/>
          </a:xfrm>
          <a:prstGeom prst="rect">
            <a:avLst/>
          </a:prstGeom>
          <a:solidFill>
            <a:srgbClr val="2563EB"/>
          </a:solidFill>
          <a:ln/>
        </p:spPr>
      </p:sp>
      <p:sp>
        <p:nvSpPr>
          <p:cNvPr id="3" name="Text 1"/>
          <p:cNvSpPr/>
          <p:nvPr/>
        </p:nvSpPr>
        <p:spPr>
          <a:xfrm>
            <a:off x="749808" y="429768"/>
            <a:ext cx="7315200" cy="256032"/>
          </a:xfrm>
          <a:prstGeom prst="rect">
            <a:avLst/>
          </a:prstGeom>
          <a:noFill/>
          <a:ln/>
        </p:spPr>
        <p:txBody>
          <a:bodyPr wrap="square" lIns="0" tIns="0" rIns="0" bIns="0" rtlCol="0" anchor="t"/>
          <a:lstStyle/>
          <a:p>
            <a:pPr indent="0" marL="0">
              <a:buNone/>
            </a:pPr>
            <a:r>
              <a:rPr lang="en-US" sz="1100" b="1" spc="200" kern="0" dirty="0">
                <a:solidFill>
                  <a:srgbClr val="2563EB"/>
                </a:solidFill>
                <a:latin typeface="Calibri" pitchFamily="34" charset="0"/>
                <a:ea typeface="Calibri" pitchFamily="34" charset="-122"/>
                <a:cs typeface="Calibri" pitchFamily="34" charset="-120"/>
              </a:rPr>
              <a:t>METHODOLOGY, PREPROCESSING &amp; FEATURES</a:t>
            </a:r>
            <a:endParaRPr lang="en-US" sz="1100" dirty="0"/>
          </a:p>
        </p:txBody>
      </p:sp>
      <p:sp>
        <p:nvSpPr>
          <p:cNvPr id="4" name="Text 2"/>
          <p:cNvSpPr/>
          <p:nvPr/>
        </p:nvSpPr>
        <p:spPr>
          <a:xfrm>
            <a:off x="749808" y="676656"/>
            <a:ext cx="8229600" cy="512064"/>
          </a:xfrm>
          <a:prstGeom prst="rect">
            <a:avLst/>
          </a:prstGeom>
          <a:noFill/>
          <a:ln/>
        </p:spPr>
        <p:txBody>
          <a:bodyPr wrap="square" lIns="0" tIns="0" rIns="0" bIns="0" rtlCol="0" anchor="ctr"/>
          <a:lstStyle/>
          <a:p>
            <a:pPr indent="0" marL="0">
              <a:buNone/>
            </a:pPr>
            <a:r>
              <a:rPr lang="en-US" sz="2800" b="1" dirty="0">
                <a:solidFill>
                  <a:srgbClr val="0B1B3A"/>
                </a:solidFill>
                <a:latin typeface="Calibri" pitchFamily="34" charset="0"/>
                <a:ea typeface="Calibri" pitchFamily="34" charset="-122"/>
                <a:cs typeface="Calibri" pitchFamily="34" charset="-120"/>
              </a:rPr>
              <a:t>Data Cleaning and Preprocessing</a:t>
            </a:r>
            <a:endParaRPr lang="en-US" sz="2800" dirty="0"/>
          </a:p>
        </p:txBody>
      </p:sp>
      <p:sp>
        <p:nvSpPr>
          <p:cNvPr id="5" name="Text 3"/>
          <p:cNvSpPr/>
          <p:nvPr/>
        </p:nvSpPr>
        <p:spPr>
          <a:xfrm>
            <a:off x="8945575" y="548640"/>
            <a:ext cx="2697480" cy="365760"/>
          </a:xfrm>
          <a:prstGeom prst="roundRect">
            <a:avLst>
              <a:gd name="adj" fmla="val 50000"/>
            </a:avLst>
          </a:prstGeom>
          <a:solidFill>
            <a:srgbClr val="EFF5FF"/>
          </a:solidFill>
          <a:ln w="9525">
            <a:solidFill>
              <a:srgbClr val="D2E2FD"/>
            </a:solid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Member 2</a:t>
            </a:r>
            <a:pPr algn="ctr" indent="0" marL="0">
              <a:buNone/>
            </a:pPr>
            <a:r>
              <a:rPr lang="en-US" sz="1100" b="1" dirty="0">
                <a:solidFill>
                  <a:srgbClr val="334155"/>
                </a:solidFill>
                <a:latin typeface="Calibri" pitchFamily="34" charset="0"/>
                <a:ea typeface="Calibri" pitchFamily="34" charset="-122"/>
                <a:cs typeface="Calibri" pitchFamily="34" charset="-120"/>
              </a:rPr>
              <a:t>   Yoosuf A.A</a:t>
            </a:r>
            <a:endParaRPr lang="en-US" sz="1100" dirty="0"/>
          </a:p>
        </p:txBody>
      </p:sp>
      <p:sp>
        <p:nvSpPr>
          <p:cNvPr id="7" name="Text 4"/>
          <p:cNvSpPr/>
          <p:nvPr/>
        </p:nvSpPr>
        <p:spPr>
          <a:xfrm>
            <a:off x="548640" y="1417320"/>
            <a:ext cx="6035040" cy="237744"/>
          </a:xfrm>
          <a:prstGeom prst="rect">
            <a:avLst/>
          </a:prstGeom>
          <a:noFill/>
          <a:ln/>
        </p:spPr>
        <p:txBody>
          <a:bodyPr wrap="square" lIns="0" tIns="0" rIns="0" bIns="0" rtlCol="0" anchor="ctr"/>
          <a:lstStyle/>
          <a:p>
            <a:pPr indent="0" marL="0">
              <a:buNone/>
            </a:pPr>
            <a:r>
              <a:rPr lang="en-US" sz="1050" b="1" spc="150" kern="0" dirty="0">
                <a:solidFill>
                  <a:srgbClr val="64748B"/>
                </a:solidFill>
                <a:latin typeface="Calibri" pitchFamily="34" charset="0"/>
                <a:ea typeface="Calibri" pitchFamily="34" charset="-122"/>
                <a:cs typeface="Calibri" pitchFamily="34" charset="-120"/>
              </a:rPr>
              <a:t>FROM THE RAW FILE TO THE MODELLING COHORT</a:t>
            </a:r>
            <a:endParaRPr lang="en-US" sz="1050" dirty="0"/>
          </a:p>
        </p:txBody>
      </p:sp>
      <p:sp>
        <p:nvSpPr>
          <p:cNvPr id="8" name="Text 5"/>
          <p:cNvSpPr/>
          <p:nvPr/>
        </p:nvSpPr>
        <p:spPr>
          <a:xfrm>
            <a:off x="548640" y="1755648"/>
            <a:ext cx="2697480" cy="365760"/>
          </a:xfrm>
          <a:prstGeom prst="rect">
            <a:avLst/>
          </a:prstGeom>
          <a:noFill/>
          <a:ln/>
        </p:spPr>
        <p:txBody>
          <a:bodyPr wrap="square" lIns="0" tIns="0" rIns="0" bIns="0" rtlCol="0" anchor="ctr"/>
          <a:lstStyle/>
          <a:p>
            <a:pPr algn="r" indent="0" marL="0">
              <a:lnSpc>
                <a:spcPct val="95000"/>
              </a:lnSpc>
              <a:buNone/>
            </a:pPr>
            <a:r>
              <a:rPr lang="en-US" sz="1050" dirty="0">
                <a:solidFill>
                  <a:srgbClr val="334155"/>
                </a:solidFill>
                <a:latin typeface="Calibri" pitchFamily="34" charset="0"/>
                <a:ea typeface="Calibri" pitchFamily="34" charset="-122"/>
                <a:cs typeface="Calibri" pitchFamily="34" charset="-120"/>
              </a:rPr>
              <a:t>Raw public results file</a:t>
            </a:r>
            <a:endParaRPr lang="en-US" sz="1050" dirty="0"/>
          </a:p>
        </p:txBody>
      </p:sp>
      <p:sp>
        <p:nvSpPr>
          <p:cNvPr id="9" name="Shape 6"/>
          <p:cNvSpPr/>
          <p:nvPr/>
        </p:nvSpPr>
        <p:spPr>
          <a:xfrm>
            <a:off x="3337560" y="1801368"/>
            <a:ext cx="2148840" cy="274320"/>
          </a:xfrm>
          <a:prstGeom prst="rect">
            <a:avLst/>
          </a:prstGeom>
          <a:solidFill>
            <a:srgbClr val="93B4F2"/>
          </a:solidFill>
          <a:ln/>
        </p:spPr>
      </p:sp>
      <p:sp>
        <p:nvSpPr>
          <p:cNvPr id="10" name="Text 7"/>
          <p:cNvSpPr/>
          <p:nvPr/>
        </p:nvSpPr>
        <p:spPr>
          <a:xfrm>
            <a:off x="5550408" y="1755648"/>
            <a:ext cx="640080" cy="365760"/>
          </a:xfrm>
          <a:prstGeom prst="rect">
            <a:avLst/>
          </a:prstGeom>
          <a:noFill/>
          <a:ln/>
        </p:spPr>
        <p:txBody>
          <a:bodyPr wrap="square" lIns="0" tIns="0" rIns="0" bIns="0" rtlCol="0" anchor="ctr"/>
          <a:lstStyle/>
          <a:p>
            <a:pPr indent="0" marL="0">
              <a:buNone/>
            </a:pPr>
            <a:r>
              <a:rPr lang="en-US" sz="1150" b="1" dirty="0">
                <a:solidFill>
                  <a:srgbClr val="0B1B3A"/>
                </a:solidFill>
                <a:latin typeface="Calibri" pitchFamily="34" charset="0"/>
                <a:ea typeface="Calibri" pitchFamily="34" charset="-122"/>
                <a:cs typeface="Calibri" pitchFamily="34" charset="-120"/>
              </a:rPr>
              <a:t>49,123</a:t>
            </a:r>
            <a:endParaRPr lang="en-US" sz="1150" dirty="0"/>
          </a:p>
        </p:txBody>
      </p:sp>
      <p:sp>
        <p:nvSpPr>
          <p:cNvPr id="11" name="Text 8"/>
          <p:cNvSpPr/>
          <p:nvPr/>
        </p:nvSpPr>
        <p:spPr>
          <a:xfrm>
            <a:off x="548640" y="2231136"/>
            <a:ext cx="2697480" cy="365760"/>
          </a:xfrm>
          <a:prstGeom prst="rect">
            <a:avLst/>
          </a:prstGeom>
          <a:noFill/>
          <a:ln/>
        </p:spPr>
        <p:txBody>
          <a:bodyPr wrap="square" lIns="0" tIns="0" rIns="0" bIns="0" rtlCol="0" anchor="ctr"/>
          <a:lstStyle/>
          <a:p>
            <a:pPr algn="r" indent="0" marL="0">
              <a:lnSpc>
                <a:spcPct val="95000"/>
              </a:lnSpc>
              <a:buNone/>
            </a:pPr>
            <a:r>
              <a:rPr lang="en-US" sz="1050" dirty="0">
                <a:solidFill>
                  <a:srgbClr val="334155"/>
                </a:solidFill>
                <a:latin typeface="Calibri" pitchFamily="34" charset="0"/>
                <a:ea typeface="Calibri" pitchFamily="34" charset="-122"/>
                <a:cs typeface="Calibri" pitchFamily="34" charset="-120"/>
              </a:rPr>
              <a:t>Near-empty removed (10 or fewer answered fields)</a:t>
            </a:r>
            <a:endParaRPr lang="en-US" sz="1050" dirty="0"/>
          </a:p>
        </p:txBody>
      </p:sp>
      <p:sp>
        <p:nvSpPr>
          <p:cNvPr id="12" name="Shape 9"/>
          <p:cNvSpPr/>
          <p:nvPr/>
        </p:nvSpPr>
        <p:spPr>
          <a:xfrm>
            <a:off x="3337560" y="2276856"/>
            <a:ext cx="1895387" cy="274320"/>
          </a:xfrm>
          <a:prstGeom prst="rect">
            <a:avLst/>
          </a:prstGeom>
          <a:solidFill>
            <a:srgbClr val="2563EB"/>
          </a:solidFill>
          <a:ln/>
        </p:spPr>
      </p:sp>
      <p:sp>
        <p:nvSpPr>
          <p:cNvPr id="13" name="Text 10"/>
          <p:cNvSpPr/>
          <p:nvPr/>
        </p:nvSpPr>
        <p:spPr>
          <a:xfrm>
            <a:off x="5296955" y="2231136"/>
            <a:ext cx="640080" cy="365760"/>
          </a:xfrm>
          <a:prstGeom prst="rect">
            <a:avLst/>
          </a:prstGeom>
          <a:noFill/>
          <a:ln/>
        </p:spPr>
        <p:txBody>
          <a:bodyPr wrap="square" lIns="0" tIns="0" rIns="0" bIns="0" rtlCol="0" anchor="ctr"/>
          <a:lstStyle/>
          <a:p>
            <a:pPr indent="0" marL="0">
              <a:buNone/>
            </a:pPr>
            <a:r>
              <a:rPr lang="en-US" sz="1150" b="1" dirty="0">
                <a:solidFill>
                  <a:srgbClr val="0B1B3A"/>
                </a:solidFill>
                <a:latin typeface="Calibri" pitchFamily="34" charset="0"/>
                <a:ea typeface="Calibri" pitchFamily="34" charset="-122"/>
                <a:cs typeface="Calibri" pitchFamily="34" charset="-120"/>
              </a:rPr>
              <a:t>43,329</a:t>
            </a:r>
            <a:endParaRPr lang="en-US" sz="1150" dirty="0"/>
          </a:p>
        </p:txBody>
      </p:sp>
      <p:sp>
        <p:nvSpPr>
          <p:cNvPr id="14" name="Text 11"/>
          <p:cNvSpPr/>
          <p:nvPr/>
        </p:nvSpPr>
        <p:spPr>
          <a:xfrm>
            <a:off x="6016752" y="2231136"/>
            <a:ext cx="566928" cy="365760"/>
          </a:xfrm>
          <a:prstGeom prst="rect">
            <a:avLst/>
          </a:prstGeom>
          <a:noFill/>
          <a:ln/>
        </p:spPr>
        <p:txBody>
          <a:bodyPr wrap="square" lIns="0" tIns="0" rIns="0" bIns="0" rtlCol="0" anchor="ctr"/>
          <a:lstStyle/>
          <a:p>
            <a:pPr algn="r" indent="0" marL="0">
              <a:buNone/>
            </a:pPr>
            <a:r>
              <a:rPr lang="en-US" sz="1050" b="1" dirty="0">
                <a:solidFill>
                  <a:srgbClr val="C2410C"/>
                </a:solidFill>
                <a:latin typeface="Calibri" pitchFamily="34" charset="0"/>
                <a:ea typeface="Calibri" pitchFamily="34" charset="-122"/>
                <a:cs typeface="Calibri" pitchFamily="34" charset="-120"/>
              </a:rPr>
              <a:t>−5,794</a:t>
            </a:r>
            <a:endParaRPr lang="en-US" sz="1050" dirty="0"/>
          </a:p>
        </p:txBody>
      </p:sp>
      <p:sp>
        <p:nvSpPr>
          <p:cNvPr id="15" name="Text 12"/>
          <p:cNvSpPr/>
          <p:nvPr/>
        </p:nvSpPr>
        <p:spPr>
          <a:xfrm>
            <a:off x="548640" y="2706624"/>
            <a:ext cx="2697480" cy="365760"/>
          </a:xfrm>
          <a:prstGeom prst="rect">
            <a:avLst/>
          </a:prstGeom>
          <a:noFill/>
          <a:ln/>
        </p:spPr>
        <p:txBody>
          <a:bodyPr wrap="square" lIns="0" tIns="0" rIns="0" bIns="0" rtlCol="0" anchor="ctr"/>
          <a:lstStyle/>
          <a:p>
            <a:pPr algn="r" indent="0" marL="0">
              <a:lnSpc>
                <a:spcPct val="95000"/>
              </a:lnSpc>
              <a:buNone/>
            </a:pPr>
            <a:r>
              <a:rPr lang="en-US" sz="1050" dirty="0">
                <a:solidFill>
                  <a:srgbClr val="334155"/>
                </a:solidFill>
                <a:latin typeface="Calibri" pitchFamily="34" charset="0"/>
                <a:ea typeface="Calibri" pitchFamily="34" charset="-122"/>
                <a:cs typeface="Calibri" pitchFamily="34" charset="-120"/>
              </a:rPr>
              <a:t>Straight-liners removed (90%+ of a list ticked)</a:t>
            </a:r>
            <a:endParaRPr lang="en-US" sz="1050" dirty="0"/>
          </a:p>
        </p:txBody>
      </p:sp>
      <p:sp>
        <p:nvSpPr>
          <p:cNvPr id="16" name="Shape 13"/>
          <p:cNvSpPr/>
          <p:nvPr/>
        </p:nvSpPr>
        <p:spPr>
          <a:xfrm>
            <a:off x="3337560" y="2752344"/>
            <a:ext cx="1891581" cy="274320"/>
          </a:xfrm>
          <a:prstGeom prst="rect">
            <a:avLst/>
          </a:prstGeom>
          <a:solidFill>
            <a:srgbClr val="2563EB"/>
          </a:solidFill>
          <a:ln/>
        </p:spPr>
      </p:sp>
      <p:sp>
        <p:nvSpPr>
          <p:cNvPr id="17" name="Text 14"/>
          <p:cNvSpPr/>
          <p:nvPr/>
        </p:nvSpPr>
        <p:spPr>
          <a:xfrm>
            <a:off x="5293149" y="2706624"/>
            <a:ext cx="640080" cy="365760"/>
          </a:xfrm>
          <a:prstGeom prst="rect">
            <a:avLst/>
          </a:prstGeom>
          <a:noFill/>
          <a:ln/>
        </p:spPr>
        <p:txBody>
          <a:bodyPr wrap="square" lIns="0" tIns="0" rIns="0" bIns="0" rtlCol="0" anchor="ctr"/>
          <a:lstStyle/>
          <a:p>
            <a:pPr indent="0" marL="0">
              <a:buNone/>
            </a:pPr>
            <a:r>
              <a:rPr lang="en-US" sz="1150" b="1" dirty="0">
                <a:solidFill>
                  <a:srgbClr val="0B1B3A"/>
                </a:solidFill>
                <a:latin typeface="Calibri" pitchFamily="34" charset="0"/>
                <a:ea typeface="Calibri" pitchFamily="34" charset="-122"/>
                <a:cs typeface="Calibri" pitchFamily="34" charset="-120"/>
              </a:rPr>
              <a:t>43,242</a:t>
            </a:r>
            <a:endParaRPr lang="en-US" sz="1150" dirty="0"/>
          </a:p>
        </p:txBody>
      </p:sp>
      <p:sp>
        <p:nvSpPr>
          <p:cNvPr id="18" name="Text 15"/>
          <p:cNvSpPr/>
          <p:nvPr/>
        </p:nvSpPr>
        <p:spPr>
          <a:xfrm>
            <a:off x="6016752" y="2706624"/>
            <a:ext cx="566928" cy="365760"/>
          </a:xfrm>
          <a:prstGeom prst="rect">
            <a:avLst/>
          </a:prstGeom>
          <a:noFill/>
          <a:ln/>
        </p:spPr>
        <p:txBody>
          <a:bodyPr wrap="square" lIns="0" tIns="0" rIns="0" bIns="0" rtlCol="0" anchor="ctr"/>
          <a:lstStyle/>
          <a:p>
            <a:pPr algn="r" indent="0" marL="0">
              <a:buNone/>
            </a:pPr>
            <a:r>
              <a:rPr lang="en-US" sz="1050" b="1" dirty="0">
                <a:solidFill>
                  <a:srgbClr val="C2410C"/>
                </a:solidFill>
                <a:latin typeface="Calibri" pitchFamily="34" charset="0"/>
                <a:ea typeface="Calibri" pitchFamily="34" charset="-122"/>
                <a:cs typeface="Calibri" pitchFamily="34" charset="-120"/>
              </a:rPr>
              <a:t>−87</a:t>
            </a:r>
            <a:endParaRPr lang="en-US" sz="1050" dirty="0"/>
          </a:p>
        </p:txBody>
      </p:sp>
      <p:sp>
        <p:nvSpPr>
          <p:cNvPr id="19" name="Text 16"/>
          <p:cNvSpPr/>
          <p:nvPr/>
        </p:nvSpPr>
        <p:spPr>
          <a:xfrm>
            <a:off x="548640" y="3182112"/>
            <a:ext cx="2697480" cy="365760"/>
          </a:xfrm>
          <a:prstGeom prst="rect">
            <a:avLst/>
          </a:prstGeom>
          <a:noFill/>
          <a:ln/>
        </p:spPr>
        <p:txBody>
          <a:bodyPr wrap="square" lIns="0" tIns="0" rIns="0" bIns="0" rtlCol="0" anchor="ctr"/>
          <a:lstStyle/>
          <a:p>
            <a:pPr algn="r" indent="0" marL="0">
              <a:lnSpc>
                <a:spcPct val="95000"/>
              </a:lnSpc>
              <a:buNone/>
            </a:pPr>
            <a:r>
              <a:rPr lang="en-US" sz="1050" dirty="0">
                <a:solidFill>
                  <a:srgbClr val="334155"/>
                </a:solidFill>
                <a:latin typeface="Calibri" pitchFamily="34" charset="0"/>
                <a:ea typeface="Calibri" pitchFamily="34" charset="-122"/>
                <a:cs typeface="Calibri" pitchFamily="34" charset="-120"/>
              </a:rPr>
              <a:t>Kept: a specific developer role</a:t>
            </a:r>
            <a:endParaRPr lang="en-US" sz="1050" dirty="0"/>
          </a:p>
        </p:txBody>
      </p:sp>
      <p:sp>
        <p:nvSpPr>
          <p:cNvPr id="20" name="Shape 17"/>
          <p:cNvSpPr/>
          <p:nvPr/>
        </p:nvSpPr>
        <p:spPr>
          <a:xfrm>
            <a:off x="3337560" y="3227832"/>
            <a:ext cx="1663849" cy="274320"/>
          </a:xfrm>
          <a:prstGeom prst="rect">
            <a:avLst/>
          </a:prstGeom>
          <a:solidFill>
            <a:srgbClr val="2563EB"/>
          </a:solidFill>
          <a:ln/>
        </p:spPr>
      </p:sp>
      <p:sp>
        <p:nvSpPr>
          <p:cNvPr id="21" name="Text 18"/>
          <p:cNvSpPr/>
          <p:nvPr/>
        </p:nvSpPr>
        <p:spPr>
          <a:xfrm>
            <a:off x="5065417" y="3182112"/>
            <a:ext cx="640080" cy="365760"/>
          </a:xfrm>
          <a:prstGeom prst="rect">
            <a:avLst/>
          </a:prstGeom>
          <a:noFill/>
          <a:ln/>
        </p:spPr>
        <p:txBody>
          <a:bodyPr wrap="square" lIns="0" tIns="0" rIns="0" bIns="0" rtlCol="0" anchor="ctr"/>
          <a:lstStyle/>
          <a:p>
            <a:pPr indent="0" marL="0">
              <a:buNone/>
            </a:pPr>
            <a:r>
              <a:rPr lang="en-US" sz="1150" b="1" dirty="0">
                <a:solidFill>
                  <a:srgbClr val="0B1B3A"/>
                </a:solidFill>
                <a:latin typeface="Calibri" pitchFamily="34" charset="0"/>
                <a:ea typeface="Calibri" pitchFamily="34" charset="-122"/>
                <a:cs typeface="Calibri" pitchFamily="34" charset="-120"/>
              </a:rPr>
              <a:t>38,036</a:t>
            </a:r>
            <a:endParaRPr lang="en-US" sz="1150" dirty="0"/>
          </a:p>
        </p:txBody>
      </p:sp>
      <p:sp>
        <p:nvSpPr>
          <p:cNvPr id="22" name="Text 19"/>
          <p:cNvSpPr/>
          <p:nvPr/>
        </p:nvSpPr>
        <p:spPr>
          <a:xfrm>
            <a:off x="6016752" y="3182112"/>
            <a:ext cx="566928" cy="365760"/>
          </a:xfrm>
          <a:prstGeom prst="rect">
            <a:avLst/>
          </a:prstGeom>
          <a:noFill/>
          <a:ln/>
        </p:spPr>
        <p:txBody>
          <a:bodyPr wrap="square" lIns="0" tIns="0" rIns="0" bIns="0" rtlCol="0" anchor="ctr"/>
          <a:lstStyle/>
          <a:p>
            <a:pPr algn="r" indent="0" marL="0">
              <a:buNone/>
            </a:pPr>
            <a:r>
              <a:rPr lang="en-US" sz="1050" b="1" dirty="0">
                <a:solidFill>
                  <a:srgbClr val="C2410C"/>
                </a:solidFill>
                <a:latin typeface="Calibri" pitchFamily="34" charset="0"/>
                <a:ea typeface="Calibri" pitchFamily="34" charset="-122"/>
                <a:cs typeface="Calibri" pitchFamily="34" charset="-120"/>
              </a:rPr>
              <a:t>−5,206</a:t>
            </a:r>
            <a:endParaRPr lang="en-US" sz="1050" dirty="0"/>
          </a:p>
        </p:txBody>
      </p:sp>
      <p:sp>
        <p:nvSpPr>
          <p:cNvPr id="23" name="Text 20"/>
          <p:cNvSpPr/>
          <p:nvPr/>
        </p:nvSpPr>
        <p:spPr>
          <a:xfrm>
            <a:off x="548640" y="3657600"/>
            <a:ext cx="2697480" cy="365760"/>
          </a:xfrm>
          <a:prstGeom prst="rect">
            <a:avLst/>
          </a:prstGeom>
          <a:noFill/>
          <a:ln/>
        </p:spPr>
        <p:txBody>
          <a:bodyPr wrap="square" lIns="0" tIns="0" rIns="0" bIns="0" rtlCol="0" anchor="ctr"/>
          <a:lstStyle/>
          <a:p>
            <a:pPr algn="r" indent="0" marL="0">
              <a:lnSpc>
                <a:spcPct val="95000"/>
              </a:lnSpc>
              <a:buNone/>
            </a:pPr>
            <a:r>
              <a:rPr lang="en-US" sz="1050" dirty="0">
                <a:solidFill>
                  <a:srgbClr val="334155"/>
                </a:solidFill>
                <a:latin typeface="Calibri" pitchFamily="34" charset="0"/>
                <a:ea typeface="Calibri" pitchFamily="34" charset="-122"/>
                <a:cs typeface="Calibri" pitchFamily="34" charset="-120"/>
              </a:rPr>
              <a:t>Kept: skill-defined technical roles</a:t>
            </a:r>
            <a:endParaRPr lang="en-US" sz="1050" dirty="0"/>
          </a:p>
        </p:txBody>
      </p:sp>
      <p:sp>
        <p:nvSpPr>
          <p:cNvPr id="24" name="Shape 21"/>
          <p:cNvSpPr/>
          <p:nvPr/>
        </p:nvSpPr>
        <p:spPr>
          <a:xfrm>
            <a:off x="3337560" y="3703320"/>
            <a:ext cx="1373826" cy="274320"/>
          </a:xfrm>
          <a:prstGeom prst="rect">
            <a:avLst/>
          </a:prstGeom>
          <a:solidFill>
            <a:srgbClr val="2563EB"/>
          </a:solidFill>
          <a:ln/>
        </p:spPr>
      </p:sp>
      <p:sp>
        <p:nvSpPr>
          <p:cNvPr id="25" name="Text 22"/>
          <p:cNvSpPr/>
          <p:nvPr/>
        </p:nvSpPr>
        <p:spPr>
          <a:xfrm>
            <a:off x="4775394" y="3657600"/>
            <a:ext cx="640080" cy="365760"/>
          </a:xfrm>
          <a:prstGeom prst="rect">
            <a:avLst/>
          </a:prstGeom>
          <a:noFill/>
          <a:ln/>
        </p:spPr>
        <p:txBody>
          <a:bodyPr wrap="square" lIns="0" tIns="0" rIns="0" bIns="0" rtlCol="0" anchor="ctr"/>
          <a:lstStyle/>
          <a:p>
            <a:pPr indent="0" marL="0">
              <a:buNone/>
            </a:pPr>
            <a:r>
              <a:rPr lang="en-US" sz="1150" b="1" dirty="0">
                <a:solidFill>
                  <a:srgbClr val="0B1B3A"/>
                </a:solidFill>
                <a:latin typeface="Calibri" pitchFamily="34" charset="0"/>
                <a:ea typeface="Calibri" pitchFamily="34" charset="-122"/>
                <a:cs typeface="Calibri" pitchFamily="34" charset="-120"/>
              </a:rPr>
              <a:t>31,406</a:t>
            </a:r>
            <a:endParaRPr lang="en-US" sz="1150" dirty="0"/>
          </a:p>
        </p:txBody>
      </p:sp>
      <p:sp>
        <p:nvSpPr>
          <p:cNvPr id="26" name="Text 23"/>
          <p:cNvSpPr/>
          <p:nvPr/>
        </p:nvSpPr>
        <p:spPr>
          <a:xfrm>
            <a:off x="6016752" y="3657600"/>
            <a:ext cx="566928" cy="365760"/>
          </a:xfrm>
          <a:prstGeom prst="rect">
            <a:avLst/>
          </a:prstGeom>
          <a:noFill/>
          <a:ln/>
        </p:spPr>
        <p:txBody>
          <a:bodyPr wrap="square" lIns="0" tIns="0" rIns="0" bIns="0" rtlCol="0" anchor="ctr"/>
          <a:lstStyle/>
          <a:p>
            <a:pPr algn="r" indent="0" marL="0">
              <a:buNone/>
            </a:pPr>
            <a:r>
              <a:rPr lang="en-US" sz="1050" b="1" dirty="0">
                <a:solidFill>
                  <a:srgbClr val="C2410C"/>
                </a:solidFill>
                <a:latin typeface="Calibri" pitchFamily="34" charset="0"/>
                <a:ea typeface="Calibri" pitchFamily="34" charset="-122"/>
                <a:cs typeface="Calibri" pitchFamily="34" charset="-120"/>
              </a:rPr>
              <a:t>−6,630</a:t>
            </a:r>
            <a:endParaRPr lang="en-US" sz="1050" dirty="0"/>
          </a:p>
        </p:txBody>
      </p:sp>
      <p:sp>
        <p:nvSpPr>
          <p:cNvPr id="27" name="Text 24"/>
          <p:cNvSpPr/>
          <p:nvPr/>
        </p:nvSpPr>
        <p:spPr>
          <a:xfrm>
            <a:off x="548640" y="4133088"/>
            <a:ext cx="2697480" cy="365760"/>
          </a:xfrm>
          <a:prstGeom prst="rect">
            <a:avLst/>
          </a:prstGeom>
          <a:noFill/>
          <a:ln/>
        </p:spPr>
        <p:txBody>
          <a:bodyPr wrap="square" lIns="0" tIns="0" rIns="0" bIns="0" rtlCol="0" anchor="ctr"/>
          <a:lstStyle/>
          <a:p>
            <a:pPr algn="r" indent="0" marL="0">
              <a:lnSpc>
                <a:spcPct val="95000"/>
              </a:lnSpc>
              <a:buNone/>
            </a:pPr>
            <a:r>
              <a:rPr lang="en-US" sz="1050" b="1" dirty="0">
                <a:solidFill>
                  <a:srgbClr val="0B1B3A"/>
                </a:solidFill>
                <a:latin typeface="Calibri" pitchFamily="34" charset="0"/>
                <a:ea typeface="Calibri" pitchFamily="34" charset="-122"/>
                <a:cs typeface="Calibri" pitchFamily="34" charset="-120"/>
              </a:rPr>
              <a:t>Kept: answered the technology question</a:t>
            </a:r>
            <a:endParaRPr lang="en-US" sz="1050" dirty="0"/>
          </a:p>
        </p:txBody>
      </p:sp>
      <p:sp>
        <p:nvSpPr>
          <p:cNvPr id="28" name="Shape 25"/>
          <p:cNvSpPr/>
          <p:nvPr/>
        </p:nvSpPr>
        <p:spPr>
          <a:xfrm>
            <a:off x="3337560" y="4178808"/>
            <a:ext cx="1009263" cy="274320"/>
          </a:xfrm>
          <a:prstGeom prst="rect">
            <a:avLst/>
          </a:prstGeom>
          <a:solidFill>
            <a:srgbClr val="0B1B3A"/>
          </a:solidFill>
          <a:ln/>
        </p:spPr>
      </p:sp>
      <p:sp>
        <p:nvSpPr>
          <p:cNvPr id="29" name="Text 26"/>
          <p:cNvSpPr/>
          <p:nvPr/>
        </p:nvSpPr>
        <p:spPr>
          <a:xfrm>
            <a:off x="4410831" y="4133088"/>
            <a:ext cx="640080" cy="365760"/>
          </a:xfrm>
          <a:prstGeom prst="rect">
            <a:avLst/>
          </a:prstGeom>
          <a:noFill/>
          <a:ln/>
        </p:spPr>
        <p:txBody>
          <a:bodyPr wrap="square" lIns="0" tIns="0" rIns="0" bIns="0" rtlCol="0" anchor="ctr"/>
          <a:lstStyle/>
          <a:p>
            <a:pPr indent="0" marL="0">
              <a:buNone/>
            </a:pPr>
            <a:r>
              <a:rPr lang="en-US" sz="1150" b="1" dirty="0">
                <a:solidFill>
                  <a:srgbClr val="0B1B3A"/>
                </a:solidFill>
                <a:latin typeface="Calibri" pitchFamily="34" charset="0"/>
                <a:ea typeface="Calibri" pitchFamily="34" charset="-122"/>
                <a:cs typeface="Calibri" pitchFamily="34" charset="-120"/>
              </a:rPr>
              <a:t>23,072</a:t>
            </a:r>
            <a:endParaRPr lang="en-US" sz="1150" dirty="0"/>
          </a:p>
        </p:txBody>
      </p:sp>
      <p:sp>
        <p:nvSpPr>
          <p:cNvPr id="30" name="Text 27"/>
          <p:cNvSpPr/>
          <p:nvPr/>
        </p:nvSpPr>
        <p:spPr>
          <a:xfrm>
            <a:off x="6016752" y="4133088"/>
            <a:ext cx="566928" cy="365760"/>
          </a:xfrm>
          <a:prstGeom prst="rect">
            <a:avLst/>
          </a:prstGeom>
          <a:noFill/>
          <a:ln/>
        </p:spPr>
        <p:txBody>
          <a:bodyPr wrap="square" lIns="0" tIns="0" rIns="0" bIns="0" rtlCol="0" anchor="ctr"/>
          <a:lstStyle/>
          <a:p>
            <a:pPr algn="r" indent="0" marL="0">
              <a:buNone/>
            </a:pPr>
            <a:r>
              <a:rPr lang="en-US" sz="1050" b="1" dirty="0">
                <a:solidFill>
                  <a:srgbClr val="C2410C"/>
                </a:solidFill>
                <a:latin typeface="Calibri" pitchFamily="34" charset="0"/>
                <a:ea typeface="Calibri" pitchFamily="34" charset="-122"/>
                <a:cs typeface="Calibri" pitchFamily="34" charset="-120"/>
              </a:rPr>
              <a:t>−8,334</a:t>
            </a:r>
            <a:endParaRPr lang="en-US" sz="1050" dirty="0"/>
          </a:p>
        </p:txBody>
      </p:sp>
      <p:sp>
        <p:nvSpPr>
          <p:cNvPr id="31" name="Text 28"/>
          <p:cNvSpPr/>
          <p:nvPr/>
        </p:nvSpPr>
        <p:spPr>
          <a:xfrm>
            <a:off x="5897880" y="1481328"/>
            <a:ext cx="685800" cy="219456"/>
          </a:xfrm>
          <a:prstGeom prst="rect">
            <a:avLst/>
          </a:prstGeom>
          <a:noFill/>
          <a:ln/>
        </p:spPr>
        <p:txBody>
          <a:bodyPr wrap="square" lIns="0" tIns="0" rIns="0" bIns="0" rtlCol="0" anchor="ctr"/>
          <a:lstStyle/>
          <a:p>
            <a:pPr algn="r" indent="0" marL="0">
              <a:buNone/>
            </a:pPr>
            <a:r>
              <a:rPr lang="en-US" sz="900" b="1" dirty="0">
                <a:solidFill>
                  <a:srgbClr val="C2410C"/>
                </a:solidFill>
                <a:latin typeface="Calibri" pitchFamily="34" charset="0"/>
                <a:ea typeface="Calibri" pitchFamily="34" charset="-122"/>
                <a:cs typeface="Calibri" pitchFamily="34" charset="-120"/>
              </a:rPr>
              <a:t>removed</a:t>
            </a:r>
            <a:endParaRPr lang="en-US" sz="900" dirty="0"/>
          </a:p>
        </p:txBody>
      </p:sp>
      <p:sp>
        <p:nvSpPr>
          <p:cNvPr id="32" name="Text 29"/>
          <p:cNvSpPr/>
          <p:nvPr/>
        </p:nvSpPr>
        <p:spPr>
          <a:xfrm>
            <a:off x="548640" y="4736592"/>
            <a:ext cx="6035040" cy="219456"/>
          </a:xfrm>
          <a:prstGeom prst="rect">
            <a:avLst/>
          </a:prstGeom>
          <a:noFill/>
          <a:ln/>
        </p:spPr>
        <p:txBody>
          <a:bodyPr wrap="square" lIns="0" tIns="0" rIns="0" bIns="0" rtlCol="0" anchor="ctr"/>
          <a:lstStyle/>
          <a:p>
            <a:pPr indent="0" marL="0">
              <a:buNone/>
            </a:pPr>
            <a:r>
              <a:rPr lang="en-US" sz="950" b="1" spc="100" kern="0" dirty="0">
                <a:solidFill>
                  <a:srgbClr val="64748B"/>
                </a:solidFill>
                <a:latin typeface="Calibri" pitchFamily="34" charset="0"/>
                <a:ea typeface="Calibri" pitchFamily="34" charset="-122"/>
                <a:cs typeface="Calibri" pitchFamily="34" charset="-120"/>
              </a:rPr>
              <a:t>STRATIFIED 80 / 20 SPLIT OF THE 23,072 (BEFORE ANYTHING IS LEARNED)</a:t>
            </a:r>
            <a:endParaRPr lang="en-US" sz="950" dirty="0"/>
          </a:p>
        </p:txBody>
      </p:sp>
      <p:sp>
        <p:nvSpPr>
          <p:cNvPr id="33" name="Text 30"/>
          <p:cNvSpPr/>
          <p:nvPr/>
        </p:nvSpPr>
        <p:spPr>
          <a:xfrm>
            <a:off x="548640" y="5010912"/>
            <a:ext cx="4800600" cy="457200"/>
          </a:xfrm>
          <a:prstGeom prst="rect">
            <a:avLst/>
          </a:prstGeom>
          <a:solidFill>
            <a:srgbClr val="0B1B3A"/>
          </a:solidFill>
          <a:ln/>
        </p:spPr>
        <p:txBody>
          <a:bodyPr wrap="square" lIns="0" tIns="0" rIns="0" bIns="0" rtlCol="0" anchor="ctr"/>
          <a:lstStyle/>
          <a:p>
            <a:pPr algn="ctr" indent="0" marL="0">
              <a:buNone/>
            </a:pPr>
            <a:r>
              <a:rPr lang="en-US" sz="1300" dirty="0">
                <a:solidFill>
                  <a:srgbClr val="9DC1FF"/>
                </a:solidFill>
                <a:latin typeface="Calibri" pitchFamily="34" charset="0"/>
                <a:ea typeface="Calibri" pitchFamily="34" charset="-122"/>
                <a:cs typeface="Calibri" pitchFamily="34" charset="-120"/>
              </a:rPr>
              <a:t>Train  </a:t>
            </a:r>
            <a:pPr algn="ctr" indent="0" marL="0">
              <a:buNone/>
            </a:pPr>
            <a:r>
              <a:rPr lang="en-US" sz="1300" b="1" dirty="0">
                <a:solidFill>
                  <a:srgbClr val="FFFFFF"/>
                </a:solidFill>
                <a:latin typeface="Calibri" pitchFamily="34" charset="0"/>
                <a:ea typeface="Calibri" pitchFamily="34" charset="-122"/>
                <a:cs typeface="Calibri" pitchFamily="34" charset="-120"/>
              </a:rPr>
              <a:t>18,457</a:t>
            </a:r>
            <a:pPr algn="ctr" indent="0" marL="0">
              <a:buNone/>
            </a:pPr>
            <a:r>
              <a:rPr lang="en-US" sz="1000" dirty="0">
                <a:solidFill>
                  <a:srgbClr val="9DC1FF"/>
                </a:solidFill>
                <a:latin typeface="Calibri" pitchFamily="34" charset="0"/>
                <a:ea typeface="Calibri" pitchFamily="34" charset="-122"/>
                <a:cs typeface="Calibri" pitchFamily="34" charset="-120"/>
              </a:rPr>
              <a:t>   cross-validation, tuning, insight tables</a:t>
            </a:r>
            <a:endParaRPr lang="en-US" sz="1300" dirty="0"/>
          </a:p>
        </p:txBody>
      </p:sp>
      <p:sp>
        <p:nvSpPr>
          <p:cNvPr id="34" name="Text 31"/>
          <p:cNvSpPr/>
          <p:nvPr/>
        </p:nvSpPr>
        <p:spPr>
          <a:xfrm>
            <a:off x="5404104" y="5010912"/>
            <a:ext cx="1179576" cy="457200"/>
          </a:xfrm>
          <a:prstGeom prst="rect">
            <a:avLst/>
          </a:prstGeom>
          <a:solidFill>
            <a:srgbClr val="2563EB"/>
          </a:solidFill>
          <a:ln/>
        </p:spPr>
        <p:txBody>
          <a:bodyPr wrap="square" lIns="0" tIns="0" rIns="0" bIns="0" rtlCol="0" anchor="ctr"/>
          <a:lstStyle/>
          <a:p>
            <a:pPr algn="ctr" indent="0" marL="0">
              <a:buNone/>
            </a:pPr>
            <a:r>
              <a:rPr lang="en-US" sz="1300" dirty="0">
                <a:solidFill>
                  <a:srgbClr val="DBE7FB"/>
                </a:solidFill>
                <a:latin typeface="Calibri" pitchFamily="34" charset="0"/>
                <a:ea typeface="Calibri" pitchFamily="34" charset="-122"/>
                <a:cs typeface="Calibri" pitchFamily="34" charset="-120"/>
              </a:rPr>
              <a:t>Test  </a:t>
            </a:r>
            <a:pPr algn="ctr" indent="0" marL="0">
              <a:buNone/>
            </a:pPr>
            <a:r>
              <a:rPr lang="en-US" sz="1300" b="1" dirty="0">
                <a:solidFill>
                  <a:srgbClr val="FFFFFF"/>
                </a:solidFill>
                <a:latin typeface="Calibri" pitchFamily="34" charset="0"/>
                <a:ea typeface="Calibri" pitchFamily="34" charset="-122"/>
                <a:cs typeface="Calibri" pitchFamily="34" charset="-120"/>
              </a:rPr>
              <a:t>4,615</a:t>
            </a:r>
            <a:endParaRPr lang="en-US" sz="1300" dirty="0"/>
          </a:p>
        </p:txBody>
      </p:sp>
      <p:sp>
        <p:nvSpPr>
          <p:cNvPr id="35" name="Text 32"/>
          <p:cNvSpPr/>
          <p:nvPr/>
        </p:nvSpPr>
        <p:spPr>
          <a:xfrm>
            <a:off x="548640" y="5541264"/>
            <a:ext cx="6035040" cy="457200"/>
          </a:xfrm>
          <a:prstGeom prst="rect">
            <a:avLst/>
          </a:prstGeom>
          <a:noFill/>
          <a:ln/>
        </p:spPr>
        <p:txBody>
          <a:bodyPr wrap="square" lIns="0" tIns="0" rIns="0" bIns="0" rtlCol="0" anchor="t"/>
          <a:lstStyle/>
          <a:p>
            <a:pPr indent="0" marL="0">
              <a:lnSpc>
                <a:spcPct val="103000"/>
              </a:lnSpc>
              <a:buNone/>
            </a:pPr>
            <a:r>
              <a:rPr lang="en-US" sz="1050" dirty="0">
                <a:solidFill>
                  <a:srgbClr val="334155"/>
                </a:solidFill>
                <a:latin typeface="Calibri" pitchFamily="34" charset="0"/>
                <a:ea typeface="Calibri" pitchFamily="34" charset="-122"/>
                <a:cs typeface="Calibri" pitchFamily="34" charset="-120"/>
              </a:rPr>
              <a:t>Stratified on JobRole, seed 42, response IDs frozen. Largest class-share gap between the two sides: 0.02 points. The smallest role keeps 12 test examples.</a:t>
            </a:r>
            <a:endParaRPr lang="en-US" sz="1050" dirty="0"/>
          </a:p>
        </p:txBody>
      </p:sp>
      <p:sp>
        <p:nvSpPr>
          <p:cNvPr id="36" name="Shape 33"/>
          <p:cNvSpPr/>
          <p:nvPr/>
        </p:nvSpPr>
        <p:spPr>
          <a:xfrm>
            <a:off x="6858000" y="1389888"/>
            <a:ext cx="4785055" cy="1536192"/>
          </a:xfrm>
          <a:prstGeom prst="roundRect">
            <a:avLst>
              <a:gd name="adj" fmla="val 5357"/>
            </a:avLst>
          </a:prstGeom>
          <a:solidFill>
            <a:srgbClr val="F6F8FB"/>
          </a:solidFill>
          <a:ln w="9525">
            <a:solidFill>
              <a:srgbClr val="DCE3EC"/>
            </a:solidFill>
            <a:prstDash val="solid"/>
          </a:ln>
        </p:spPr>
      </p:sp>
      <p:sp>
        <p:nvSpPr>
          <p:cNvPr id="37" name="Text 34"/>
          <p:cNvSpPr/>
          <p:nvPr/>
        </p:nvSpPr>
        <p:spPr>
          <a:xfrm>
            <a:off x="7040880" y="1481328"/>
            <a:ext cx="2743200" cy="274320"/>
          </a:xfrm>
          <a:prstGeom prst="rect">
            <a:avLst/>
          </a:prstGeom>
          <a:noFill/>
          <a:ln/>
        </p:spPr>
        <p:txBody>
          <a:bodyPr wrap="square" lIns="0" tIns="0" rIns="0" bIns="0" rtlCol="0" anchor="ctr"/>
          <a:lstStyle/>
          <a:p>
            <a:pPr indent="0" marL="0">
              <a:buNone/>
            </a:pPr>
            <a:r>
              <a:rPr lang="en-US" sz="1350" b="1" dirty="0">
                <a:solidFill>
                  <a:srgbClr val="0B1B3A"/>
                </a:solidFill>
                <a:latin typeface="Calibri" pitchFamily="34" charset="0"/>
                <a:ea typeface="Calibri" pitchFamily="34" charset="-122"/>
                <a:cs typeface="Calibri" pitchFamily="34" charset="-120"/>
              </a:rPr>
              <a:t>Deterministic cleaning</a:t>
            </a:r>
            <a:endParaRPr lang="en-US" sz="1350" dirty="0"/>
          </a:p>
        </p:txBody>
      </p:sp>
      <p:sp>
        <p:nvSpPr>
          <p:cNvPr id="38" name="Text 35"/>
          <p:cNvSpPr/>
          <p:nvPr/>
        </p:nvSpPr>
        <p:spPr>
          <a:xfrm>
            <a:off x="9539935" y="1481328"/>
            <a:ext cx="1920240" cy="274320"/>
          </a:xfrm>
          <a:prstGeom prst="rect">
            <a:avLst/>
          </a:prstGeom>
          <a:noFill/>
          <a:ln/>
        </p:spPr>
        <p:txBody>
          <a:bodyPr wrap="square" lIns="0" tIns="0" rIns="0" bIns="0" rtlCol="0" anchor="ctr"/>
          <a:lstStyle/>
          <a:p>
            <a:pPr algn="r" indent="0" marL="0">
              <a:buNone/>
            </a:pPr>
            <a:r>
              <a:rPr lang="en-US" sz="900" b="1" spc="100" kern="0" dirty="0">
                <a:solidFill>
                  <a:srgbClr val="64748B"/>
                </a:solidFill>
                <a:latin typeface="Calibri" pitchFamily="34" charset="0"/>
                <a:ea typeface="Calibri" pitchFamily="34" charset="-122"/>
                <a:cs typeface="Calibri" pitchFamily="34" charset="-120"/>
              </a:rPr>
              <a:t>BEFORE THE SPLIT</a:t>
            </a:r>
            <a:endParaRPr lang="en-US" sz="900" dirty="0"/>
          </a:p>
        </p:txBody>
      </p:sp>
      <p:sp>
        <p:nvSpPr>
          <p:cNvPr id="39" name="Text 36"/>
          <p:cNvSpPr/>
          <p:nvPr/>
        </p:nvSpPr>
        <p:spPr>
          <a:xfrm>
            <a:off x="7040880" y="1810512"/>
            <a:ext cx="4455871" cy="1060704"/>
          </a:xfrm>
          <a:prstGeom prst="rect">
            <a:avLst/>
          </a:prstGeom>
          <a:noFill/>
          <a:ln/>
        </p:spPr>
        <p:txBody>
          <a:bodyPr wrap="square" lIns="0" tIns="0" rIns="0" bIns="0" rtlCol="0" anchor="t"/>
          <a:lstStyle/>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Rules use questionnaire facts (38 of 42 languages), not data statistics, so they cannot leak</a:t>
            </a:r>
            <a:endParaRPr lang="en-US" sz="1050" dirty="0"/>
          </a:p>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Blank work experience → 0 when years coding is given (2,919 rows, per the survey’s instruction)</a:t>
            </a:r>
            <a:endParaRPr lang="en-US" sz="1050" dirty="0"/>
          </a:p>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Experience impossible for the age band → missing (73 + 100 values)</a:t>
            </a:r>
            <a:endParaRPr lang="en-US" sz="1050" dirty="0"/>
          </a:p>
        </p:txBody>
      </p:sp>
      <p:sp>
        <p:nvSpPr>
          <p:cNvPr id="40" name="Shape 37"/>
          <p:cNvSpPr/>
          <p:nvPr/>
        </p:nvSpPr>
        <p:spPr>
          <a:xfrm>
            <a:off x="6858000" y="3035808"/>
            <a:ext cx="4785055" cy="1536192"/>
          </a:xfrm>
          <a:prstGeom prst="roundRect">
            <a:avLst>
              <a:gd name="adj" fmla="val 5357"/>
            </a:avLst>
          </a:prstGeom>
          <a:solidFill>
            <a:srgbClr val="EFF5FF"/>
          </a:solidFill>
          <a:ln w="9525">
            <a:solidFill>
              <a:srgbClr val="D2E2FD"/>
            </a:solidFill>
            <a:prstDash val="solid"/>
          </a:ln>
        </p:spPr>
      </p:sp>
      <p:sp>
        <p:nvSpPr>
          <p:cNvPr id="41" name="Text 38"/>
          <p:cNvSpPr/>
          <p:nvPr/>
        </p:nvSpPr>
        <p:spPr>
          <a:xfrm>
            <a:off x="7040880" y="3127248"/>
            <a:ext cx="2743200" cy="274320"/>
          </a:xfrm>
          <a:prstGeom prst="rect">
            <a:avLst/>
          </a:prstGeom>
          <a:noFill/>
          <a:ln/>
        </p:spPr>
        <p:txBody>
          <a:bodyPr wrap="square" lIns="0" tIns="0" rIns="0" bIns="0" rtlCol="0" anchor="ctr"/>
          <a:lstStyle/>
          <a:p>
            <a:pPr indent="0" marL="0">
              <a:buNone/>
            </a:pPr>
            <a:r>
              <a:rPr lang="en-US" sz="1350" b="1" dirty="0">
                <a:solidFill>
                  <a:srgbClr val="2563EB"/>
                </a:solidFill>
                <a:latin typeface="Calibri" pitchFamily="34" charset="0"/>
                <a:ea typeface="Calibri" pitchFamily="34" charset="-122"/>
                <a:cs typeface="Calibri" pitchFamily="34" charset="-120"/>
              </a:rPr>
              <a:t>Missing values and encoding</a:t>
            </a:r>
            <a:endParaRPr lang="en-US" sz="1350" dirty="0"/>
          </a:p>
        </p:txBody>
      </p:sp>
      <p:sp>
        <p:nvSpPr>
          <p:cNvPr id="42" name="Text 39"/>
          <p:cNvSpPr/>
          <p:nvPr/>
        </p:nvSpPr>
        <p:spPr>
          <a:xfrm>
            <a:off x="9539935" y="3127248"/>
            <a:ext cx="1920240" cy="274320"/>
          </a:xfrm>
          <a:prstGeom prst="rect">
            <a:avLst/>
          </a:prstGeom>
          <a:noFill/>
          <a:ln/>
        </p:spPr>
        <p:txBody>
          <a:bodyPr wrap="square" lIns="0" tIns="0" rIns="0" bIns="0" rtlCol="0" anchor="ctr"/>
          <a:lstStyle/>
          <a:p>
            <a:pPr algn="r" indent="0" marL="0">
              <a:buNone/>
            </a:pPr>
            <a:r>
              <a:rPr lang="en-US" sz="900" b="1" spc="100" kern="0" dirty="0">
                <a:solidFill>
                  <a:srgbClr val="64748B"/>
                </a:solidFill>
                <a:latin typeface="Calibri" pitchFamily="34" charset="0"/>
                <a:ea typeface="Calibri" pitchFamily="34" charset="-122"/>
                <a:cs typeface="Calibri" pitchFamily="34" charset="-120"/>
              </a:rPr>
              <a:t>FITTED ON TRAINING ROWS</a:t>
            </a:r>
            <a:endParaRPr lang="en-US" sz="900" dirty="0"/>
          </a:p>
        </p:txBody>
      </p:sp>
      <p:sp>
        <p:nvSpPr>
          <p:cNvPr id="43" name="Text 40"/>
          <p:cNvSpPr/>
          <p:nvPr/>
        </p:nvSpPr>
        <p:spPr>
          <a:xfrm>
            <a:off x="7040880" y="3456432"/>
            <a:ext cx="4455871" cy="1060704"/>
          </a:xfrm>
          <a:prstGeom prst="rect">
            <a:avLst/>
          </a:prstGeom>
          <a:noFill/>
          <a:ln/>
        </p:spPr>
        <p:txBody>
          <a:bodyPr wrap="square" lIns="0" tIns="0" rIns="0" bIns="0" rtlCol="0" anchor="t"/>
          <a:lstStyle/>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Technology lists: 0/1 flags plus an “unknown” indicator; technologies are never imputed</a:t>
            </a:r>
            <a:endParaRPr lang="en-US" sz="1050" dirty="0"/>
          </a:p>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Years and ordinal scales: training median plus a missing-indicator column</a:t>
            </a:r>
            <a:endParaRPr lang="en-US" sz="1050" dirty="0"/>
          </a:p>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Rare technologies (&lt; 0.5%) pooled into OTHER; 177 countries → 13 regions</a:t>
            </a:r>
            <a:endParaRPr lang="en-US" sz="1050" dirty="0"/>
          </a:p>
        </p:txBody>
      </p:sp>
      <p:sp>
        <p:nvSpPr>
          <p:cNvPr id="44" name="Shape 41"/>
          <p:cNvSpPr/>
          <p:nvPr/>
        </p:nvSpPr>
        <p:spPr>
          <a:xfrm>
            <a:off x="6858000" y="4681728"/>
            <a:ext cx="4785055" cy="1536192"/>
          </a:xfrm>
          <a:prstGeom prst="roundRect">
            <a:avLst>
              <a:gd name="adj" fmla="val 5357"/>
            </a:avLst>
          </a:prstGeom>
          <a:solidFill>
            <a:srgbClr val="ECFDF5"/>
          </a:solidFill>
          <a:ln w="9525">
            <a:solidFill>
              <a:srgbClr val="B7E9D2"/>
            </a:solidFill>
            <a:prstDash val="solid"/>
          </a:ln>
        </p:spPr>
      </p:sp>
      <p:sp>
        <p:nvSpPr>
          <p:cNvPr id="45" name="Text 42"/>
          <p:cNvSpPr/>
          <p:nvPr/>
        </p:nvSpPr>
        <p:spPr>
          <a:xfrm>
            <a:off x="7040880" y="4773168"/>
            <a:ext cx="2743200" cy="274320"/>
          </a:xfrm>
          <a:prstGeom prst="rect">
            <a:avLst/>
          </a:prstGeom>
          <a:noFill/>
          <a:ln/>
        </p:spPr>
        <p:txBody>
          <a:bodyPr wrap="square" lIns="0" tIns="0" rIns="0" bIns="0" rtlCol="0" anchor="ctr"/>
          <a:lstStyle/>
          <a:p>
            <a:pPr indent="0" marL="0">
              <a:buNone/>
            </a:pPr>
            <a:r>
              <a:rPr lang="en-US" sz="1350" b="1" dirty="0">
                <a:solidFill>
                  <a:srgbClr val="047857"/>
                </a:solidFill>
                <a:latin typeface="Calibri" pitchFamily="34" charset="0"/>
                <a:ea typeface="Calibri" pitchFamily="34" charset="-122"/>
                <a:cs typeface="Calibri" pitchFamily="34" charset="-120"/>
              </a:rPr>
              <a:t>Leakage prevention</a:t>
            </a:r>
            <a:endParaRPr lang="en-US" sz="1350" dirty="0"/>
          </a:p>
        </p:txBody>
      </p:sp>
      <p:sp>
        <p:nvSpPr>
          <p:cNvPr id="46" name="Text 43"/>
          <p:cNvSpPr/>
          <p:nvPr/>
        </p:nvSpPr>
        <p:spPr>
          <a:xfrm>
            <a:off x="9539935" y="4773168"/>
            <a:ext cx="1920240" cy="274320"/>
          </a:xfrm>
          <a:prstGeom prst="rect">
            <a:avLst/>
          </a:prstGeom>
          <a:noFill/>
          <a:ln/>
        </p:spPr>
        <p:txBody>
          <a:bodyPr wrap="square" lIns="0" tIns="0" rIns="0" bIns="0" rtlCol="0" anchor="ctr"/>
          <a:lstStyle/>
          <a:p>
            <a:pPr algn="r" indent="0" marL="0">
              <a:buNone/>
            </a:pPr>
            <a:r>
              <a:rPr lang="en-US" sz="900" b="1" spc="100" kern="0" dirty="0">
                <a:solidFill>
                  <a:srgbClr val="64748B"/>
                </a:solidFill>
                <a:latin typeface="Calibri" pitchFamily="34" charset="0"/>
                <a:ea typeface="Calibri" pitchFamily="34" charset="-122"/>
                <a:cs typeface="Calibri" pitchFamily="34" charset="-120"/>
              </a:rPr>
              <a:t>CHECKED BY UNIT TESTS</a:t>
            </a:r>
            <a:endParaRPr lang="en-US" sz="900" dirty="0"/>
          </a:p>
        </p:txBody>
      </p:sp>
      <p:sp>
        <p:nvSpPr>
          <p:cNvPr id="47" name="Text 44"/>
          <p:cNvSpPr/>
          <p:nvPr/>
        </p:nvSpPr>
        <p:spPr>
          <a:xfrm>
            <a:off x="7040880" y="5102352"/>
            <a:ext cx="4455871" cy="1060704"/>
          </a:xfrm>
          <a:prstGeom prst="rect">
            <a:avLst/>
          </a:prstGeom>
          <a:noFill/>
          <a:ln/>
        </p:spPr>
        <p:txBody>
          <a:bodyPr wrap="square" lIns="0" tIns="0" rIns="0" bIns="0" rtlCol="0" anchor="t"/>
          <a:lstStyle/>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Target, pay source columns and Age are never model inputs</a:t>
            </a:r>
            <a:endParaRPr lang="en-US" sz="1050" dirty="0"/>
          </a:p>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The preprocessor sits inside the model, so every cross-validation fold refits it</a:t>
            </a:r>
            <a:endParaRPr lang="en-US" sz="1050" dirty="0"/>
          </a:p>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Salary, AI and skill tables exclude the 4,615 test respondents</a:t>
            </a:r>
            <a:endParaRPr lang="en-US" sz="1050" dirty="0"/>
          </a:p>
        </p:txBody>
      </p:sp>
      <p:sp>
        <p:nvSpPr>
          <p:cNvPr id="25" name="Slide Number Placeholder 0"/>
          <p:cNvSpPr>
            <a:spLocks noGrp="1"/>
          </p:cNvSpPr>
          <p:nvPr>
            <p:ph type="sldNum" sz="quarter" idx="4294967295"/>
          </p:nvPr>
        </p:nvSpPr>
        <p:spPr>
          <a:xfrm>
            <a:off x="11094415" y="6464808"/>
            <a:ext cx="5486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64748B"/>
                </a:solidFill>
                <a:latin typeface="Calibri"/>
                <a:ea typeface="Calibri"/>
                <a:cs typeface="Calibri"/>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64008" cy="713232"/>
          </a:xfrm>
          <a:prstGeom prst="rect">
            <a:avLst/>
          </a:prstGeom>
          <a:solidFill>
            <a:srgbClr val="2563EB"/>
          </a:solidFill>
          <a:ln/>
        </p:spPr>
      </p:sp>
      <p:sp>
        <p:nvSpPr>
          <p:cNvPr id="3" name="Text 1"/>
          <p:cNvSpPr/>
          <p:nvPr/>
        </p:nvSpPr>
        <p:spPr>
          <a:xfrm>
            <a:off x="749808" y="429768"/>
            <a:ext cx="7315200" cy="256032"/>
          </a:xfrm>
          <a:prstGeom prst="rect">
            <a:avLst/>
          </a:prstGeom>
          <a:noFill/>
          <a:ln/>
        </p:spPr>
        <p:txBody>
          <a:bodyPr wrap="square" lIns="0" tIns="0" rIns="0" bIns="0" rtlCol="0" anchor="t"/>
          <a:lstStyle/>
          <a:p>
            <a:pPr indent="0" marL="0">
              <a:buNone/>
            </a:pPr>
            <a:r>
              <a:rPr lang="en-US" sz="1100" b="1" spc="200" kern="0" dirty="0">
                <a:solidFill>
                  <a:srgbClr val="2563EB"/>
                </a:solidFill>
                <a:latin typeface="Calibri" pitchFamily="34" charset="0"/>
                <a:ea typeface="Calibri" pitchFamily="34" charset="-122"/>
                <a:cs typeface="Calibri" pitchFamily="34" charset="-120"/>
              </a:rPr>
              <a:t>METHODOLOGY, PREPROCESSING &amp; FEATURES</a:t>
            </a:r>
            <a:endParaRPr lang="en-US" sz="1100" dirty="0"/>
          </a:p>
        </p:txBody>
      </p:sp>
      <p:sp>
        <p:nvSpPr>
          <p:cNvPr id="4" name="Text 2"/>
          <p:cNvSpPr/>
          <p:nvPr/>
        </p:nvSpPr>
        <p:spPr>
          <a:xfrm>
            <a:off x="749808" y="676656"/>
            <a:ext cx="8229600" cy="512064"/>
          </a:xfrm>
          <a:prstGeom prst="rect">
            <a:avLst/>
          </a:prstGeom>
          <a:noFill/>
          <a:ln/>
        </p:spPr>
        <p:txBody>
          <a:bodyPr wrap="square" lIns="0" tIns="0" rIns="0" bIns="0" rtlCol="0" anchor="ctr"/>
          <a:lstStyle/>
          <a:p>
            <a:pPr indent="0" marL="0">
              <a:buNone/>
            </a:pPr>
            <a:r>
              <a:rPr lang="en-US" sz="2800" b="1" dirty="0">
                <a:solidFill>
                  <a:srgbClr val="0B1B3A"/>
                </a:solidFill>
                <a:latin typeface="Calibri" pitchFamily="34" charset="0"/>
                <a:ea typeface="Calibri" pitchFamily="34" charset="-122"/>
                <a:cs typeface="Calibri" pitchFamily="34" charset="-120"/>
              </a:rPr>
              <a:t>Feature Engineering and Supporting Insights</a:t>
            </a:r>
            <a:endParaRPr lang="en-US" sz="2800" dirty="0"/>
          </a:p>
        </p:txBody>
      </p:sp>
      <p:sp>
        <p:nvSpPr>
          <p:cNvPr id="5" name="Text 3"/>
          <p:cNvSpPr/>
          <p:nvPr/>
        </p:nvSpPr>
        <p:spPr>
          <a:xfrm>
            <a:off x="8945575" y="548640"/>
            <a:ext cx="2697480" cy="365760"/>
          </a:xfrm>
          <a:prstGeom prst="roundRect">
            <a:avLst>
              <a:gd name="adj" fmla="val 50000"/>
            </a:avLst>
          </a:prstGeom>
          <a:solidFill>
            <a:srgbClr val="EFF5FF"/>
          </a:solidFill>
          <a:ln w="9525">
            <a:solidFill>
              <a:srgbClr val="D2E2FD"/>
            </a:solid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Member 2</a:t>
            </a:r>
            <a:pPr algn="ctr" indent="0" marL="0">
              <a:buNone/>
            </a:pPr>
            <a:r>
              <a:rPr lang="en-US" sz="1100" b="1" dirty="0">
                <a:solidFill>
                  <a:srgbClr val="334155"/>
                </a:solidFill>
                <a:latin typeface="Calibri" pitchFamily="34" charset="0"/>
                <a:ea typeface="Calibri" pitchFamily="34" charset="-122"/>
                <a:cs typeface="Calibri" pitchFamily="34" charset="-120"/>
              </a:rPr>
              <a:t>   Yoosuf A.A</a:t>
            </a:r>
            <a:endParaRPr lang="en-US" sz="1100" dirty="0"/>
          </a:p>
        </p:txBody>
      </p:sp>
      <p:sp>
        <p:nvSpPr>
          <p:cNvPr id="7" name="Text 4"/>
          <p:cNvSpPr/>
          <p:nvPr/>
        </p:nvSpPr>
        <p:spPr>
          <a:xfrm>
            <a:off x="548640" y="1371600"/>
            <a:ext cx="11094415" cy="237744"/>
          </a:xfrm>
          <a:prstGeom prst="rect">
            <a:avLst/>
          </a:prstGeom>
          <a:noFill/>
          <a:ln/>
        </p:spPr>
        <p:txBody>
          <a:bodyPr wrap="square" lIns="0" tIns="0" rIns="0" bIns="0" rtlCol="0" anchor="ctr"/>
          <a:lstStyle/>
          <a:p>
            <a:pPr indent="0" marL="0">
              <a:buNone/>
            </a:pPr>
            <a:r>
              <a:rPr lang="en-US" sz="1050" b="1" spc="150" kern="0" dirty="0">
                <a:solidFill>
                  <a:srgbClr val="64748B"/>
                </a:solidFill>
                <a:latin typeface="Calibri" pitchFamily="34" charset="0"/>
                <a:ea typeface="Calibri" pitchFamily="34" charset="-122"/>
                <a:cs typeface="Calibri" pitchFamily="34" charset="-120"/>
              </a:rPr>
              <a:t>ONE SCIKIT-LEARN PIPELINE, FITTED ON TRAINING ROWS AND REUSED UNCHANGED BY THE WEB API</a:t>
            </a:r>
            <a:endParaRPr lang="en-US" sz="1050" dirty="0"/>
          </a:p>
        </p:txBody>
      </p:sp>
      <p:sp>
        <p:nvSpPr>
          <p:cNvPr id="8" name="Shape 5"/>
          <p:cNvSpPr/>
          <p:nvPr/>
        </p:nvSpPr>
        <p:spPr>
          <a:xfrm>
            <a:off x="548640" y="1700784"/>
            <a:ext cx="1874520" cy="1828800"/>
          </a:xfrm>
          <a:prstGeom prst="roundRect">
            <a:avLst>
              <a:gd name="adj" fmla="val 4500"/>
            </a:avLst>
          </a:prstGeom>
          <a:solidFill>
            <a:srgbClr val="F6F8FB"/>
          </a:solidFill>
          <a:ln w="9525">
            <a:solidFill>
              <a:srgbClr val="DCE3EC"/>
            </a:solidFill>
            <a:prstDash val="solid"/>
          </a:ln>
        </p:spPr>
      </p:sp>
      <p:sp>
        <p:nvSpPr>
          <p:cNvPr id="9" name="Text 6"/>
          <p:cNvSpPr/>
          <p:nvPr/>
        </p:nvSpPr>
        <p:spPr>
          <a:xfrm>
            <a:off x="685800" y="1810512"/>
            <a:ext cx="1600200" cy="457200"/>
          </a:xfrm>
          <a:prstGeom prst="rect">
            <a:avLst/>
          </a:prstGeom>
          <a:noFill/>
          <a:ln/>
        </p:spPr>
        <p:txBody>
          <a:bodyPr wrap="square" lIns="0" tIns="0" rIns="0" bIns="0" rtlCol="0" anchor="t"/>
          <a:lstStyle/>
          <a:p>
            <a:pPr indent="0" marL="0">
              <a:lnSpc>
                <a:spcPct val="98000"/>
              </a:lnSpc>
              <a:buNone/>
            </a:pPr>
            <a:r>
              <a:rPr lang="en-US" sz="1250" b="1" dirty="0">
                <a:solidFill>
                  <a:srgbClr val="0B1B3A"/>
                </a:solidFill>
                <a:latin typeface="Calibri" pitchFamily="34" charset="0"/>
                <a:ea typeface="Calibri" pitchFamily="34" charset="-122"/>
                <a:cs typeface="Calibri" pitchFamily="34" charset="-120"/>
              </a:rPr>
              <a:t>One survey-format row</a:t>
            </a:r>
            <a:endParaRPr lang="en-US" sz="1250" dirty="0"/>
          </a:p>
        </p:txBody>
      </p:sp>
      <p:sp>
        <p:nvSpPr>
          <p:cNvPr id="10" name="Text 7"/>
          <p:cNvSpPr/>
          <p:nvPr/>
        </p:nvSpPr>
        <p:spPr>
          <a:xfrm>
            <a:off x="685800" y="2340864"/>
            <a:ext cx="1627632" cy="1005840"/>
          </a:xfrm>
          <a:prstGeom prst="rect">
            <a:avLst/>
          </a:prstGeom>
          <a:noFill/>
          <a:ln/>
        </p:spPr>
        <p:txBody>
          <a:bodyPr wrap="square" lIns="0" tIns="0" rIns="0" bIns="0" rtlCol="0" anchor="t"/>
          <a:lstStyle/>
          <a:p>
            <a:pPr indent="0" marL="0">
              <a:lnSpc>
                <a:spcPct val="105000"/>
              </a:lnSpc>
              <a:buNone/>
            </a:pPr>
            <a:r>
              <a:rPr lang="en-US" sz="1050" dirty="0">
                <a:solidFill>
                  <a:srgbClr val="334155"/>
                </a:solidFill>
                <a:latin typeface="Calibri" pitchFamily="34" charset="0"/>
                <a:ea typeface="Calibri" pitchFamily="34" charset="-122"/>
                <a:cs typeface="Calibri" pitchFamily="34" charset="-120"/>
              </a:rPr>
              <a:t>Technologies used and wanted, years, education, country, AI answers</a:t>
            </a:r>
            <a:endParaRPr lang="en-US" sz="1050" dirty="0"/>
          </a:p>
        </p:txBody>
      </p:sp>
      <p:sp>
        <p:nvSpPr>
          <p:cNvPr id="11" name="Shape 8"/>
          <p:cNvSpPr/>
          <p:nvPr/>
        </p:nvSpPr>
        <p:spPr>
          <a:xfrm>
            <a:off x="2468880" y="2615184"/>
            <a:ext cx="256032" cy="0"/>
          </a:xfrm>
          <a:prstGeom prst="line">
            <a:avLst/>
          </a:prstGeom>
          <a:noFill/>
          <a:ln w="19050">
            <a:solidFill>
              <a:srgbClr val="64748B"/>
            </a:solidFill>
            <a:prstDash val="solid"/>
            <a:tailEnd type="triangle"/>
          </a:ln>
        </p:spPr>
      </p:sp>
      <p:sp>
        <p:nvSpPr>
          <p:cNvPr id="12" name="Shape 9"/>
          <p:cNvSpPr/>
          <p:nvPr/>
        </p:nvSpPr>
        <p:spPr>
          <a:xfrm>
            <a:off x="2788920" y="1700784"/>
            <a:ext cx="1783080" cy="868680"/>
          </a:xfrm>
          <a:prstGeom prst="roundRect">
            <a:avLst>
              <a:gd name="adj" fmla="val 9474"/>
            </a:avLst>
          </a:prstGeom>
          <a:solidFill>
            <a:srgbClr val="EFF5FF"/>
          </a:solidFill>
          <a:ln w="9525">
            <a:solidFill>
              <a:srgbClr val="D2E2FD"/>
            </a:solidFill>
            <a:prstDash val="solid"/>
          </a:ln>
        </p:spPr>
      </p:sp>
      <p:sp>
        <p:nvSpPr>
          <p:cNvPr id="13" name="Text 10"/>
          <p:cNvSpPr/>
          <p:nvPr/>
        </p:nvSpPr>
        <p:spPr>
          <a:xfrm>
            <a:off x="2916936" y="1773936"/>
            <a:ext cx="1563624" cy="237744"/>
          </a:xfrm>
          <a:prstGeom prst="rect">
            <a:avLst/>
          </a:prstGeom>
          <a:noFill/>
          <a:ln/>
        </p:spPr>
        <p:txBody>
          <a:bodyPr wrap="square" lIns="0" tIns="0" rIns="0" bIns="0" rtlCol="0" anchor="ctr"/>
          <a:lstStyle/>
          <a:p>
            <a:pPr indent="0" marL="0">
              <a:buNone/>
            </a:pPr>
            <a:r>
              <a:rPr lang="en-US" sz="1150" b="1" dirty="0">
                <a:solidFill>
                  <a:srgbClr val="2563EB"/>
                </a:solidFill>
                <a:latin typeface="Calibri" pitchFamily="34" charset="0"/>
                <a:ea typeface="Calibri" pitchFamily="34" charset="-122"/>
                <a:cs typeface="Calibri" pitchFamily="34" charset="-120"/>
              </a:rPr>
              <a:t>Technology flags</a:t>
            </a:r>
            <a:endParaRPr lang="en-US" sz="1150" dirty="0"/>
          </a:p>
        </p:txBody>
      </p:sp>
      <p:sp>
        <p:nvSpPr>
          <p:cNvPr id="14" name="Text 11"/>
          <p:cNvSpPr/>
          <p:nvPr/>
        </p:nvSpPr>
        <p:spPr>
          <a:xfrm>
            <a:off x="2916936" y="2029968"/>
            <a:ext cx="1581912" cy="493776"/>
          </a:xfrm>
          <a:prstGeom prst="rect">
            <a:avLst/>
          </a:prstGeom>
          <a:noFill/>
          <a:ln/>
        </p:spPr>
        <p:txBody>
          <a:bodyPr wrap="square" lIns="0" tIns="0" rIns="0" bIns="0" rtlCol="0" anchor="t"/>
          <a:lstStyle/>
          <a:p>
            <a:pPr indent="0" marL="0">
              <a:lnSpc>
                <a:spcPct val="100000"/>
              </a:lnSpc>
              <a:buNone/>
            </a:pPr>
            <a:r>
              <a:rPr lang="en-US" sz="950" dirty="0">
                <a:solidFill>
                  <a:srgbClr val="334155"/>
                </a:solidFill>
                <a:latin typeface="Calibri" pitchFamily="34" charset="0"/>
                <a:ea typeface="Calibri" pitchFamily="34" charset="-122"/>
                <a:cs typeface="Calibri" pitchFamily="34" charset="-120"/>
              </a:rPr>
              <a:t>403 binary columns: 7 areas × used / wanted</a:t>
            </a:r>
            <a:endParaRPr lang="en-US" sz="950" dirty="0"/>
          </a:p>
        </p:txBody>
      </p:sp>
      <p:sp>
        <p:nvSpPr>
          <p:cNvPr id="15" name="Shape 12"/>
          <p:cNvSpPr/>
          <p:nvPr/>
        </p:nvSpPr>
        <p:spPr>
          <a:xfrm>
            <a:off x="4663440" y="1700784"/>
            <a:ext cx="1783080" cy="868680"/>
          </a:xfrm>
          <a:prstGeom prst="roundRect">
            <a:avLst>
              <a:gd name="adj" fmla="val 9474"/>
            </a:avLst>
          </a:prstGeom>
          <a:solidFill>
            <a:srgbClr val="EFF5FF"/>
          </a:solidFill>
          <a:ln w="9525">
            <a:solidFill>
              <a:srgbClr val="D2E2FD"/>
            </a:solidFill>
            <a:prstDash val="solid"/>
          </a:ln>
        </p:spPr>
      </p:sp>
      <p:sp>
        <p:nvSpPr>
          <p:cNvPr id="16" name="Text 13"/>
          <p:cNvSpPr/>
          <p:nvPr/>
        </p:nvSpPr>
        <p:spPr>
          <a:xfrm>
            <a:off x="4791456" y="1773936"/>
            <a:ext cx="1563624" cy="237744"/>
          </a:xfrm>
          <a:prstGeom prst="rect">
            <a:avLst/>
          </a:prstGeom>
          <a:noFill/>
          <a:ln/>
        </p:spPr>
        <p:txBody>
          <a:bodyPr wrap="square" lIns="0" tIns="0" rIns="0" bIns="0" rtlCol="0" anchor="ctr"/>
          <a:lstStyle/>
          <a:p>
            <a:pPr indent="0" marL="0">
              <a:buNone/>
            </a:pPr>
            <a:r>
              <a:rPr lang="en-US" sz="1150" b="1" dirty="0">
                <a:solidFill>
                  <a:srgbClr val="2563EB"/>
                </a:solidFill>
                <a:latin typeface="Calibri" pitchFamily="34" charset="0"/>
                <a:ea typeface="Calibri" pitchFamily="34" charset="-122"/>
                <a:cs typeface="Calibri" pitchFamily="34" charset="-120"/>
              </a:rPr>
              <a:t>Rare pooling</a:t>
            </a:r>
            <a:endParaRPr lang="en-US" sz="1150" dirty="0"/>
          </a:p>
        </p:txBody>
      </p:sp>
      <p:sp>
        <p:nvSpPr>
          <p:cNvPr id="17" name="Text 14"/>
          <p:cNvSpPr/>
          <p:nvPr/>
        </p:nvSpPr>
        <p:spPr>
          <a:xfrm>
            <a:off x="4791456" y="2029968"/>
            <a:ext cx="1581912" cy="493776"/>
          </a:xfrm>
          <a:prstGeom prst="rect">
            <a:avLst/>
          </a:prstGeom>
          <a:noFill/>
          <a:ln/>
        </p:spPr>
        <p:txBody>
          <a:bodyPr wrap="square" lIns="0" tIns="0" rIns="0" bIns="0" rtlCol="0" anchor="t"/>
          <a:lstStyle/>
          <a:p>
            <a:pPr indent="0" marL="0">
              <a:lnSpc>
                <a:spcPct val="100000"/>
              </a:lnSpc>
              <a:buNone/>
            </a:pPr>
            <a:r>
              <a:rPr lang="en-US" sz="950" dirty="0">
                <a:solidFill>
                  <a:srgbClr val="334155"/>
                </a:solidFill>
                <a:latin typeface="Calibri" pitchFamily="34" charset="0"/>
                <a:ea typeface="Calibri" pitchFamily="34" charset="-122"/>
                <a:cs typeface="Calibri" pitchFamily="34" charset="-120"/>
              </a:rPr>
              <a:t>Chosen by &lt; 0.5% → OTHER; absorbs unseen values</a:t>
            </a:r>
            <a:endParaRPr lang="en-US" sz="950" dirty="0"/>
          </a:p>
        </p:txBody>
      </p:sp>
      <p:sp>
        <p:nvSpPr>
          <p:cNvPr id="18" name="Shape 15"/>
          <p:cNvSpPr/>
          <p:nvPr/>
        </p:nvSpPr>
        <p:spPr>
          <a:xfrm>
            <a:off x="6537960" y="1700784"/>
            <a:ext cx="1783080" cy="868680"/>
          </a:xfrm>
          <a:prstGeom prst="roundRect">
            <a:avLst>
              <a:gd name="adj" fmla="val 9474"/>
            </a:avLst>
          </a:prstGeom>
          <a:solidFill>
            <a:srgbClr val="EFF5FF"/>
          </a:solidFill>
          <a:ln w="9525">
            <a:solidFill>
              <a:srgbClr val="D2E2FD"/>
            </a:solidFill>
            <a:prstDash val="solid"/>
          </a:ln>
        </p:spPr>
      </p:sp>
      <p:sp>
        <p:nvSpPr>
          <p:cNvPr id="19" name="Text 16"/>
          <p:cNvSpPr/>
          <p:nvPr/>
        </p:nvSpPr>
        <p:spPr>
          <a:xfrm>
            <a:off x="6665976" y="1773936"/>
            <a:ext cx="1563624" cy="237744"/>
          </a:xfrm>
          <a:prstGeom prst="rect">
            <a:avLst/>
          </a:prstGeom>
          <a:noFill/>
          <a:ln/>
        </p:spPr>
        <p:txBody>
          <a:bodyPr wrap="square" lIns="0" tIns="0" rIns="0" bIns="0" rtlCol="0" anchor="ctr"/>
          <a:lstStyle/>
          <a:p>
            <a:pPr indent="0" marL="0">
              <a:buNone/>
            </a:pPr>
            <a:r>
              <a:rPr lang="en-US" sz="1150" b="1" dirty="0">
                <a:solidFill>
                  <a:srgbClr val="2563EB"/>
                </a:solidFill>
                <a:latin typeface="Calibri" pitchFamily="34" charset="0"/>
                <a:ea typeface="Calibri" pitchFamily="34" charset="-122"/>
                <a:cs typeface="Calibri" pitchFamily="34" charset="-120"/>
              </a:rPr>
              <a:t>Unknown + counts</a:t>
            </a:r>
            <a:endParaRPr lang="en-US" sz="1150" dirty="0"/>
          </a:p>
        </p:txBody>
      </p:sp>
      <p:sp>
        <p:nvSpPr>
          <p:cNvPr id="20" name="Text 17"/>
          <p:cNvSpPr/>
          <p:nvPr/>
        </p:nvSpPr>
        <p:spPr>
          <a:xfrm>
            <a:off x="6665976" y="2029968"/>
            <a:ext cx="1581912" cy="493776"/>
          </a:xfrm>
          <a:prstGeom prst="rect">
            <a:avLst/>
          </a:prstGeom>
          <a:noFill/>
          <a:ln/>
        </p:spPr>
        <p:txBody>
          <a:bodyPr wrap="square" lIns="0" tIns="0" rIns="0" bIns="0" rtlCol="0" anchor="t"/>
          <a:lstStyle/>
          <a:p>
            <a:pPr indent="0" marL="0">
              <a:lnSpc>
                <a:spcPct val="100000"/>
              </a:lnSpc>
              <a:buNone/>
            </a:pPr>
            <a:r>
              <a:rPr lang="en-US" sz="950" dirty="0">
                <a:solidFill>
                  <a:srgbClr val="334155"/>
                </a:solidFill>
                <a:latin typeface="Calibri" pitchFamily="34" charset="0"/>
                <a:ea typeface="Calibri" pitchFamily="34" charset="-122"/>
                <a:cs typeface="Calibri" pitchFamily="34" charset="-120"/>
              </a:rPr>
              <a:t>“Unknown” indicator per list; log1p of counts</a:t>
            </a:r>
            <a:endParaRPr lang="en-US" sz="950" dirty="0"/>
          </a:p>
        </p:txBody>
      </p:sp>
      <p:sp>
        <p:nvSpPr>
          <p:cNvPr id="21" name="Shape 18"/>
          <p:cNvSpPr/>
          <p:nvPr/>
        </p:nvSpPr>
        <p:spPr>
          <a:xfrm>
            <a:off x="2788920" y="2660904"/>
            <a:ext cx="1783080" cy="868680"/>
          </a:xfrm>
          <a:prstGeom prst="roundRect">
            <a:avLst>
              <a:gd name="adj" fmla="val 9474"/>
            </a:avLst>
          </a:prstGeom>
          <a:solidFill>
            <a:srgbClr val="EFF5FF"/>
          </a:solidFill>
          <a:ln w="9525">
            <a:solidFill>
              <a:srgbClr val="D2E2FD"/>
            </a:solidFill>
            <a:prstDash val="solid"/>
          </a:ln>
        </p:spPr>
      </p:sp>
      <p:sp>
        <p:nvSpPr>
          <p:cNvPr id="22" name="Text 19"/>
          <p:cNvSpPr/>
          <p:nvPr/>
        </p:nvSpPr>
        <p:spPr>
          <a:xfrm>
            <a:off x="2916936" y="2734056"/>
            <a:ext cx="1563624" cy="237744"/>
          </a:xfrm>
          <a:prstGeom prst="rect">
            <a:avLst/>
          </a:prstGeom>
          <a:noFill/>
          <a:ln/>
        </p:spPr>
        <p:txBody>
          <a:bodyPr wrap="square" lIns="0" tIns="0" rIns="0" bIns="0" rtlCol="0" anchor="ctr"/>
          <a:lstStyle/>
          <a:p>
            <a:pPr indent="0" marL="0">
              <a:buNone/>
            </a:pPr>
            <a:r>
              <a:rPr lang="en-US" sz="1150" b="1" dirty="0">
                <a:solidFill>
                  <a:srgbClr val="2563EB"/>
                </a:solidFill>
                <a:latin typeface="Calibri" pitchFamily="34" charset="0"/>
                <a:ea typeface="Calibri" pitchFamily="34" charset="-122"/>
                <a:cs typeface="Calibri" pitchFamily="34" charset="-120"/>
              </a:rPr>
              <a:t>Experience</a:t>
            </a:r>
            <a:endParaRPr lang="en-US" sz="1150" dirty="0"/>
          </a:p>
        </p:txBody>
      </p:sp>
      <p:sp>
        <p:nvSpPr>
          <p:cNvPr id="23" name="Text 20"/>
          <p:cNvSpPr/>
          <p:nvPr/>
        </p:nvSpPr>
        <p:spPr>
          <a:xfrm>
            <a:off x="2916936" y="2990088"/>
            <a:ext cx="1581912" cy="493776"/>
          </a:xfrm>
          <a:prstGeom prst="rect">
            <a:avLst/>
          </a:prstGeom>
          <a:noFill/>
          <a:ln/>
        </p:spPr>
        <p:txBody>
          <a:bodyPr wrap="square" lIns="0" tIns="0" rIns="0" bIns="0" rtlCol="0" anchor="t"/>
          <a:lstStyle/>
          <a:p>
            <a:pPr indent="0" marL="0">
              <a:lnSpc>
                <a:spcPct val="100000"/>
              </a:lnSpc>
              <a:buNone/>
            </a:pPr>
            <a:r>
              <a:rPr lang="en-US" sz="950" dirty="0">
                <a:solidFill>
                  <a:srgbClr val="334155"/>
                </a:solidFill>
                <a:latin typeface="Calibri" pitchFamily="34" charset="0"/>
                <a:ea typeface="Calibri" pitchFamily="34" charset="-122"/>
                <a:cs typeface="Calibri" pitchFamily="34" charset="-120"/>
              </a:rPr>
              <a:t>log1p of years, median impute, standardised</a:t>
            </a:r>
            <a:endParaRPr lang="en-US" sz="950" dirty="0"/>
          </a:p>
        </p:txBody>
      </p:sp>
      <p:sp>
        <p:nvSpPr>
          <p:cNvPr id="24" name="Shape 21"/>
          <p:cNvSpPr/>
          <p:nvPr/>
        </p:nvSpPr>
        <p:spPr>
          <a:xfrm>
            <a:off x="4663440" y="2660904"/>
            <a:ext cx="1783080" cy="868680"/>
          </a:xfrm>
          <a:prstGeom prst="roundRect">
            <a:avLst>
              <a:gd name="adj" fmla="val 9474"/>
            </a:avLst>
          </a:prstGeom>
          <a:solidFill>
            <a:srgbClr val="EFF5FF"/>
          </a:solidFill>
          <a:ln w="9525">
            <a:solidFill>
              <a:srgbClr val="D2E2FD"/>
            </a:solidFill>
            <a:prstDash val="solid"/>
          </a:ln>
        </p:spPr>
      </p:sp>
      <p:sp>
        <p:nvSpPr>
          <p:cNvPr id="25" name="Text 22"/>
          <p:cNvSpPr/>
          <p:nvPr/>
        </p:nvSpPr>
        <p:spPr>
          <a:xfrm>
            <a:off x="4791456" y="2734056"/>
            <a:ext cx="1563624" cy="237744"/>
          </a:xfrm>
          <a:prstGeom prst="rect">
            <a:avLst/>
          </a:prstGeom>
          <a:noFill/>
          <a:ln/>
        </p:spPr>
        <p:txBody>
          <a:bodyPr wrap="square" lIns="0" tIns="0" rIns="0" bIns="0" rtlCol="0" anchor="ctr"/>
          <a:lstStyle/>
          <a:p>
            <a:pPr indent="0" marL="0">
              <a:buNone/>
            </a:pPr>
            <a:r>
              <a:rPr lang="en-US" sz="1150" b="1" dirty="0">
                <a:solidFill>
                  <a:srgbClr val="2563EB"/>
                </a:solidFill>
                <a:latin typeface="Calibri" pitchFamily="34" charset="0"/>
                <a:ea typeface="Calibri" pitchFamily="34" charset="-122"/>
                <a:cs typeface="Calibri" pitchFamily="34" charset="-120"/>
              </a:rPr>
              <a:t>Ordinal scales</a:t>
            </a:r>
            <a:endParaRPr lang="en-US" sz="1150" dirty="0"/>
          </a:p>
        </p:txBody>
      </p:sp>
      <p:sp>
        <p:nvSpPr>
          <p:cNvPr id="26" name="Text 23"/>
          <p:cNvSpPr/>
          <p:nvPr/>
        </p:nvSpPr>
        <p:spPr>
          <a:xfrm>
            <a:off x="4791456" y="2990088"/>
            <a:ext cx="1581912" cy="493776"/>
          </a:xfrm>
          <a:prstGeom prst="rect">
            <a:avLst/>
          </a:prstGeom>
          <a:noFill/>
          <a:ln/>
        </p:spPr>
        <p:txBody>
          <a:bodyPr wrap="square" lIns="0" tIns="0" rIns="0" bIns="0" rtlCol="0" anchor="t"/>
          <a:lstStyle/>
          <a:p>
            <a:pPr indent="0" marL="0">
              <a:lnSpc>
                <a:spcPct val="100000"/>
              </a:lnSpc>
              <a:buNone/>
            </a:pPr>
            <a:r>
              <a:rPr lang="en-US" sz="950" dirty="0">
                <a:solidFill>
                  <a:srgbClr val="334155"/>
                </a:solidFill>
                <a:latin typeface="Calibri" pitchFamily="34" charset="0"/>
                <a:ea typeface="Calibri" pitchFamily="34" charset="-122"/>
                <a:cs typeface="Calibri" pitchFamily="34" charset="-120"/>
              </a:rPr>
              <a:t>Education, AI use, agents, trust, sentiment</a:t>
            </a:r>
            <a:endParaRPr lang="en-US" sz="950" dirty="0"/>
          </a:p>
        </p:txBody>
      </p:sp>
      <p:sp>
        <p:nvSpPr>
          <p:cNvPr id="27" name="Shape 24"/>
          <p:cNvSpPr/>
          <p:nvPr/>
        </p:nvSpPr>
        <p:spPr>
          <a:xfrm>
            <a:off x="6537960" y="2660904"/>
            <a:ext cx="1783080" cy="868680"/>
          </a:xfrm>
          <a:prstGeom prst="roundRect">
            <a:avLst>
              <a:gd name="adj" fmla="val 9474"/>
            </a:avLst>
          </a:prstGeom>
          <a:solidFill>
            <a:srgbClr val="EFF5FF"/>
          </a:solidFill>
          <a:ln w="9525">
            <a:solidFill>
              <a:srgbClr val="D2E2FD"/>
            </a:solidFill>
            <a:prstDash val="solid"/>
          </a:ln>
        </p:spPr>
      </p:sp>
      <p:sp>
        <p:nvSpPr>
          <p:cNvPr id="28" name="Text 25"/>
          <p:cNvSpPr/>
          <p:nvPr/>
        </p:nvSpPr>
        <p:spPr>
          <a:xfrm>
            <a:off x="6665976" y="2734056"/>
            <a:ext cx="1563624" cy="237744"/>
          </a:xfrm>
          <a:prstGeom prst="rect">
            <a:avLst/>
          </a:prstGeom>
          <a:noFill/>
          <a:ln/>
        </p:spPr>
        <p:txBody>
          <a:bodyPr wrap="square" lIns="0" tIns="0" rIns="0" bIns="0" rtlCol="0" anchor="ctr"/>
          <a:lstStyle/>
          <a:p>
            <a:pPr indent="0" marL="0">
              <a:buNone/>
            </a:pPr>
            <a:r>
              <a:rPr lang="en-US" sz="1150" b="1" dirty="0">
                <a:solidFill>
                  <a:srgbClr val="2563EB"/>
                </a:solidFill>
                <a:latin typeface="Calibri" pitchFamily="34" charset="0"/>
                <a:ea typeface="Calibri" pitchFamily="34" charset="-122"/>
                <a:cs typeface="Calibri" pitchFamily="34" charset="-120"/>
              </a:rPr>
              <a:t>Region</a:t>
            </a:r>
            <a:endParaRPr lang="en-US" sz="1150" dirty="0"/>
          </a:p>
        </p:txBody>
      </p:sp>
      <p:sp>
        <p:nvSpPr>
          <p:cNvPr id="29" name="Text 26"/>
          <p:cNvSpPr/>
          <p:nvPr/>
        </p:nvSpPr>
        <p:spPr>
          <a:xfrm>
            <a:off x="6665976" y="2990088"/>
            <a:ext cx="1581912" cy="493776"/>
          </a:xfrm>
          <a:prstGeom prst="rect">
            <a:avLst/>
          </a:prstGeom>
          <a:noFill/>
          <a:ln/>
        </p:spPr>
        <p:txBody>
          <a:bodyPr wrap="square" lIns="0" tIns="0" rIns="0" bIns="0" rtlCol="0" anchor="t"/>
          <a:lstStyle/>
          <a:p>
            <a:pPr indent="0" marL="0">
              <a:lnSpc>
                <a:spcPct val="100000"/>
              </a:lnSpc>
              <a:buNone/>
            </a:pPr>
            <a:r>
              <a:rPr lang="en-US" sz="950" dirty="0">
                <a:solidFill>
                  <a:srgbClr val="334155"/>
                </a:solidFill>
                <a:latin typeface="Calibri" pitchFamily="34" charset="0"/>
                <a:ea typeface="Calibri" pitchFamily="34" charset="-122"/>
                <a:cs typeface="Calibri" pitchFamily="34" charset="-120"/>
              </a:rPr>
              <a:t>177 countries → 13 regions, one-hot</a:t>
            </a:r>
            <a:endParaRPr lang="en-US" sz="950" dirty="0"/>
          </a:p>
        </p:txBody>
      </p:sp>
      <p:sp>
        <p:nvSpPr>
          <p:cNvPr id="30" name="Shape 27"/>
          <p:cNvSpPr/>
          <p:nvPr/>
        </p:nvSpPr>
        <p:spPr>
          <a:xfrm>
            <a:off x="8366760" y="2615184"/>
            <a:ext cx="256032" cy="0"/>
          </a:xfrm>
          <a:prstGeom prst="line">
            <a:avLst/>
          </a:prstGeom>
          <a:noFill/>
          <a:ln w="19050">
            <a:solidFill>
              <a:srgbClr val="64748B"/>
            </a:solidFill>
            <a:prstDash val="solid"/>
            <a:tailEnd type="triangle"/>
          </a:ln>
        </p:spPr>
      </p:sp>
      <p:sp>
        <p:nvSpPr>
          <p:cNvPr id="31" name="Shape 28"/>
          <p:cNvSpPr/>
          <p:nvPr/>
        </p:nvSpPr>
        <p:spPr>
          <a:xfrm>
            <a:off x="8686800" y="1700784"/>
            <a:ext cx="1371600" cy="1828800"/>
          </a:xfrm>
          <a:prstGeom prst="roundRect">
            <a:avLst>
              <a:gd name="adj" fmla="val 6000"/>
            </a:avLst>
          </a:prstGeom>
          <a:solidFill>
            <a:srgbClr val="0B1B3A"/>
          </a:solidFill>
          <a:ln w="9525">
            <a:solidFill>
              <a:srgbClr val="0B1B3A"/>
            </a:solidFill>
            <a:prstDash val="solid"/>
          </a:ln>
        </p:spPr>
      </p:sp>
      <p:sp>
        <p:nvSpPr>
          <p:cNvPr id="32" name="Text 29"/>
          <p:cNvSpPr/>
          <p:nvPr/>
        </p:nvSpPr>
        <p:spPr>
          <a:xfrm>
            <a:off x="8686800" y="1956816"/>
            <a:ext cx="1371600" cy="64008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479</a:t>
            </a:r>
            <a:endParaRPr lang="en-US" sz="4000" dirty="0"/>
          </a:p>
        </p:txBody>
      </p:sp>
      <p:sp>
        <p:nvSpPr>
          <p:cNvPr id="33" name="Text 30"/>
          <p:cNvSpPr/>
          <p:nvPr/>
        </p:nvSpPr>
        <p:spPr>
          <a:xfrm>
            <a:off x="8686800" y="2596896"/>
            <a:ext cx="1371600" cy="274320"/>
          </a:xfrm>
          <a:prstGeom prst="rect">
            <a:avLst/>
          </a:prstGeom>
          <a:noFill/>
          <a:ln/>
        </p:spPr>
        <p:txBody>
          <a:bodyPr wrap="square" lIns="0" tIns="0" rIns="0" bIns="0" rtlCol="0" anchor="ctr"/>
          <a:lstStyle/>
          <a:p>
            <a:pPr algn="ctr" indent="0" marL="0">
              <a:buNone/>
            </a:pPr>
            <a:r>
              <a:rPr lang="en-US" sz="1300" dirty="0">
                <a:solidFill>
                  <a:srgbClr val="9DC1FF"/>
                </a:solidFill>
                <a:latin typeface="Calibri" pitchFamily="34" charset="0"/>
                <a:ea typeface="Calibri" pitchFamily="34" charset="-122"/>
                <a:cs typeface="Calibri" pitchFamily="34" charset="-120"/>
              </a:rPr>
              <a:t>features</a:t>
            </a:r>
            <a:endParaRPr lang="en-US" sz="1300" dirty="0"/>
          </a:p>
        </p:txBody>
      </p:sp>
      <p:sp>
        <p:nvSpPr>
          <p:cNvPr id="34" name="Text 31"/>
          <p:cNvSpPr/>
          <p:nvPr/>
        </p:nvSpPr>
        <p:spPr>
          <a:xfrm>
            <a:off x="8778240" y="2980944"/>
            <a:ext cx="1188720" cy="365760"/>
          </a:xfrm>
          <a:prstGeom prst="rect">
            <a:avLst/>
          </a:prstGeom>
          <a:noFill/>
          <a:ln/>
        </p:spPr>
        <p:txBody>
          <a:bodyPr wrap="square" lIns="0" tIns="0" rIns="0" bIns="0" rtlCol="0" anchor="t"/>
          <a:lstStyle/>
          <a:p>
            <a:pPr algn="ctr" indent="0" marL="0">
              <a:buNone/>
            </a:pPr>
            <a:r>
              <a:rPr lang="en-US" sz="950" dirty="0">
                <a:solidFill>
                  <a:srgbClr val="CBD5E1"/>
                </a:solidFill>
                <a:latin typeface="Calibri" pitchFamily="34" charset="0"/>
                <a:ea typeface="Calibri" pitchFamily="34" charset="-122"/>
                <a:cs typeface="Calibri" pitchFamily="34" charset="-120"/>
              </a:rPr>
              <a:t>saved with the model</a:t>
            </a:r>
            <a:endParaRPr lang="en-US" sz="950" dirty="0"/>
          </a:p>
        </p:txBody>
      </p:sp>
      <p:sp>
        <p:nvSpPr>
          <p:cNvPr id="35" name="Shape 32"/>
          <p:cNvSpPr/>
          <p:nvPr/>
        </p:nvSpPr>
        <p:spPr>
          <a:xfrm>
            <a:off x="10104120" y="2615184"/>
            <a:ext cx="256032" cy="0"/>
          </a:xfrm>
          <a:prstGeom prst="line">
            <a:avLst/>
          </a:prstGeom>
          <a:noFill/>
          <a:ln w="19050">
            <a:solidFill>
              <a:srgbClr val="64748B"/>
            </a:solidFill>
            <a:prstDash val="solid"/>
            <a:tailEnd type="triangle"/>
          </a:ln>
        </p:spPr>
      </p:sp>
      <p:sp>
        <p:nvSpPr>
          <p:cNvPr id="36" name="Shape 33"/>
          <p:cNvSpPr/>
          <p:nvPr/>
        </p:nvSpPr>
        <p:spPr>
          <a:xfrm>
            <a:off x="10424160" y="1700784"/>
            <a:ext cx="1218895" cy="1828800"/>
          </a:xfrm>
          <a:prstGeom prst="roundRect">
            <a:avLst>
              <a:gd name="adj" fmla="val 6752"/>
            </a:avLst>
          </a:prstGeom>
          <a:solidFill>
            <a:srgbClr val="F6F8FB"/>
          </a:solidFill>
          <a:ln w="9525">
            <a:solidFill>
              <a:srgbClr val="DCE3EC"/>
            </a:solidFill>
            <a:prstDash val="solid"/>
          </a:ln>
        </p:spPr>
      </p:sp>
      <p:sp>
        <p:nvSpPr>
          <p:cNvPr id="37" name="Text 34"/>
          <p:cNvSpPr/>
          <p:nvPr/>
        </p:nvSpPr>
        <p:spPr>
          <a:xfrm>
            <a:off x="10515600" y="1929384"/>
            <a:ext cx="1036015" cy="548640"/>
          </a:xfrm>
          <a:prstGeom prst="rect">
            <a:avLst/>
          </a:prstGeom>
          <a:noFill/>
          <a:ln/>
        </p:spPr>
        <p:txBody>
          <a:bodyPr wrap="square" lIns="0" tIns="0" rIns="0" bIns="0" rtlCol="0" anchor="t"/>
          <a:lstStyle/>
          <a:p>
            <a:pPr algn="ctr" indent="0" marL="0">
              <a:lnSpc>
                <a:spcPct val="98000"/>
              </a:lnSpc>
              <a:buNone/>
            </a:pPr>
            <a:r>
              <a:rPr lang="en-US" sz="1250" b="1" dirty="0">
                <a:solidFill>
                  <a:srgbClr val="0B1B3A"/>
                </a:solidFill>
                <a:latin typeface="Calibri" pitchFamily="34" charset="0"/>
                <a:ea typeface="Calibri" pitchFamily="34" charset="-122"/>
                <a:cs typeface="Calibri" pitchFamily="34" charset="-120"/>
              </a:rPr>
              <a:t>Logistic Regression</a:t>
            </a:r>
            <a:endParaRPr lang="en-US" sz="1250" dirty="0"/>
          </a:p>
        </p:txBody>
      </p:sp>
      <p:sp>
        <p:nvSpPr>
          <p:cNvPr id="38" name="Text 35"/>
          <p:cNvSpPr/>
          <p:nvPr/>
        </p:nvSpPr>
        <p:spPr>
          <a:xfrm>
            <a:off x="10515600" y="2569464"/>
            <a:ext cx="1036015" cy="777240"/>
          </a:xfrm>
          <a:prstGeom prst="rect">
            <a:avLst/>
          </a:prstGeom>
          <a:noFill/>
          <a:ln/>
        </p:spPr>
        <p:txBody>
          <a:bodyPr wrap="square" lIns="0" tIns="0" rIns="0" bIns="0" rtlCol="0" anchor="t"/>
          <a:lstStyle/>
          <a:p>
            <a:pPr algn="ctr" indent="0" marL="0">
              <a:lnSpc>
                <a:spcPct val="103000"/>
              </a:lnSpc>
              <a:buNone/>
            </a:pPr>
            <a:r>
              <a:rPr lang="en-US" sz="1000" dirty="0">
                <a:solidFill>
                  <a:srgbClr val="334155"/>
                </a:solidFill>
                <a:latin typeface="Calibri" pitchFamily="34" charset="0"/>
                <a:ea typeface="Calibri" pitchFamily="34" charset="-122"/>
                <a:cs typeface="Calibri" pitchFamily="34" charset="-120"/>
              </a:rPr>
              <a:t>20 role probabilities, summed into 12 families</a:t>
            </a:r>
            <a:endParaRPr lang="en-US" sz="1000" dirty="0"/>
          </a:p>
        </p:txBody>
      </p:sp>
      <p:sp>
        <p:nvSpPr>
          <p:cNvPr id="39" name="Shape 36"/>
          <p:cNvSpPr/>
          <p:nvPr/>
        </p:nvSpPr>
        <p:spPr>
          <a:xfrm>
            <a:off x="548640" y="3694176"/>
            <a:ext cx="11094415" cy="713232"/>
          </a:xfrm>
          <a:prstGeom prst="roundRect">
            <a:avLst>
              <a:gd name="adj" fmla="val 11538"/>
            </a:avLst>
          </a:prstGeom>
          <a:solidFill>
            <a:srgbClr val="FFF4EC"/>
          </a:solidFill>
          <a:ln w="9525">
            <a:solidFill>
              <a:srgbClr val="FBD5B8"/>
            </a:solidFill>
            <a:prstDash val="solid"/>
          </a:ln>
        </p:spPr>
      </p:sp>
      <p:sp>
        <p:nvSpPr>
          <p:cNvPr id="40" name="Text 37"/>
          <p:cNvSpPr/>
          <p:nvPr/>
        </p:nvSpPr>
        <p:spPr>
          <a:xfrm>
            <a:off x="731520" y="3694176"/>
            <a:ext cx="2514600" cy="713232"/>
          </a:xfrm>
          <a:prstGeom prst="rect">
            <a:avLst/>
          </a:prstGeom>
          <a:noFill/>
          <a:ln/>
        </p:spPr>
        <p:txBody>
          <a:bodyPr wrap="square" lIns="0" tIns="0" rIns="0" bIns="0" rtlCol="0" anchor="ctr"/>
          <a:lstStyle/>
          <a:p>
            <a:pPr indent="0" marL="0">
              <a:buNone/>
            </a:pPr>
            <a:r>
              <a:rPr lang="en-US" sz="1300" b="1" dirty="0">
                <a:solidFill>
                  <a:srgbClr val="C2410C"/>
                </a:solidFill>
                <a:latin typeface="Calibri" pitchFamily="34" charset="0"/>
                <a:ea typeface="Calibri" pitchFamily="34" charset="-122"/>
                <a:cs typeface="Calibri" pitchFamily="34" charset="-120"/>
              </a:rPr>
              <a:t>“None” is not “not answered”</a:t>
            </a:r>
            <a:endParaRPr lang="en-US" sz="1300" dirty="0"/>
          </a:p>
        </p:txBody>
      </p:sp>
      <p:sp>
        <p:nvSpPr>
          <p:cNvPr id="41" name="Text 38"/>
          <p:cNvSpPr/>
          <p:nvPr/>
        </p:nvSpPr>
        <p:spPr>
          <a:xfrm>
            <a:off x="3291840" y="3694176"/>
            <a:ext cx="4114800" cy="713232"/>
          </a:xfrm>
          <a:prstGeom prst="rect">
            <a:avLst/>
          </a:prstGeom>
          <a:noFill/>
          <a:ln/>
        </p:spPr>
        <p:txBody>
          <a:bodyPr wrap="square" lIns="0" tIns="0" rIns="0" bIns="0" rtlCol="0" anchor="ctr"/>
          <a:lstStyle/>
          <a:p>
            <a:pPr indent="0" marL="0">
              <a:lnSpc>
                <a:spcPct val="105000"/>
              </a:lnSpc>
              <a:buNone/>
            </a:pPr>
            <a:r>
              <a:rPr lang="en-US" sz="1050" b="1" dirty="0">
                <a:solidFill>
                  <a:srgbClr val="0B1B3A"/>
                </a:solidFill>
                <a:latin typeface="Calibri" pitchFamily="34" charset="0"/>
                <a:ea typeface="Calibri" pitchFamily="34" charset="-122"/>
                <a:cs typeface="Calibri" pitchFamily="34" charset="-120"/>
              </a:rPr>
              <a:t>Empty list after answering “No” to the area</a:t>
            </a:r>
            <a:endParaRPr lang="en-US" sz="1050" dirty="0"/>
          </a:p>
          <a:p>
            <a:pPr indent="0" marL="0">
              <a:lnSpc>
                <a:spcPct val="105000"/>
              </a:lnSpc>
              <a:buNone/>
            </a:pPr>
            <a:r>
              <a:rPr lang="en-US" sz="1050" b="1" dirty="0">
                <a:solidFill>
                  <a:srgbClr val="C2410C"/>
                </a:solidFill>
                <a:latin typeface="Calibri" pitchFamily="34" charset="0"/>
                <a:ea typeface="Calibri" pitchFamily="34" charset="-122"/>
                <a:cs typeface="Calibri" pitchFamily="34" charset="-120"/>
              </a:rPr>
              <a:t>→ </a:t>
            </a:r>
            <a:pPr indent="0" marL="0">
              <a:lnSpc>
                <a:spcPct val="105000"/>
              </a:lnSpc>
              <a:buNone/>
            </a:pPr>
            <a:r>
              <a:rPr lang="en-US" sz="1050" dirty="0">
                <a:solidFill>
                  <a:srgbClr val="334155"/>
                </a:solidFill>
                <a:latin typeface="Calibri" pitchFamily="34" charset="0"/>
                <a:ea typeface="Calibri" pitchFamily="34" charset="-122"/>
                <a:cs typeface="Calibri" pitchFamily="34" charset="-120"/>
              </a:rPr>
              <a:t>true zero: every flag 0, unknown = 0</a:t>
            </a:r>
            <a:endParaRPr lang="en-US" sz="1050" dirty="0"/>
          </a:p>
        </p:txBody>
      </p:sp>
      <p:sp>
        <p:nvSpPr>
          <p:cNvPr id="42" name="Text 39"/>
          <p:cNvSpPr/>
          <p:nvPr/>
        </p:nvSpPr>
        <p:spPr>
          <a:xfrm>
            <a:off x="7516368" y="3694176"/>
            <a:ext cx="4114800" cy="713232"/>
          </a:xfrm>
          <a:prstGeom prst="rect">
            <a:avLst/>
          </a:prstGeom>
          <a:noFill/>
          <a:ln/>
        </p:spPr>
        <p:txBody>
          <a:bodyPr wrap="square" lIns="0" tIns="0" rIns="0" bIns="0" rtlCol="0" anchor="ctr"/>
          <a:lstStyle/>
          <a:p>
            <a:pPr indent="0" marL="0">
              <a:lnSpc>
                <a:spcPct val="105000"/>
              </a:lnSpc>
              <a:buNone/>
            </a:pPr>
            <a:r>
              <a:rPr lang="en-US" sz="1050" b="1" dirty="0">
                <a:solidFill>
                  <a:srgbClr val="0B1B3A"/>
                </a:solidFill>
                <a:latin typeface="Calibri" pitchFamily="34" charset="0"/>
                <a:ea typeface="Calibri" pitchFamily="34" charset="-122"/>
                <a:cs typeface="Calibri" pitchFamily="34" charset="-120"/>
              </a:rPr>
              <a:t>Empty list because the question was skipped</a:t>
            </a:r>
            <a:endParaRPr lang="en-US" sz="1050" dirty="0"/>
          </a:p>
          <a:p>
            <a:pPr indent="0" marL="0">
              <a:lnSpc>
                <a:spcPct val="105000"/>
              </a:lnSpc>
              <a:buNone/>
            </a:pPr>
            <a:r>
              <a:rPr lang="en-US" sz="1050" b="1" dirty="0">
                <a:solidFill>
                  <a:srgbClr val="C2410C"/>
                </a:solidFill>
                <a:latin typeface="Calibri" pitchFamily="34" charset="0"/>
                <a:ea typeface="Calibri" pitchFamily="34" charset="-122"/>
                <a:cs typeface="Calibri" pitchFamily="34" charset="-120"/>
              </a:rPr>
              <a:t>→ </a:t>
            </a:r>
            <a:pPr indent="0" marL="0">
              <a:lnSpc>
                <a:spcPct val="105000"/>
              </a:lnSpc>
              <a:buNone/>
            </a:pPr>
            <a:r>
              <a:rPr lang="en-US" sz="1050" dirty="0">
                <a:solidFill>
                  <a:srgbClr val="334155"/>
                </a:solidFill>
                <a:latin typeface="Calibri" pitchFamily="34" charset="0"/>
                <a:ea typeface="Calibri" pitchFamily="34" charset="-122"/>
                <a:cs typeface="Calibri" pitchFamily="34" charset="-120"/>
              </a:rPr>
              <a:t>unknown = 1, technologies never imputed</a:t>
            </a:r>
            <a:endParaRPr lang="en-US" sz="1050" dirty="0"/>
          </a:p>
        </p:txBody>
      </p:sp>
      <p:sp>
        <p:nvSpPr>
          <p:cNvPr id="43" name="Text 40"/>
          <p:cNvSpPr/>
          <p:nvPr/>
        </p:nvSpPr>
        <p:spPr>
          <a:xfrm>
            <a:off x="548640" y="4517136"/>
            <a:ext cx="11094415" cy="237744"/>
          </a:xfrm>
          <a:prstGeom prst="rect">
            <a:avLst/>
          </a:prstGeom>
          <a:noFill/>
          <a:ln/>
        </p:spPr>
        <p:txBody>
          <a:bodyPr wrap="square" lIns="0" tIns="0" rIns="0" bIns="0" rtlCol="0" anchor="ctr"/>
          <a:lstStyle/>
          <a:p>
            <a:pPr indent="0" marL="0">
              <a:buNone/>
            </a:pPr>
            <a:r>
              <a:rPr lang="en-US" sz="1050" b="1" spc="150" kern="0" dirty="0">
                <a:solidFill>
                  <a:srgbClr val="64748B"/>
                </a:solidFill>
                <a:latin typeface="Calibri" pitchFamily="34" charset="0"/>
                <a:ea typeface="Calibri" pitchFamily="34" charset="-122"/>
                <a:cs typeface="Calibri" pitchFamily="34" charset="-120"/>
              </a:rPr>
              <a:t>SUPPORTING INSIGHTS SHOWN WITH EACH ROLE (NEVER MODEL INPUTS)</a:t>
            </a:r>
            <a:endParaRPr lang="en-US" sz="1050" dirty="0"/>
          </a:p>
        </p:txBody>
      </p:sp>
      <p:sp>
        <p:nvSpPr>
          <p:cNvPr id="44" name="Shape 41"/>
          <p:cNvSpPr/>
          <p:nvPr/>
        </p:nvSpPr>
        <p:spPr>
          <a:xfrm>
            <a:off x="548640" y="4809744"/>
            <a:ext cx="3612794" cy="1444752"/>
          </a:xfrm>
          <a:prstGeom prst="roundRect">
            <a:avLst>
              <a:gd name="adj" fmla="val 5696"/>
            </a:avLst>
          </a:prstGeom>
          <a:solidFill>
            <a:srgbClr val="FFFFFF"/>
          </a:solidFill>
          <a:ln w="9525">
            <a:solidFill>
              <a:srgbClr val="DCE3EC"/>
            </a:solidFill>
            <a:prstDash val="solid"/>
          </a:ln>
        </p:spPr>
      </p:sp>
      <p:sp>
        <p:nvSpPr>
          <p:cNvPr id="45" name="Shape 42"/>
          <p:cNvSpPr/>
          <p:nvPr/>
        </p:nvSpPr>
        <p:spPr>
          <a:xfrm>
            <a:off x="713232" y="4956048"/>
            <a:ext cx="54864" cy="219456"/>
          </a:xfrm>
          <a:prstGeom prst="rect">
            <a:avLst/>
          </a:prstGeom>
          <a:solidFill>
            <a:srgbClr val="2563EB"/>
          </a:solidFill>
          <a:ln/>
        </p:spPr>
      </p:sp>
      <p:sp>
        <p:nvSpPr>
          <p:cNvPr id="46" name="Text 43"/>
          <p:cNvSpPr/>
          <p:nvPr/>
        </p:nvSpPr>
        <p:spPr>
          <a:xfrm>
            <a:off x="841248" y="4919472"/>
            <a:ext cx="3155594" cy="292608"/>
          </a:xfrm>
          <a:prstGeom prst="rect">
            <a:avLst/>
          </a:prstGeom>
          <a:noFill/>
          <a:ln/>
        </p:spPr>
        <p:txBody>
          <a:bodyPr wrap="square" lIns="0" tIns="0" rIns="0" bIns="0" rtlCol="0" anchor="ctr"/>
          <a:lstStyle/>
          <a:p>
            <a:pPr indent="0" marL="0">
              <a:buNone/>
            </a:pPr>
            <a:r>
              <a:rPr lang="en-US" sz="1300" b="1" dirty="0">
                <a:solidFill>
                  <a:srgbClr val="0B1B3A"/>
                </a:solidFill>
                <a:latin typeface="Calibri" pitchFamily="34" charset="0"/>
                <a:ea typeface="Calibri" pitchFamily="34" charset="-122"/>
                <a:cs typeface="Calibri" pitchFamily="34" charset="-120"/>
              </a:rPr>
              <a:t>AI Exposure Index</a:t>
            </a:r>
            <a:endParaRPr lang="en-US" sz="1300" dirty="0"/>
          </a:p>
        </p:txBody>
      </p:sp>
      <p:sp>
        <p:nvSpPr>
          <p:cNvPr id="47" name="Text 44"/>
          <p:cNvSpPr/>
          <p:nvPr/>
        </p:nvSpPr>
        <p:spPr>
          <a:xfrm>
            <a:off x="713232" y="5266944"/>
            <a:ext cx="3320186" cy="932688"/>
          </a:xfrm>
          <a:prstGeom prst="rect">
            <a:avLst/>
          </a:prstGeom>
          <a:noFill/>
          <a:ln/>
        </p:spPr>
        <p:txBody>
          <a:bodyPr wrap="square" lIns="0" tIns="0" rIns="0" bIns="0" rtlCol="0" anchor="t"/>
          <a:lstStyle/>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100 × mean over 13 development tasks: mostly with AI = 1, partly = 0.5</a:t>
            </a:r>
            <a:endParaRPr lang="en-US" sz="1050" dirty="0"/>
          </a:p>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All roles: 19.1 now, 39.0 with planned use; 14.4% see AI as a threat</a:t>
            </a:r>
            <a:endParaRPr lang="en-US" sz="1050" dirty="0"/>
          </a:p>
        </p:txBody>
      </p:sp>
      <p:sp>
        <p:nvSpPr>
          <p:cNvPr id="48" name="Shape 45"/>
          <p:cNvSpPr/>
          <p:nvPr/>
        </p:nvSpPr>
        <p:spPr>
          <a:xfrm>
            <a:off x="4289450" y="4809744"/>
            <a:ext cx="3612794" cy="1444752"/>
          </a:xfrm>
          <a:prstGeom prst="roundRect">
            <a:avLst>
              <a:gd name="adj" fmla="val 5696"/>
            </a:avLst>
          </a:prstGeom>
          <a:solidFill>
            <a:srgbClr val="FFFFFF"/>
          </a:solidFill>
          <a:ln w="9525">
            <a:solidFill>
              <a:srgbClr val="DCE3EC"/>
            </a:solidFill>
            <a:prstDash val="solid"/>
          </a:ln>
        </p:spPr>
      </p:sp>
      <p:sp>
        <p:nvSpPr>
          <p:cNvPr id="49" name="Shape 46"/>
          <p:cNvSpPr/>
          <p:nvPr/>
        </p:nvSpPr>
        <p:spPr>
          <a:xfrm>
            <a:off x="4454042" y="4956048"/>
            <a:ext cx="54864" cy="219456"/>
          </a:xfrm>
          <a:prstGeom prst="rect">
            <a:avLst/>
          </a:prstGeom>
          <a:solidFill>
            <a:srgbClr val="2563EB"/>
          </a:solidFill>
          <a:ln/>
        </p:spPr>
      </p:sp>
      <p:sp>
        <p:nvSpPr>
          <p:cNvPr id="50" name="Text 47"/>
          <p:cNvSpPr/>
          <p:nvPr/>
        </p:nvSpPr>
        <p:spPr>
          <a:xfrm>
            <a:off x="4582058" y="4919472"/>
            <a:ext cx="3155594" cy="292608"/>
          </a:xfrm>
          <a:prstGeom prst="rect">
            <a:avLst/>
          </a:prstGeom>
          <a:noFill/>
          <a:ln/>
        </p:spPr>
        <p:txBody>
          <a:bodyPr wrap="square" lIns="0" tIns="0" rIns="0" bIns="0" rtlCol="0" anchor="ctr"/>
          <a:lstStyle/>
          <a:p>
            <a:pPr indent="0" marL="0">
              <a:buNone/>
            </a:pPr>
            <a:r>
              <a:rPr lang="en-US" sz="1300" b="1" dirty="0">
                <a:solidFill>
                  <a:srgbClr val="0B1B3A"/>
                </a:solidFill>
                <a:latin typeface="Calibri" pitchFamily="34" charset="0"/>
                <a:ea typeface="Calibri" pitchFamily="34" charset="-122"/>
                <a:cs typeface="Calibri" pitchFamily="34" charset="-120"/>
              </a:rPr>
              <a:t>Salary peer-group benchmark</a:t>
            </a:r>
            <a:endParaRPr lang="en-US" sz="1300" dirty="0"/>
          </a:p>
        </p:txBody>
      </p:sp>
      <p:sp>
        <p:nvSpPr>
          <p:cNvPr id="51" name="Text 48"/>
          <p:cNvSpPr/>
          <p:nvPr/>
        </p:nvSpPr>
        <p:spPr>
          <a:xfrm>
            <a:off x="4454042" y="5266944"/>
            <a:ext cx="3320186" cy="932688"/>
          </a:xfrm>
          <a:prstGeom prst="rect">
            <a:avLst/>
          </a:prstGeom>
          <a:noFill/>
          <a:ln/>
        </p:spPr>
        <p:txBody>
          <a:bodyPr wrap="square" lIns="0" tIns="0" rIns="0" bIns="0" rtlCol="0" anchor="t"/>
          <a:lstStyle/>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Unit errors removed with a robust z-score of log pay within country (|z| &gt; 3.5)</a:t>
            </a:r>
            <a:endParaRPr lang="en-US" sz="1050" dirty="0"/>
          </a:p>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Median and middle half for the most specific peer group of 30 or more people</a:t>
            </a:r>
            <a:endParaRPr lang="en-US" sz="1050" dirty="0"/>
          </a:p>
        </p:txBody>
      </p:sp>
      <p:sp>
        <p:nvSpPr>
          <p:cNvPr id="52" name="Shape 49"/>
          <p:cNvSpPr/>
          <p:nvPr/>
        </p:nvSpPr>
        <p:spPr>
          <a:xfrm>
            <a:off x="8030261" y="4809744"/>
            <a:ext cx="3612794" cy="1444752"/>
          </a:xfrm>
          <a:prstGeom prst="roundRect">
            <a:avLst>
              <a:gd name="adj" fmla="val 5696"/>
            </a:avLst>
          </a:prstGeom>
          <a:solidFill>
            <a:srgbClr val="FFFFFF"/>
          </a:solidFill>
          <a:ln w="9525">
            <a:solidFill>
              <a:srgbClr val="DCE3EC"/>
            </a:solidFill>
            <a:prstDash val="solid"/>
          </a:ln>
        </p:spPr>
      </p:sp>
      <p:sp>
        <p:nvSpPr>
          <p:cNvPr id="53" name="Shape 50"/>
          <p:cNvSpPr/>
          <p:nvPr/>
        </p:nvSpPr>
        <p:spPr>
          <a:xfrm>
            <a:off x="8194853" y="4956048"/>
            <a:ext cx="54864" cy="219456"/>
          </a:xfrm>
          <a:prstGeom prst="rect">
            <a:avLst/>
          </a:prstGeom>
          <a:solidFill>
            <a:srgbClr val="2563EB"/>
          </a:solidFill>
          <a:ln/>
        </p:spPr>
      </p:sp>
      <p:sp>
        <p:nvSpPr>
          <p:cNvPr id="54" name="Text 51"/>
          <p:cNvSpPr/>
          <p:nvPr/>
        </p:nvSpPr>
        <p:spPr>
          <a:xfrm>
            <a:off x="8322869" y="4919472"/>
            <a:ext cx="3155594" cy="292608"/>
          </a:xfrm>
          <a:prstGeom prst="rect">
            <a:avLst/>
          </a:prstGeom>
          <a:noFill/>
          <a:ln/>
        </p:spPr>
        <p:txBody>
          <a:bodyPr wrap="square" lIns="0" tIns="0" rIns="0" bIns="0" rtlCol="0" anchor="ctr"/>
          <a:lstStyle/>
          <a:p>
            <a:pPr indent="0" marL="0">
              <a:buNone/>
            </a:pPr>
            <a:r>
              <a:rPr lang="en-US" sz="1300" b="1" dirty="0">
                <a:solidFill>
                  <a:srgbClr val="0B1B3A"/>
                </a:solidFill>
                <a:latin typeface="Calibri" pitchFamily="34" charset="0"/>
                <a:ea typeface="Calibri" pitchFamily="34" charset="-122"/>
                <a:cs typeface="Calibri" pitchFamily="34" charset="-120"/>
              </a:rPr>
              <a:t>Lift-based skill gap</a:t>
            </a:r>
            <a:endParaRPr lang="en-US" sz="1300" dirty="0"/>
          </a:p>
        </p:txBody>
      </p:sp>
      <p:sp>
        <p:nvSpPr>
          <p:cNvPr id="55" name="Text 52"/>
          <p:cNvSpPr/>
          <p:nvPr/>
        </p:nvSpPr>
        <p:spPr>
          <a:xfrm>
            <a:off x="8194853" y="5266944"/>
            <a:ext cx="3320186" cy="932688"/>
          </a:xfrm>
          <a:prstGeom prst="rect">
            <a:avLst/>
          </a:prstGeom>
          <a:noFill/>
          <a:ln/>
        </p:spPr>
        <p:txBody>
          <a:bodyPr wrap="square" lIns="0" tIns="0" rIns="0" bIns="0" rtlCol="0" anchor="t"/>
          <a:lstStyle/>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Lift = share of the role using a technology ÷ share across all roles</a:t>
            </a:r>
            <a:endParaRPr lang="en-US" sz="1050" dirty="0"/>
          </a:p>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Distinctive: 20%+ of the role and lift ≥ 1.1; shows up to five not yet used</a:t>
            </a:r>
            <a:endParaRPr lang="en-US" sz="1050" dirty="0"/>
          </a:p>
        </p:txBody>
      </p:sp>
      <p:sp>
        <p:nvSpPr>
          <p:cNvPr id="25" name="Slide Number Placeholder 0"/>
          <p:cNvSpPr>
            <a:spLocks noGrp="1"/>
          </p:cNvSpPr>
          <p:nvPr>
            <p:ph type="sldNum" sz="quarter" idx="4294967295"/>
          </p:nvPr>
        </p:nvSpPr>
        <p:spPr>
          <a:xfrm>
            <a:off x="11094415" y="6464808"/>
            <a:ext cx="5486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64748B"/>
                </a:solidFill>
                <a:latin typeface="Calibri"/>
                <a:ea typeface="Calibri"/>
                <a:cs typeface="Calibri"/>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57200"/>
            <a:ext cx="64008" cy="713232"/>
          </a:xfrm>
          <a:prstGeom prst="rect">
            <a:avLst/>
          </a:prstGeom>
          <a:solidFill>
            <a:srgbClr val="2563EB"/>
          </a:solidFill>
          <a:ln/>
        </p:spPr>
      </p:sp>
      <p:sp>
        <p:nvSpPr>
          <p:cNvPr id="3" name="Text 1"/>
          <p:cNvSpPr/>
          <p:nvPr/>
        </p:nvSpPr>
        <p:spPr>
          <a:xfrm>
            <a:off x="749808" y="429768"/>
            <a:ext cx="7315200" cy="256032"/>
          </a:xfrm>
          <a:prstGeom prst="rect">
            <a:avLst/>
          </a:prstGeom>
          <a:noFill/>
          <a:ln/>
        </p:spPr>
        <p:txBody>
          <a:bodyPr wrap="square" lIns="0" tIns="0" rIns="0" bIns="0" rtlCol="0" anchor="t"/>
          <a:lstStyle/>
          <a:p>
            <a:pPr indent="0" marL="0">
              <a:buNone/>
            </a:pPr>
            <a:r>
              <a:rPr lang="en-US" sz="1100" b="1" spc="200" kern="0" dirty="0">
                <a:solidFill>
                  <a:srgbClr val="2563EB"/>
                </a:solidFill>
                <a:latin typeface="Calibri" pitchFamily="34" charset="0"/>
                <a:ea typeface="Calibri" pitchFamily="34" charset="-122"/>
                <a:cs typeface="Calibri" pitchFamily="34" charset="-120"/>
              </a:rPr>
              <a:t>MODELS, OPTIMISATION &amp; RESULTS</a:t>
            </a:r>
            <a:endParaRPr lang="en-US" sz="1100" dirty="0"/>
          </a:p>
        </p:txBody>
      </p:sp>
      <p:sp>
        <p:nvSpPr>
          <p:cNvPr id="4" name="Text 2"/>
          <p:cNvSpPr/>
          <p:nvPr/>
        </p:nvSpPr>
        <p:spPr>
          <a:xfrm>
            <a:off x="749808" y="676656"/>
            <a:ext cx="8229600" cy="512064"/>
          </a:xfrm>
          <a:prstGeom prst="rect">
            <a:avLst/>
          </a:prstGeom>
          <a:noFill/>
          <a:ln/>
        </p:spPr>
        <p:txBody>
          <a:bodyPr wrap="square" lIns="0" tIns="0" rIns="0" bIns="0" rtlCol="0" anchor="ctr"/>
          <a:lstStyle/>
          <a:p>
            <a:pPr indent="0" marL="0">
              <a:buNone/>
            </a:pPr>
            <a:r>
              <a:rPr lang="en-US" sz="2800" b="1" dirty="0">
                <a:solidFill>
                  <a:srgbClr val="0B1B3A"/>
                </a:solidFill>
                <a:latin typeface="Calibri" pitchFamily="34" charset="0"/>
                <a:ea typeface="Calibri" pitchFamily="34" charset="-122"/>
                <a:cs typeface="Calibri" pitchFamily="34" charset="-120"/>
              </a:rPr>
              <a:t>Classification Algorithms and Validation</a:t>
            </a:r>
            <a:endParaRPr lang="en-US" sz="2800" dirty="0"/>
          </a:p>
        </p:txBody>
      </p:sp>
      <p:sp>
        <p:nvSpPr>
          <p:cNvPr id="5" name="Text 3"/>
          <p:cNvSpPr/>
          <p:nvPr/>
        </p:nvSpPr>
        <p:spPr>
          <a:xfrm>
            <a:off x="8945575" y="548640"/>
            <a:ext cx="2697480" cy="365760"/>
          </a:xfrm>
          <a:prstGeom prst="roundRect">
            <a:avLst>
              <a:gd name="adj" fmla="val 50000"/>
            </a:avLst>
          </a:prstGeom>
          <a:solidFill>
            <a:srgbClr val="EFF5FF"/>
          </a:solidFill>
          <a:ln w="9525">
            <a:solidFill>
              <a:srgbClr val="D2E2FD"/>
            </a:solid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Member 3</a:t>
            </a:r>
            <a:pPr algn="ctr" indent="0" marL="0">
              <a:buNone/>
            </a:pPr>
            <a:r>
              <a:rPr lang="en-US" sz="1100" b="1" dirty="0">
                <a:solidFill>
                  <a:srgbClr val="334155"/>
                </a:solidFill>
                <a:latin typeface="Calibri" pitchFamily="34" charset="0"/>
                <a:ea typeface="Calibri" pitchFamily="34" charset="-122"/>
                <a:cs typeface="Calibri" pitchFamily="34" charset="-120"/>
              </a:rPr>
              <a:t>   M G S D Wijesinghe</a:t>
            </a:r>
            <a:endParaRPr lang="en-US" sz="1100" dirty="0"/>
          </a:p>
        </p:txBody>
      </p:sp>
      <p:sp>
        <p:nvSpPr>
          <p:cNvPr id="7" name="Shape 4"/>
          <p:cNvSpPr/>
          <p:nvPr/>
        </p:nvSpPr>
        <p:spPr>
          <a:xfrm>
            <a:off x="548640" y="1389888"/>
            <a:ext cx="4983480" cy="1097280"/>
          </a:xfrm>
          <a:prstGeom prst="roundRect">
            <a:avLst>
              <a:gd name="adj" fmla="val 7500"/>
            </a:avLst>
          </a:prstGeom>
          <a:solidFill>
            <a:srgbClr val="0B1B3A"/>
          </a:solidFill>
          <a:ln w="9525">
            <a:solidFill>
              <a:srgbClr val="0B1B3A"/>
            </a:solidFill>
            <a:prstDash val="solid"/>
          </a:ln>
        </p:spPr>
      </p:sp>
      <p:sp>
        <p:nvSpPr>
          <p:cNvPr id="8" name="Text 5"/>
          <p:cNvSpPr/>
          <p:nvPr/>
        </p:nvSpPr>
        <p:spPr>
          <a:xfrm>
            <a:off x="731520" y="1444752"/>
            <a:ext cx="461772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Supervised multi-class classification</a:t>
            </a:r>
            <a:endParaRPr lang="en-US" sz="1400" dirty="0"/>
          </a:p>
        </p:txBody>
      </p:sp>
      <p:sp>
        <p:nvSpPr>
          <p:cNvPr id="9" name="Text 6"/>
          <p:cNvSpPr/>
          <p:nvPr/>
        </p:nvSpPr>
        <p:spPr>
          <a:xfrm>
            <a:off x="731520" y="1773936"/>
            <a:ext cx="1154430" cy="3657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20</a:t>
            </a:r>
            <a:endParaRPr lang="en-US" sz="1900" dirty="0"/>
          </a:p>
        </p:txBody>
      </p:sp>
      <p:sp>
        <p:nvSpPr>
          <p:cNvPr id="10" name="Text 7"/>
          <p:cNvSpPr/>
          <p:nvPr/>
        </p:nvSpPr>
        <p:spPr>
          <a:xfrm>
            <a:off x="731520" y="2139696"/>
            <a:ext cx="1154430" cy="237744"/>
          </a:xfrm>
          <a:prstGeom prst="rect">
            <a:avLst/>
          </a:prstGeom>
          <a:noFill/>
          <a:ln/>
        </p:spPr>
        <p:txBody>
          <a:bodyPr wrap="square" lIns="0" tIns="0" rIns="0" bIns="0" rtlCol="0" anchor="ctr"/>
          <a:lstStyle/>
          <a:p>
            <a:pPr indent="0" marL="0">
              <a:buNone/>
            </a:pPr>
            <a:r>
              <a:rPr lang="en-US" sz="1000" dirty="0">
                <a:solidFill>
                  <a:srgbClr val="9DC1FF"/>
                </a:solidFill>
                <a:latin typeface="Calibri" pitchFamily="34" charset="0"/>
                <a:ea typeface="Calibri" pitchFamily="34" charset="-122"/>
                <a:cs typeface="Calibri" pitchFamily="34" charset="-120"/>
              </a:rPr>
              <a:t>job-role classes</a:t>
            </a:r>
            <a:endParaRPr lang="en-US" sz="1000" dirty="0"/>
          </a:p>
        </p:txBody>
      </p:sp>
      <p:sp>
        <p:nvSpPr>
          <p:cNvPr id="11" name="Text 8"/>
          <p:cNvSpPr/>
          <p:nvPr/>
        </p:nvSpPr>
        <p:spPr>
          <a:xfrm>
            <a:off x="1885950" y="1773936"/>
            <a:ext cx="1154430" cy="3657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479</a:t>
            </a:r>
            <a:endParaRPr lang="en-US" sz="1900" dirty="0"/>
          </a:p>
        </p:txBody>
      </p:sp>
      <p:sp>
        <p:nvSpPr>
          <p:cNvPr id="12" name="Text 9"/>
          <p:cNvSpPr/>
          <p:nvPr/>
        </p:nvSpPr>
        <p:spPr>
          <a:xfrm>
            <a:off x="1885950" y="2139696"/>
            <a:ext cx="1154430" cy="237744"/>
          </a:xfrm>
          <a:prstGeom prst="rect">
            <a:avLst/>
          </a:prstGeom>
          <a:noFill/>
          <a:ln/>
        </p:spPr>
        <p:txBody>
          <a:bodyPr wrap="square" lIns="0" tIns="0" rIns="0" bIns="0" rtlCol="0" anchor="ctr"/>
          <a:lstStyle/>
          <a:p>
            <a:pPr indent="0" marL="0">
              <a:buNone/>
            </a:pPr>
            <a:r>
              <a:rPr lang="en-US" sz="1000" dirty="0">
                <a:solidFill>
                  <a:srgbClr val="9DC1FF"/>
                </a:solidFill>
                <a:latin typeface="Calibri" pitchFamily="34" charset="0"/>
                <a:ea typeface="Calibri" pitchFamily="34" charset="-122"/>
                <a:cs typeface="Calibri" pitchFamily="34" charset="-120"/>
              </a:rPr>
              <a:t>features</a:t>
            </a:r>
            <a:endParaRPr lang="en-US" sz="1000" dirty="0"/>
          </a:p>
        </p:txBody>
      </p:sp>
      <p:sp>
        <p:nvSpPr>
          <p:cNvPr id="13" name="Text 10"/>
          <p:cNvSpPr/>
          <p:nvPr/>
        </p:nvSpPr>
        <p:spPr>
          <a:xfrm>
            <a:off x="3040380" y="1773936"/>
            <a:ext cx="1154430" cy="3657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18,457</a:t>
            </a:r>
            <a:endParaRPr lang="en-US" sz="1900" dirty="0"/>
          </a:p>
        </p:txBody>
      </p:sp>
      <p:sp>
        <p:nvSpPr>
          <p:cNvPr id="14" name="Text 11"/>
          <p:cNvSpPr/>
          <p:nvPr/>
        </p:nvSpPr>
        <p:spPr>
          <a:xfrm>
            <a:off x="3040380" y="2139696"/>
            <a:ext cx="1154430" cy="237744"/>
          </a:xfrm>
          <a:prstGeom prst="rect">
            <a:avLst/>
          </a:prstGeom>
          <a:noFill/>
          <a:ln/>
        </p:spPr>
        <p:txBody>
          <a:bodyPr wrap="square" lIns="0" tIns="0" rIns="0" bIns="0" rtlCol="0" anchor="ctr"/>
          <a:lstStyle/>
          <a:p>
            <a:pPr indent="0" marL="0">
              <a:buNone/>
            </a:pPr>
            <a:r>
              <a:rPr lang="en-US" sz="1000" dirty="0">
                <a:solidFill>
                  <a:srgbClr val="9DC1FF"/>
                </a:solidFill>
                <a:latin typeface="Calibri" pitchFamily="34" charset="0"/>
                <a:ea typeface="Calibri" pitchFamily="34" charset="-122"/>
                <a:cs typeface="Calibri" pitchFamily="34" charset="-120"/>
              </a:rPr>
              <a:t>training rows</a:t>
            </a:r>
            <a:endParaRPr lang="en-US" sz="1000" dirty="0"/>
          </a:p>
        </p:txBody>
      </p:sp>
      <p:sp>
        <p:nvSpPr>
          <p:cNvPr id="15" name="Text 12"/>
          <p:cNvSpPr/>
          <p:nvPr/>
        </p:nvSpPr>
        <p:spPr>
          <a:xfrm>
            <a:off x="4194810" y="1773936"/>
            <a:ext cx="1154430" cy="365760"/>
          </a:xfrm>
          <a:prstGeom prst="rect">
            <a:avLst/>
          </a:prstGeom>
          <a:noFill/>
          <a:ln/>
        </p:spPr>
        <p:txBody>
          <a:bodyPr wrap="square" lIns="0" tIns="0" rIns="0" bIns="0" rtlCol="0" anchor="ctr"/>
          <a:lstStyle/>
          <a:p>
            <a:pPr indent="0" marL="0">
              <a:buNone/>
            </a:pPr>
            <a:r>
              <a:rPr lang="en-US" sz="1900" b="1" dirty="0">
                <a:solidFill>
                  <a:srgbClr val="FDBA74"/>
                </a:solidFill>
                <a:latin typeface="Calibri" pitchFamily="34" charset="0"/>
                <a:ea typeface="Calibri" pitchFamily="34" charset="-122"/>
                <a:cs typeface="Calibri" pitchFamily="34" charset="-120"/>
              </a:rPr>
              <a:t>155:1</a:t>
            </a:r>
            <a:endParaRPr lang="en-US" sz="1900" dirty="0"/>
          </a:p>
        </p:txBody>
      </p:sp>
      <p:sp>
        <p:nvSpPr>
          <p:cNvPr id="16" name="Text 13"/>
          <p:cNvSpPr/>
          <p:nvPr/>
        </p:nvSpPr>
        <p:spPr>
          <a:xfrm>
            <a:off x="4194810" y="2139696"/>
            <a:ext cx="1154430" cy="237744"/>
          </a:xfrm>
          <a:prstGeom prst="rect">
            <a:avLst/>
          </a:prstGeom>
          <a:noFill/>
          <a:ln/>
        </p:spPr>
        <p:txBody>
          <a:bodyPr wrap="square" lIns="0" tIns="0" rIns="0" bIns="0" rtlCol="0" anchor="ctr"/>
          <a:lstStyle/>
          <a:p>
            <a:pPr indent="0" marL="0">
              <a:buNone/>
            </a:pPr>
            <a:r>
              <a:rPr lang="en-US" sz="1000" dirty="0">
                <a:solidFill>
                  <a:srgbClr val="9DC1FF"/>
                </a:solidFill>
                <a:latin typeface="Calibri" pitchFamily="34" charset="0"/>
                <a:ea typeface="Calibri" pitchFamily="34" charset="-122"/>
                <a:cs typeface="Calibri" pitchFamily="34" charset="-120"/>
              </a:rPr>
              <a:t>class imbalance</a:t>
            </a:r>
            <a:endParaRPr lang="en-US" sz="1000" dirty="0"/>
          </a:p>
        </p:txBody>
      </p:sp>
      <p:sp>
        <p:nvSpPr>
          <p:cNvPr id="17" name="Text 14"/>
          <p:cNvSpPr/>
          <p:nvPr/>
        </p:nvSpPr>
        <p:spPr>
          <a:xfrm>
            <a:off x="548640" y="2615184"/>
            <a:ext cx="4983480" cy="237744"/>
          </a:xfrm>
          <a:prstGeom prst="rect">
            <a:avLst/>
          </a:prstGeom>
          <a:noFill/>
          <a:ln/>
        </p:spPr>
        <p:txBody>
          <a:bodyPr wrap="square" lIns="0" tIns="0" rIns="0" bIns="0" rtlCol="0" anchor="ctr"/>
          <a:lstStyle/>
          <a:p>
            <a:pPr indent="0" marL="0">
              <a:buNone/>
            </a:pPr>
            <a:r>
              <a:rPr lang="en-US" sz="1050" b="1" spc="150" kern="0" dirty="0">
                <a:solidFill>
                  <a:srgbClr val="64748B"/>
                </a:solidFill>
                <a:latin typeface="Calibri" pitchFamily="34" charset="0"/>
                <a:ea typeface="Calibri" pitchFamily="34" charset="-122"/>
                <a:cs typeface="Calibri" pitchFamily="34" charset="-120"/>
              </a:rPr>
              <a:t>SIX ALGORITHMS AND A BASELINE</a:t>
            </a:r>
            <a:endParaRPr lang="en-US" sz="1050" dirty="0"/>
          </a:p>
        </p:txBody>
      </p:sp>
      <p:sp>
        <p:nvSpPr>
          <p:cNvPr id="18" name="Shape 15"/>
          <p:cNvSpPr/>
          <p:nvPr/>
        </p:nvSpPr>
        <p:spPr>
          <a:xfrm>
            <a:off x="585216" y="2980944"/>
            <a:ext cx="100584" cy="100584"/>
          </a:xfrm>
          <a:prstGeom prst="ellipse">
            <a:avLst/>
          </a:prstGeom>
          <a:solidFill>
            <a:srgbClr val="2563EB"/>
          </a:solidFill>
          <a:ln/>
        </p:spPr>
      </p:sp>
      <p:sp>
        <p:nvSpPr>
          <p:cNvPr id="19" name="Text 16"/>
          <p:cNvSpPr/>
          <p:nvPr/>
        </p:nvSpPr>
        <p:spPr>
          <a:xfrm>
            <a:off x="786384" y="2889504"/>
            <a:ext cx="4745736" cy="283464"/>
          </a:xfrm>
          <a:prstGeom prst="rect">
            <a:avLst/>
          </a:prstGeom>
          <a:noFill/>
          <a:ln/>
        </p:spPr>
        <p:txBody>
          <a:bodyPr wrap="square" lIns="0" tIns="0" rIns="0" bIns="0" rtlCol="0" anchor="ctr"/>
          <a:lstStyle/>
          <a:p>
            <a:pPr indent="0" marL="0">
              <a:buNone/>
            </a:pPr>
            <a:r>
              <a:rPr lang="en-US" sz="1150" b="1" dirty="0">
                <a:solidFill>
                  <a:srgbClr val="0B1B3A"/>
                </a:solidFill>
                <a:latin typeface="Calibri" pitchFamily="34" charset="0"/>
                <a:ea typeface="Calibri" pitchFamily="34" charset="-122"/>
                <a:cs typeface="Calibri" pitchFamily="34" charset="-120"/>
              </a:rPr>
              <a:t>Hist Gradient Boosting</a:t>
            </a:r>
            <a:pPr indent="0" marL="0">
              <a:buNone/>
            </a:pPr>
            <a:r>
              <a:rPr lang="en-US" sz="1000" dirty="0">
                <a:solidFill>
                  <a:srgbClr val="64748B"/>
                </a:solidFill>
                <a:latin typeface="Calibri" pitchFamily="34" charset="0"/>
                <a:ea typeface="Calibri" pitchFamily="34" charset="-122"/>
                <a:cs typeface="Calibri" pitchFamily="34" charset="-120"/>
              </a:rPr>
              <a:t>   boosted trees; each round corrects earlier errors</a:t>
            </a:r>
            <a:endParaRPr lang="en-US" sz="1150" dirty="0"/>
          </a:p>
        </p:txBody>
      </p:sp>
      <p:sp>
        <p:nvSpPr>
          <p:cNvPr id="20" name="Shape 17"/>
          <p:cNvSpPr/>
          <p:nvPr/>
        </p:nvSpPr>
        <p:spPr>
          <a:xfrm>
            <a:off x="585216" y="3287268"/>
            <a:ext cx="100584" cy="100584"/>
          </a:xfrm>
          <a:prstGeom prst="ellipse">
            <a:avLst/>
          </a:prstGeom>
          <a:solidFill>
            <a:srgbClr val="2563EB"/>
          </a:solidFill>
          <a:ln/>
        </p:spPr>
      </p:sp>
      <p:sp>
        <p:nvSpPr>
          <p:cNvPr id="21" name="Text 18"/>
          <p:cNvSpPr/>
          <p:nvPr/>
        </p:nvSpPr>
        <p:spPr>
          <a:xfrm>
            <a:off x="786384" y="3195828"/>
            <a:ext cx="4745736" cy="283464"/>
          </a:xfrm>
          <a:prstGeom prst="rect">
            <a:avLst/>
          </a:prstGeom>
          <a:noFill/>
          <a:ln/>
        </p:spPr>
        <p:txBody>
          <a:bodyPr wrap="square" lIns="0" tIns="0" rIns="0" bIns="0" rtlCol="0" anchor="ctr"/>
          <a:lstStyle/>
          <a:p>
            <a:pPr indent="0" marL="0">
              <a:buNone/>
            </a:pPr>
            <a:r>
              <a:rPr lang="en-US" sz="1150" b="1" dirty="0">
                <a:solidFill>
                  <a:srgbClr val="0B1B3A"/>
                </a:solidFill>
                <a:latin typeface="Calibri" pitchFamily="34" charset="0"/>
                <a:ea typeface="Calibri" pitchFamily="34" charset="-122"/>
                <a:cs typeface="Calibri" pitchFamily="34" charset="-120"/>
              </a:rPr>
              <a:t>Logistic Regression</a:t>
            </a:r>
            <a:pPr indent="0" marL="0">
              <a:buNone/>
            </a:pPr>
            <a:r>
              <a:rPr lang="en-US" sz="1000" dirty="0">
                <a:solidFill>
                  <a:srgbClr val="64748B"/>
                </a:solidFill>
                <a:latin typeface="Calibri" pitchFamily="34" charset="0"/>
                <a:ea typeface="Calibri" pitchFamily="34" charset="-122"/>
                <a:cs typeface="Calibri" pitchFamily="34" charset="-120"/>
              </a:rPr>
              <a:t>   linear boundaries; good probabilities</a:t>
            </a:r>
            <a:endParaRPr lang="en-US" sz="1150" dirty="0"/>
          </a:p>
        </p:txBody>
      </p:sp>
      <p:sp>
        <p:nvSpPr>
          <p:cNvPr id="22" name="Shape 19"/>
          <p:cNvSpPr/>
          <p:nvPr/>
        </p:nvSpPr>
        <p:spPr>
          <a:xfrm>
            <a:off x="585216" y="3593592"/>
            <a:ext cx="100584" cy="100584"/>
          </a:xfrm>
          <a:prstGeom prst="ellipse">
            <a:avLst/>
          </a:prstGeom>
          <a:solidFill>
            <a:srgbClr val="2563EB"/>
          </a:solidFill>
          <a:ln/>
        </p:spPr>
      </p:sp>
      <p:sp>
        <p:nvSpPr>
          <p:cNvPr id="23" name="Text 20"/>
          <p:cNvSpPr/>
          <p:nvPr/>
        </p:nvSpPr>
        <p:spPr>
          <a:xfrm>
            <a:off x="786384" y="3502152"/>
            <a:ext cx="4745736" cy="283464"/>
          </a:xfrm>
          <a:prstGeom prst="rect">
            <a:avLst/>
          </a:prstGeom>
          <a:noFill/>
          <a:ln/>
        </p:spPr>
        <p:txBody>
          <a:bodyPr wrap="square" lIns="0" tIns="0" rIns="0" bIns="0" rtlCol="0" anchor="ctr"/>
          <a:lstStyle/>
          <a:p>
            <a:pPr indent="0" marL="0">
              <a:buNone/>
            </a:pPr>
            <a:r>
              <a:rPr lang="en-US" sz="1150" b="1" dirty="0">
                <a:solidFill>
                  <a:srgbClr val="0B1B3A"/>
                </a:solidFill>
                <a:latin typeface="Calibri" pitchFamily="34" charset="0"/>
                <a:ea typeface="Calibri" pitchFamily="34" charset="-122"/>
                <a:cs typeface="Calibri" pitchFamily="34" charset="-120"/>
              </a:rPr>
              <a:t>Random Forest</a:t>
            </a:r>
            <a:pPr indent="0" marL="0">
              <a:buNone/>
            </a:pPr>
            <a:r>
              <a:rPr lang="en-US" sz="1000" dirty="0">
                <a:solidFill>
                  <a:srgbClr val="64748B"/>
                </a:solidFill>
                <a:latin typeface="Calibri" pitchFamily="34" charset="0"/>
                <a:ea typeface="Calibri" pitchFamily="34" charset="-122"/>
                <a:cs typeface="Calibri" pitchFamily="34" charset="-120"/>
              </a:rPr>
              <a:t>   bagged trees; captures skill combinations</a:t>
            </a:r>
            <a:endParaRPr lang="en-US" sz="1150" dirty="0"/>
          </a:p>
        </p:txBody>
      </p:sp>
      <p:sp>
        <p:nvSpPr>
          <p:cNvPr id="24" name="Shape 21"/>
          <p:cNvSpPr/>
          <p:nvPr/>
        </p:nvSpPr>
        <p:spPr>
          <a:xfrm>
            <a:off x="585216" y="3899916"/>
            <a:ext cx="100584" cy="100584"/>
          </a:xfrm>
          <a:prstGeom prst="ellipse">
            <a:avLst/>
          </a:prstGeom>
          <a:solidFill>
            <a:srgbClr val="2563EB"/>
          </a:solidFill>
          <a:ln/>
        </p:spPr>
      </p:sp>
      <p:sp>
        <p:nvSpPr>
          <p:cNvPr id="25" name="Text 22"/>
          <p:cNvSpPr/>
          <p:nvPr/>
        </p:nvSpPr>
        <p:spPr>
          <a:xfrm>
            <a:off x="786384" y="3808476"/>
            <a:ext cx="4745736" cy="283464"/>
          </a:xfrm>
          <a:prstGeom prst="rect">
            <a:avLst/>
          </a:prstGeom>
          <a:noFill/>
          <a:ln/>
        </p:spPr>
        <p:txBody>
          <a:bodyPr wrap="square" lIns="0" tIns="0" rIns="0" bIns="0" rtlCol="0" anchor="ctr"/>
          <a:lstStyle/>
          <a:p>
            <a:pPr indent="0" marL="0">
              <a:buNone/>
            </a:pPr>
            <a:r>
              <a:rPr lang="en-US" sz="1150" b="1" dirty="0">
                <a:solidFill>
                  <a:srgbClr val="0B1B3A"/>
                </a:solidFill>
                <a:latin typeface="Calibri" pitchFamily="34" charset="0"/>
                <a:ea typeface="Calibri" pitchFamily="34" charset="-122"/>
                <a:cs typeface="Calibri" pitchFamily="34" charset="-120"/>
              </a:rPr>
              <a:t>Linear SVM (calibrated)</a:t>
            </a:r>
            <a:pPr indent="0" marL="0">
              <a:buNone/>
            </a:pPr>
            <a:r>
              <a:rPr lang="en-US" sz="1000" dirty="0">
                <a:solidFill>
                  <a:srgbClr val="64748B"/>
                </a:solidFill>
                <a:latin typeface="Calibri" pitchFamily="34" charset="0"/>
                <a:ea typeface="Calibri" pitchFamily="34" charset="-122"/>
                <a:cs typeface="Calibri" pitchFamily="34" charset="-120"/>
              </a:rPr>
              <a:t>   maximum margin; calibrated for probabilities</a:t>
            </a:r>
            <a:endParaRPr lang="en-US" sz="1150" dirty="0"/>
          </a:p>
        </p:txBody>
      </p:sp>
      <p:sp>
        <p:nvSpPr>
          <p:cNvPr id="26" name="Shape 23"/>
          <p:cNvSpPr/>
          <p:nvPr/>
        </p:nvSpPr>
        <p:spPr>
          <a:xfrm>
            <a:off x="585216" y="4206240"/>
            <a:ext cx="100584" cy="100584"/>
          </a:xfrm>
          <a:prstGeom prst="ellipse">
            <a:avLst/>
          </a:prstGeom>
          <a:solidFill>
            <a:srgbClr val="2563EB"/>
          </a:solidFill>
          <a:ln/>
        </p:spPr>
      </p:sp>
      <p:sp>
        <p:nvSpPr>
          <p:cNvPr id="27" name="Text 24"/>
          <p:cNvSpPr/>
          <p:nvPr/>
        </p:nvSpPr>
        <p:spPr>
          <a:xfrm>
            <a:off x="786384" y="4114800"/>
            <a:ext cx="4745736" cy="283464"/>
          </a:xfrm>
          <a:prstGeom prst="rect">
            <a:avLst/>
          </a:prstGeom>
          <a:noFill/>
          <a:ln/>
        </p:spPr>
        <p:txBody>
          <a:bodyPr wrap="square" lIns="0" tIns="0" rIns="0" bIns="0" rtlCol="0" anchor="ctr"/>
          <a:lstStyle/>
          <a:p>
            <a:pPr indent="0" marL="0">
              <a:buNone/>
            </a:pPr>
            <a:r>
              <a:rPr lang="en-US" sz="1150" b="1" dirty="0">
                <a:solidFill>
                  <a:srgbClr val="0B1B3A"/>
                </a:solidFill>
                <a:latin typeface="Calibri" pitchFamily="34" charset="0"/>
                <a:ea typeface="Calibri" pitchFamily="34" charset="-122"/>
                <a:cs typeface="Calibri" pitchFamily="34" charset="-120"/>
              </a:rPr>
              <a:t>Complement Naive Bayes</a:t>
            </a:r>
            <a:pPr indent="0" marL="0">
              <a:buNone/>
            </a:pPr>
            <a:r>
              <a:rPr lang="en-US" sz="1000" dirty="0">
                <a:solidFill>
                  <a:srgbClr val="64748B"/>
                </a:solidFill>
                <a:latin typeface="Calibri" pitchFamily="34" charset="0"/>
                <a:ea typeface="Calibri" pitchFamily="34" charset="-122"/>
                <a:cs typeface="Calibri" pitchFamily="34" charset="-120"/>
              </a:rPr>
              <a:t>   assumes independent features</a:t>
            </a:r>
            <a:endParaRPr lang="en-US" sz="1150" dirty="0"/>
          </a:p>
        </p:txBody>
      </p:sp>
      <p:sp>
        <p:nvSpPr>
          <p:cNvPr id="28" name="Shape 25"/>
          <p:cNvSpPr/>
          <p:nvPr/>
        </p:nvSpPr>
        <p:spPr>
          <a:xfrm>
            <a:off x="585216" y="4512564"/>
            <a:ext cx="100584" cy="100584"/>
          </a:xfrm>
          <a:prstGeom prst="ellipse">
            <a:avLst/>
          </a:prstGeom>
          <a:solidFill>
            <a:srgbClr val="2563EB"/>
          </a:solidFill>
          <a:ln/>
        </p:spPr>
      </p:sp>
      <p:sp>
        <p:nvSpPr>
          <p:cNvPr id="29" name="Text 26"/>
          <p:cNvSpPr/>
          <p:nvPr/>
        </p:nvSpPr>
        <p:spPr>
          <a:xfrm>
            <a:off x="786384" y="4421124"/>
            <a:ext cx="4745736" cy="283464"/>
          </a:xfrm>
          <a:prstGeom prst="rect">
            <a:avLst/>
          </a:prstGeom>
          <a:noFill/>
          <a:ln/>
        </p:spPr>
        <p:txBody>
          <a:bodyPr wrap="square" lIns="0" tIns="0" rIns="0" bIns="0" rtlCol="0" anchor="ctr"/>
          <a:lstStyle/>
          <a:p>
            <a:pPr indent="0" marL="0">
              <a:buNone/>
            </a:pPr>
            <a:r>
              <a:rPr lang="en-US" sz="1150" b="1" dirty="0">
                <a:solidFill>
                  <a:srgbClr val="0B1B3A"/>
                </a:solidFill>
                <a:latin typeface="Calibri" pitchFamily="34" charset="0"/>
                <a:ea typeface="Calibri" pitchFamily="34" charset="-122"/>
                <a:cs typeface="Calibri" pitchFamily="34" charset="-120"/>
              </a:rPr>
              <a:t>k-Nearest Neighbours</a:t>
            </a:r>
            <a:pPr indent="0" marL="0">
              <a:buNone/>
            </a:pPr>
            <a:r>
              <a:rPr lang="en-US" sz="1000" dirty="0">
                <a:solidFill>
                  <a:srgbClr val="64748B"/>
                </a:solidFill>
                <a:latin typeface="Calibri" pitchFamily="34" charset="0"/>
                <a:ea typeface="Calibri" pitchFamily="34" charset="-122"/>
                <a:cs typeface="Calibri" pitchFamily="34" charset="-120"/>
              </a:rPr>
              <a:t>   cosine similarity: “similar skills, similar job”</a:t>
            </a:r>
            <a:endParaRPr lang="en-US" sz="1150" dirty="0"/>
          </a:p>
        </p:txBody>
      </p:sp>
      <p:sp>
        <p:nvSpPr>
          <p:cNvPr id="30" name="Shape 27"/>
          <p:cNvSpPr/>
          <p:nvPr/>
        </p:nvSpPr>
        <p:spPr>
          <a:xfrm>
            <a:off x="585216" y="4818888"/>
            <a:ext cx="100584" cy="100584"/>
          </a:xfrm>
          <a:prstGeom prst="ellipse">
            <a:avLst/>
          </a:prstGeom>
          <a:solidFill>
            <a:srgbClr val="94A3B8"/>
          </a:solidFill>
          <a:ln/>
        </p:spPr>
      </p:sp>
      <p:sp>
        <p:nvSpPr>
          <p:cNvPr id="31" name="Text 28"/>
          <p:cNvSpPr/>
          <p:nvPr/>
        </p:nvSpPr>
        <p:spPr>
          <a:xfrm>
            <a:off x="786384" y="4727448"/>
            <a:ext cx="4745736" cy="283464"/>
          </a:xfrm>
          <a:prstGeom prst="rect">
            <a:avLst/>
          </a:prstGeom>
          <a:noFill/>
          <a:ln/>
        </p:spPr>
        <p:txBody>
          <a:bodyPr wrap="square" lIns="0" tIns="0" rIns="0" bIns="0" rtlCol="0" anchor="ctr"/>
          <a:lstStyle/>
          <a:p>
            <a:pPr indent="0" marL="0">
              <a:buNone/>
            </a:pPr>
            <a:r>
              <a:rPr lang="en-US" sz="1150" b="1" dirty="0">
                <a:solidFill>
                  <a:srgbClr val="64748B"/>
                </a:solidFill>
                <a:latin typeface="Calibri" pitchFamily="34" charset="0"/>
                <a:ea typeface="Calibri" pitchFamily="34" charset="-122"/>
                <a:cs typeface="Calibri" pitchFamily="34" charset="-120"/>
              </a:rPr>
              <a:t>Dummy (most frequent)</a:t>
            </a:r>
            <a:pPr indent="0" marL="0">
              <a:buNone/>
            </a:pPr>
            <a:r>
              <a:rPr lang="en-US" sz="1000" dirty="0">
                <a:solidFill>
                  <a:srgbClr val="64748B"/>
                </a:solidFill>
                <a:latin typeface="Calibri" pitchFamily="34" charset="0"/>
                <a:ea typeface="Calibri" pitchFamily="34" charset="-122"/>
                <a:cs typeface="Calibri" pitchFamily="34" charset="-120"/>
              </a:rPr>
              <a:t>   baseline: always answers Full-stack</a:t>
            </a:r>
            <a:endParaRPr lang="en-US" sz="1150" dirty="0"/>
          </a:p>
        </p:txBody>
      </p:sp>
      <p:sp>
        <p:nvSpPr>
          <p:cNvPr id="32" name="Shape 29"/>
          <p:cNvSpPr/>
          <p:nvPr/>
        </p:nvSpPr>
        <p:spPr>
          <a:xfrm>
            <a:off x="548640" y="5138928"/>
            <a:ext cx="2427732" cy="1115568"/>
          </a:xfrm>
          <a:prstGeom prst="roundRect">
            <a:avLst>
              <a:gd name="adj" fmla="val 7377"/>
            </a:avLst>
          </a:prstGeom>
          <a:solidFill>
            <a:srgbClr val="EFF5FF"/>
          </a:solidFill>
          <a:ln w="9525">
            <a:solidFill>
              <a:srgbClr val="D2E2FD"/>
            </a:solidFill>
            <a:prstDash val="solid"/>
          </a:ln>
        </p:spPr>
      </p:sp>
      <p:sp>
        <p:nvSpPr>
          <p:cNvPr id="33" name="Text 30"/>
          <p:cNvSpPr/>
          <p:nvPr/>
        </p:nvSpPr>
        <p:spPr>
          <a:xfrm>
            <a:off x="685800" y="5202936"/>
            <a:ext cx="2171700" cy="256032"/>
          </a:xfrm>
          <a:prstGeom prst="rect">
            <a:avLst/>
          </a:prstGeom>
          <a:noFill/>
          <a:ln/>
        </p:spPr>
        <p:txBody>
          <a:bodyPr wrap="square" lIns="0" tIns="0" rIns="0" bIns="0" rtlCol="0" anchor="ctr"/>
          <a:lstStyle/>
          <a:p>
            <a:pPr indent="0" marL="0">
              <a:buNone/>
            </a:pPr>
            <a:r>
              <a:rPr lang="en-US" sz="1150" b="1" dirty="0">
                <a:solidFill>
                  <a:srgbClr val="2563EB"/>
                </a:solidFill>
                <a:latin typeface="Calibri" pitchFamily="34" charset="0"/>
                <a:ea typeface="Calibri" pitchFamily="34" charset="-122"/>
                <a:cs typeface="Calibri" pitchFamily="34" charset="-120"/>
              </a:rPr>
              <a:t>Stratified 5-fold cross-validation</a:t>
            </a:r>
            <a:endParaRPr lang="en-US" sz="1150" dirty="0"/>
          </a:p>
        </p:txBody>
      </p:sp>
      <p:sp>
        <p:nvSpPr>
          <p:cNvPr id="34" name="Text 31"/>
          <p:cNvSpPr/>
          <p:nvPr/>
        </p:nvSpPr>
        <p:spPr>
          <a:xfrm>
            <a:off x="685800" y="5468112"/>
            <a:ext cx="2189988" cy="749808"/>
          </a:xfrm>
          <a:prstGeom prst="rect">
            <a:avLst/>
          </a:prstGeom>
          <a:noFill/>
          <a:ln/>
        </p:spPr>
        <p:txBody>
          <a:bodyPr wrap="square" lIns="0" tIns="0" rIns="0" bIns="0" rtlCol="0" anchor="t"/>
          <a:lstStyle/>
          <a:p>
            <a:pPr indent="0" marL="0">
              <a:lnSpc>
                <a:spcPct val="100000"/>
              </a:lnSpc>
              <a:buNone/>
            </a:pPr>
            <a:r>
              <a:rPr lang="en-US" sz="950" dirty="0">
                <a:solidFill>
                  <a:srgbClr val="334155"/>
                </a:solidFill>
                <a:latin typeface="Calibri" pitchFamily="34" charset="0"/>
                <a:ea typeface="Calibri" pitchFamily="34" charset="-122"/>
                <a:cs typeface="Calibri" pitchFamily="34" charset="-120"/>
              </a:rPr>
              <a:t>Same folds for every run (seed 42). The preprocessor is refitted in each fold. About 9 examples of the smallest role per validation fold.</a:t>
            </a:r>
            <a:endParaRPr lang="en-US" sz="950" dirty="0"/>
          </a:p>
        </p:txBody>
      </p:sp>
      <p:sp>
        <p:nvSpPr>
          <p:cNvPr id="35" name="Shape 32"/>
          <p:cNvSpPr/>
          <p:nvPr/>
        </p:nvSpPr>
        <p:spPr>
          <a:xfrm>
            <a:off x="3104388" y="5138928"/>
            <a:ext cx="2427732" cy="1115568"/>
          </a:xfrm>
          <a:prstGeom prst="roundRect">
            <a:avLst>
              <a:gd name="adj" fmla="val 7377"/>
            </a:avLst>
          </a:prstGeom>
          <a:solidFill>
            <a:srgbClr val="EFF5FF"/>
          </a:solidFill>
          <a:ln w="9525">
            <a:solidFill>
              <a:srgbClr val="D2E2FD"/>
            </a:solidFill>
            <a:prstDash val="solid"/>
          </a:ln>
        </p:spPr>
      </p:sp>
      <p:sp>
        <p:nvSpPr>
          <p:cNvPr id="36" name="Text 33"/>
          <p:cNvSpPr/>
          <p:nvPr/>
        </p:nvSpPr>
        <p:spPr>
          <a:xfrm>
            <a:off x="3241548" y="5202936"/>
            <a:ext cx="2171700" cy="256032"/>
          </a:xfrm>
          <a:prstGeom prst="rect">
            <a:avLst/>
          </a:prstGeom>
          <a:noFill/>
          <a:ln/>
        </p:spPr>
        <p:txBody>
          <a:bodyPr wrap="square" lIns="0" tIns="0" rIns="0" bIns="0" rtlCol="0" anchor="ctr"/>
          <a:lstStyle/>
          <a:p>
            <a:pPr indent="0" marL="0">
              <a:buNone/>
            </a:pPr>
            <a:r>
              <a:rPr lang="en-US" sz="1150" b="1" dirty="0">
                <a:solidFill>
                  <a:srgbClr val="2563EB"/>
                </a:solidFill>
                <a:latin typeface="Calibri" pitchFamily="34" charset="0"/>
                <a:ea typeface="Calibri" pitchFamily="34" charset="-122"/>
                <a:cs typeface="Calibri" pitchFamily="34" charset="-120"/>
              </a:rPr>
              <a:t>Macro-F1 is the primary metric</a:t>
            </a:r>
            <a:endParaRPr lang="en-US" sz="1150" dirty="0"/>
          </a:p>
        </p:txBody>
      </p:sp>
      <p:sp>
        <p:nvSpPr>
          <p:cNvPr id="37" name="Text 34"/>
          <p:cNvSpPr/>
          <p:nvPr/>
        </p:nvSpPr>
        <p:spPr>
          <a:xfrm>
            <a:off x="3241548" y="5468112"/>
            <a:ext cx="2189988" cy="749808"/>
          </a:xfrm>
          <a:prstGeom prst="rect">
            <a:avLst/>
          </a:prstGeom>
          <a:noFill/>
          <a:ln/>
        </p:spPr>
        <p:txBody>
          <a:bodyPr wrap="square" lIns="0" tIns="0" rIns="0" bIns="0" rtlCol="0" anchor="t"/>
          <a:lstStyle/>
          <a:p>
            <a:pPr indent="0" marL="0">
              <a:lnSpc>
                <a:spcPct val="100000"/>
              </a:lnSpc>
              <a:buNone/>
            </a:pPr>
            <a:r>
              <a:rPr lang="en-US" sz="950" dirty="0">
                <a:solidFill>
                  <a:srgbClr val="334155"/>
                </a:solidFill>
                <a:latin typeface="Calibri" pitchFamily="34" charset="0"/>
                <a:ea typeface="Calibri" pitchFamily="34" charset="-122"/>
                <a:cs typeface="Calibri" pitchFamily="34" charset="-120"/>
              </a:rPr>
              <a:t>The plain mean of the 20 per-role F1 scores: every role counts equally, so ignoring rare roles is penalised.</a:t>
            </a:r>
            <a:endParaRPr lang="en-US" sz="950" dirty="0"/>
          </a:p>
        </p:txBody>
      </p:sp>
      <p:sp>
        <p:nvSpPr>
          <p:cNvPr id="38" name="Shape 35"/>
          <p:cNvSpPr/>
          <p:nvPr/>
        </p:nvSpPr>
        <p:spPr>
          <a:xfrm>
            <a:off x="5760720" y="1389888"/>
            <a:ext cx="5882335" cy="4864608"/>
          </a:xfrm>
          <a:prstGeom prst="roundRect">
            <a:avLst>
              <a:gd name="adj" fmla="val 1692"/>
            </a:avLst>
          </a:prstGeom>
          <a:solidFill>
            <a:srgbClr val="FFFFFF"/>
          </a:solidFill>
          <a:ln w="9525">
            <a:solidFill>
              <a:srgbClr val="DCE3EC"/>
            </a:solidFill>
            <a:prstDash val="solid"/>
          </a:ln>
        </p:spPr>
      </p:sp>
      <p:sp>
        <p:nvSpPr>
          <p:cNvPr id="39" name="Text 36"/>
          <p:cNvSpPr/>
          <p:nvPr/>
        </p:nvSpPr>
        <p:spPr>
          <a:xfrm>
            <a:off x="5943600" y="1463040"/>
            <a:ext cx="5516575" cy="274320"/>
          </a:xfrm>
          <a:prstGeom prst="rect">
            <a:avLst/>
          </a:prstGeom>
          <a:noFill/>
          <a:ln/>
        </p:spPr>
        <p:txBody>
          <a:bodyPr wrap="square" lIns="0" tIns="0" rIns="0" bIns="0" rtlCol="0" anchor="ctr"/>
          <a:lstStyle/>
          <a:p>
            <a:pPr indent="0" marL="0">
              <a:buNone/>
            </a:pPr>
            <a:r>
              <a:rPr lang="en-US" sz="1300" b="1" dirty="0">
                <a:solidFill>
                  <a:srgbClr val="0B1B3A"/>
                </a:solidFill>
                <a:latin typeface="Calibri" pitchFamily="34" charset="0"/>
                <a:ea typeface="Calibri" pitchFamily="34" charset="-122"/>
                <a:cs typeface="Calibri" pitchFamily="34" charset="-120"/>
              </a:rPr>
              <a:t>Stage 6 results: macro-F1 against accuracy (5-fold mean)</a:t>
            </a:r>
            <a:endParaRPr lang="en-US" sz="1300" dirty="0"/>
          </a:p>
        </p:txBody>
      </p:sp>
      <p:graphicFrame>
        <p:nvGraphicFramePr>
          <p:cNvPr id="40" name="Chart 0" descr=""/>
          <p:cNvGraphicFramePr/>
          <p:nvPr/>
        </p:nvGraphicFramePr>
        <p:xfrm>
          <a:off x="5852160" y="1755648"/>
          <a:ext cx="5699455" cy="3584448"/>
        </p:xfrm>
        <a:graphic xmlns:a="http://schemas.openxmlformats.org/drawingml/2006/main">
          <a:graphicData uri="http://schemas.openxmlformats.org/drawingml/2006/chart">
            <c:chart xmlns:c="http://schemas.openxmlformats.org/drawingml/2006/chart" r:id="rId1"/>
          </a:graphicData>
        </a:graphic>
      </p:graphicFrame>
      <p:sp>
        <p:nvSpPr>
          <p:cNvPr id="41" name="Shape 37"/>
          <p:cNvSpPr/>
          <p:nvPr/>
        </p:nvSpPr>
        <p:spPr>
          <a:xfrm>
            <a:off x="5943600" y="5413248"/>
            <a:ext cx="5516575" cy="694944"/>
          </a:xfrm>
          <a:prstGeom prst="roundRect">
            <a:avLst>
              <a:gd name="adj" fmla="val 11842"/>
            </a:avLst>
          </a:prstGeom>
          <a:solidFill>
            <a:srgbClr val="FFF4EC"/>
          </a:solidFill>
          <a:ln w="9525">
            <a:solidFill>
              <a:srgbClr val="FBD5B8"/>
            </a:solidFill>
            <a:prstDash val="solid"/>
          </a:ln>
        </p:spPr>
      </p:sp>
      <p:sp>
        <p:nvSpPr>
          <p:cNvPr id="42" name="Text 38"/>
          <p:cNvSpPr/>
          <p:nvPr/>
        </p:nvSpPr>
        <p:spPr>
          <a:xfrm>
            <a:off x="6089904" y="5413248"/>
            <a:ext cx="5223967" cy="694944"/>
          </a:xfrm>
          <a:prstGeom prst="rect">
            <a:avLst/>
          </a:prstGeom>
          <a:noFill/>
          <a:ln/>
        </p:spPr>
        <p:txBody>
          <a:bodyPr wrap="square" lIns="0" tIns="0" rIns="0" bIns="0" rtlCol="0" anchor="ctr"/>
          <a:lstStyle/>
          <a:p>
            <a:pPr indent="0" marL="0">
              <a:lnSpc>
                <a:spcPct val="103000"/>
              </a:lnSpc>
              <a:buNone/>
            </a:pPr>
            <a:r>
              <a:rPr lang="en-US" sz="1050" b="1" dirty="0">
                <a:solidFill>
                  <a:srgbClr val="C2410C"/>
                </a:solidFill>
                <a:latin typeface="Calibri" pitchFamily="34" charset="0"/>
                <a:ea typeface="Calibri" pitchFamily="34" charset="-122"/>
                <a:cs typeface="Calibri" pitchFamily="34" charset="-120"/>
              </a:rPr>
              <a:t>Accuracy hides what macro-F1 shows. </a:t>
            </a:r>
            <a:pPr indent="0" marL="0">
              <a:lnSpc>
                <a:spcPct val="103000"/>
              </a:lnSpc>
              <a:buNone/>
            </a:pPr>
            <a:r>
              <a:rPr lang="en-US" sz="1050" dirty="0">
                <a:solidFill>
                  <a:srgbClr val="334155"/>
                </a:solidFill>
                <a:latin typeface="Calibri" pitchFamily="34" charset="0"/>
                <a:ea typeface="Calibri" pitchFamily="34" charset="-122"/>
                <a:cs typeface="Calibri" pitchFamily="34" charset="-120"/>
              </a:rPr>
              <a:t>The Dummy model reaches 39.4% accuracy with no skill at all, yet its macro-F1 is 0.028. The top three models are within 0.019 of each other.</a:t>
            </a:r>
            <a:endParaRPr lang="en-US" sz="1050" dirty="0"/>
          </a:p>
        </p:txBody>
      </p:sp>
      <p:sp>
        <p:nvSpPr>
          <p:cNvPr id="25" name="Slide Number Placeholder 0"/>
          <p:cNvSpPr>
            <a:spLocks noGrp="1"/>
          </p:cNvSpPr>
          <p:nvPr>
            <p:ph type="sldNum" sz="quarter" idx="4294967295"/>
          </p:nvPr>
        </p:nvSpPr>
        <p:spPr>
          <a:xfrm>
            <a:off x="11094415" y="6464808"/>
            <a:ext cx="5486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64748B"/>
                </a:solidFill>
                <a:latin typeface="Calibri"/>
                <a:ea typeface="Calibri"/>
                <a:cs typeface="Calibri"/>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57200"/>
            <a:ext cx="64008" cy="713232"/>
          </a:xfrm>
          <a:prstGeom prst="rect">
            <a:avLst/>
          </a:prstGeom>
          <a:solidFill>
            <a:srgbClr val="2563EB"/>
          </a:solidFill>
          <a:ln/>
        </p:spPr>
      </p:sp>
      <p:sp>
        <p:nvSpPr>
          <p:cNvPr id="3" name="Text 1"/>
          <p:cNvSpPr/>
          <p:nvPr/>
        </p:nvSpPr>
        <p:spPr>
          <a:xfrm>
            <a:off x="749808" y="429768"/>
            <a:ext cx="7315200" cy="256032"/>
          </a:xfrm>
          <a:prstGeom prst="rect">
            <a:avLst/>
          </a:prstGeom>
          <a:noFill/>
          <a:ln/>
        </p:spPr>
        <p:txBody>
          <a:bodyPr wrap="square" lIns="0" tIns="0" rIns="0" bIns="0" rtlCol="0" anchor="t"/>
          <a:lstStyle/>
          <a:p>
            <a:pPr indent="0" marL="0">
              <a:buNone/>
            </a:pPr>
            <a:r>
              <a:rPr lang="en-US" sz="1100" b="1" spc="200" kern="0" dirty="0">
                <a:solidFill>
                  <a:srgbClr val="2563EB"/>
                </a:solidFill>
                <a:latin typeface="Calibri" pitchFamily="34" charset="0"/>
                <a:ea typeface="Calibri" pitchFamily="34" charset="-122"/>
                <a:cs typeface="Calibri" pitchFamily="34" charset="-120"/>
              </a:rPr>
              <a:t>MODELS, OPTIMISATION &amp; RESULTS</a:t>
            </a:r>
            <a:endParaRPr lang="en-US" sz="1100" dirty="0"/>
          </a:p>
        </p:txBody>
      </p:sp>
      <p:sp>
        <p:nvSpPr>
          <p:cNvPr id="4" name="Text 2"/>
          <p:cNvSpPr/>
          <p:nvPr/>
        </p:nvSpPr>
        <p:spPr>
          <a:xfrm>
            <a:off x="749808" y="676656"/>
            <a:ext cx="8229600" cy="512064"/>
          </a:xfrm>
          <a:prstGeom prst="rect">
            <a:avLst/>
          </a:prstGeom>
          <a:noFill/>
          <a:ln/>
        </p:spPr>
        <p:txBody>
          <a:bodyPr wrap="square" lIns="0" tIns="0" rIns="0" bIns="0" rtlCol="0" anchor="ctr"/>
          <a:lstStyle/>
          <a:p>
            <a:pPr indent="0" marL="0">
              <a:buNone/>
            </a:pPr>
            <a:r>
              <a:rPr lang="en-US" sz="2800" b="1" dirty="0">
                <a:solidFill>
                  <a:srgbClr val="0B1B3A"/>
                </a:solidFill>
                <a:latin typeface="Calibri" pitchFamily="34" charset="0"/>
                <a:ea typeface="Calibri" pitchFamily="34" charset="-122"/>
                <a:cs typeface="Calibri" pitchFamily="34" charset="-120"/>
              </a:rPr>
              <a:t>Model Optimisation and Final Model Selection</a:t>
            </a:r>
            <a:endParaRPr lang="en-US" sz="2800" dirty="0"/>
          </a:p>
        </p:txBody>
      </p:sp>
      <p:sp>
        <p:nvSpPr>
          <p:cNvPr id="5" name="Text 3"/>
          <p:cNvSpPr/>
          <p:nvPr/>
        </p:nvSpPr>
        <p:spPr>
          <a:xfrm>
            <a:off x="8945575" y="548640"/>
            <a:ext cx="2697480" cy="365760"/>
          </a:xfrm>
          <a:prstGeom prst="roundRect">
            <a:avLst>
              <a:gd name="adj" fmla="val 50000"/>
            </a:avLst>
          </a:prstGeom>
          <a:solidFill>
            <a:srgbClr val="EFF5FF"/>
          </a:solidFill>
          <a:ln w="9525">
            <a:solidFill>
              <a:srgbClr val="D2E2FD"/>
            </a:solid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Member 3</a:t>
            </a:r>
            <a:pPr algn="ctr" indent="0" marL="0">
              <a:buNone/>
            </a:pPr>
            <a:r>
              <a:rPr lang="en-US" sz="1100" b="1" dirty="0">
                <a:solidFill>
                  <a:srgbClr val="334155"/>
                </a:solidFill>
                <a:latin typeface="Calibri" pitchFamily="34" charset="0"/>
                <a:ea typeface="Calibri" pitchFamily="34" charset="-122"/>
                <a:cs typeface="Calibri" pitchFamily="34" charset="-120"/>
              </a:rPr>
              <a:t>   M G S D Wijesinghe</a:t>
            </a:r>
            <a:endParaRPr lang="en-US" sz="1100" dirty="0"/>
          </a:p>
        </p:txBody>
      </p:sp>
      <p:sp>
        <p:nvSpPr>
          <p:cNvPr id="7" name="Shape 4"/>
          <p:cNvSpPr/>
          <p:nvPr/>
        </p:nvSpPr>
        <p:spPr>
          <a:xfrm>
            <a:off x="548640" y="1389888"/>
            <a:ext cx="2677592" cy="1371600"/>
          </a:xfrm>
          <a:prstGeom prst="roundRect">
            <a:avLst>
              <a:gd name="adj" fmla="val 6000"/>
            </a:avLst>
          </a:prstGeom>
          <a:solidFill>
            <a:srgbClr val="F6F8FB"/>
          </a:solidFill>
          <a:ln w="9525">
            <a:solidFill>
              <a:srgbClr val="DCE3EC"/>
            </a:solidFill>
            <a:prstDash val="solid"/>
          </a:ln>
        </p:spPr>
      </p:sp>
      <p:sp>
        <p:nvSpPr>
          <p:cNvPr id="8" name="Text 5"/>
          <p:cNvSpPr/>
          <p:nvPr/>
        </p:nvSpPr>
        <p:spPr>
          <a:xfrm>
            <a:off x="694944" y="1490472"/>
            <a:ext cx="347472" cy="347472"/>
          </a:xfrm>
          <a:prstGeom prst="ellipse">
            <a:avLst/>
          </a:prstGeom>
          <a:solidFill>
            <a:srgbClr val="2563EB"/>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9" name="Text 6"/>
          <p:cNvSpPr/>
          <p:nvPr/>
        </p:nvSpPr>
        <p:spPr>
          <a:xfrm>
            <a:off x="1133856" y="1463040"/>
            <a:ext cx="2000936" cy="237744"/>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Imbalance handling</a:t>
            </a:r>
            <a:endParaRPr lang="en-US" sz="1250" dirty="0"/>
          </a:p>
        </p:txBody>
      </p:sp>
      <p:sp>
        <p:nvSpPr>
          <p:cNvPr id="10" name="Text 7"/>
          <p:cNvSpPr/>
          <p:nvPr/>
        </p:nvSpPr>
        <p:spPr>
          <a:xfrm>
            <a:off x="1133856" y="1691640"/>
            <a:ext cx="2000936" cy="201168"/>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None, class weights or oversampling?</a:t>
            </a:r>
            <a:endParaRPr lang="en-US" sz="950" dirty="0"/>
          </a:p>
        </p:txBody>
      </p:sp>
      <p:sp>
        <p:nvSpPr>
          <p:cNvPr id="11" name="Text 8"/>
          <p:cNvSpPr/>
          <p:nvPr/>
        </p:nvSpPr>
        <p:spPr>
          <a:xfrm>
            <a:off x="694944" y="1993392"/>
            <a:ext cx="2421560" cy="731520"/>
          </a:xfrm>
          <a:prstGeom prst="rect">
            <a:avLst/>
          </a:prstGeom>
          <a:noFill/>
          <a:ln/>
        </p:spPr>
        <p:txBody>
          <a:bodyPr wrap="square" lIns="0" tIns="0" rIns="0" bIns="0" rtlCol="0" anchor="t"/>
          <a:lstStyle/>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Weighting harms Logistic Regression: 0.2535 → 0.3003 without it</a:t>
            </a:r>
            <a:endParaRPr lang="en-US" sz="1050" dirty="0"/>
          </a:p>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It helps Random Forest: 0.1869 → 0.2548</a:t>
            </a:r>
            <a:endParaRPr lang="en-US" sz="1050" dirty="0"/>
          </a:p>
        </p:txBody>
      </p:sp>
      <p:sp>
        <p:nvSpPr>
          <p:cNvPr id="12" name="Shape 9"/>
          <p:cNvSpPr/>
          <p:nvPr/>
        </p:nvSpPr>
        <p:spPr>
          <a:xfrm>
            <a:off x="3354248" y="1389888"/>
            <a:ext cx="2677592" cy="1371600"/>
          </a:xfrm>
          <a:prstGeom prst="roundRect">
            <a:avLst>
              <a:gd name="adj" fmla="val 6000"/>
            </a:avLst>
          </a:prstGeom>
          <a:solidFill>
            <a:srgbClr val="F6F8FB"/>
          </a:solidFill>
          <a:ln w="9525">
            <a:solidFill>
              <a:srgbClr val="DCE3EC"/>
            </a:solidFill>
            <a:prstDash val="solid"/>
          </a:ln>
        </p:spPr>
      </p:sp>
      <p:sp>
        <p:nvSpPr>
          <p:cNvPr id="13" name="Text 10"/>
          <p:cNvSpPr/>
          <p:nvPr/>
        </p:nvSpPr>
        <p:spPr>
          <a:xfrm>
            <a:off x="3500552" y="1490472"/>
            <a:ext cx="347472" cy="347472"/>
          </a:xfrm>
          <a:prstGeom prst="ellipse">
            <a:avLst/>
          </a:prstGeom>
          <a:solidFill>
            <a:srgbClr val="2563EB"/>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4" name="Text 11"/>
          <p:cNvSpPr/>
          <p:nvPr/>
        </p:nvSpPr>
        <p:spPr>
          <a:xfrm>
            <a:off x="3939464" y="1463040"/>
            <a:ext cx="2000936" cy="237744"/>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Feature set and selection</a:t>
            </a:r>
            <a:endParaRPr lang="en-US" sz="1250" dirty="0"/>
          </a:p>
        </p:txBody>
      </p:sp>
      <p:sp>
        <p:nvSpPr>
          <p:cNvPr id="15" name="Text 12"/>
          <p:cNvSpPr/>
          <p:nvPr/>
        </p:nvSpPr>
        <p:spPr>
          <a:xfrm>
            <a:off x="3939464" y="1691640"/>
            <a:ext cx="2000936" cy="201168"/>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Which inputs earn their place?</a:t>
            </a:r>
            <a:endParaRPr lang="en-US" sz="950" dirty="0"/>
          </a:p>
        </p:txBody>
      </p:sp>
      <p:sp>
        <p:nvSpPr>
          <p:cNvPr id="16" name="Text 13"/>
          <p:cNvSpPr/>
          <p:nvPr/>
        </p:nvSpPr>
        <p:spPr>
          <a:xfrm>
            <a:off x="3500552" y="1993392"/>
            <a:ext cx="2421560" cy="731520"/>
          </a:xfrm>
          <a:prstGeom prst="rect">
            <a:avLst/>
          </a:prstGeom>
          <a:noFill/>
          <a:ln/>
        </p:spPr>
        <p:txBody>
          <a:bodyPr wrap="square" lIns="0" tIns="0" rIns="0" bIns="0" rtlCol="0" anchor="t"/>
          <a:lstStyle/>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“Want to learn” lists matter: −0.009 without them</a:t>
            </a:r>
            <a:endParaRPr lang="en-US" sz="1050" dirty="0"/>
          </a:p>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Feature selection does not help; scaling binary flags costs 0.025</a:t>
            </a:r>
            <a:endParaRPr lang="en-US" sz="1050" dirty="0"/>
          </a:p>
        </p:txBody>
      </p:sp>
      <p:sp>
        <p:nvSpPr>
          <p:cNvPr id="17" name="Shape 14"/>
          <p:cNvSpPr/>
          <p:nvPr/>
        </p:nvSpPr>
        <p:spPr>
          <a:xfrm>
            <a:off x="6159856" y="1389888"/>
            <a:ext cx="2677592" cy="1371600"/>
          </a:xfrm>
          <a:prstGeom prst="roundRect">
            <a:avLst>
              <a:gd name="adj" fmla="val 6000"/>
            </a:avLst>
          </a:prstGeom>
          <a:solidFill>
            <a:srgbClr val="F6F8FB"/>
          </a:solidFill>
          <a:ln w="9525">
            <a:solidFill>
              <a:srgbClr val="DCE3EC"/>
            </a:solidFill>
            <a:prstDash val="solid"/>
          </a:ln>
        </p:spPr>
      </p:sp>
      <p:sp>
        <p:nvSpPr>
          <p:cNvPr id="18" name="Text 15"/>
          <p:cNvSpPr/>
          <p:nvPr/>
        </p:nvSpPr>
        <p:spPr>
          <a:xfrm>
            <a:off x="6306160" y="1490472"/>
            <a:ext cx="347472" cy="347472"/>
          </a:xfrm>
          <a:prstGeom prst="ellipse">
            <a:avLst/>
          </a:prstGeom>
          <a:solidFill>
            <a:srgbClr val="2563EB"/>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9" name="Text 16"/>
          <p:cNvSpPr/>
          <p:nvPr/>
        </p:nvSpPr>
        <p:spPr>
          <a:xfrm>
            <a:off x="6745072" y="1463040"/>
            <a:ext cx="2000936" cy="237744"/>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Hyper-parameter search</a:t>
            </a:r>
            <a:endParaRPr lang="en-US" sz="1250" dirty="0"/>
          </a:p>
        </p:txBody>
      </p:sp>
      <p:sp>
        <p:nvSpPr>
          <p:cNvPr id="20" name="Text 17"/>
          <p:cNvSpPr/>
          <p:nvPr/>
        </p:nvSpPr>
        <p:spPr>
          <a:xfrm>
            <a:off x="6745072" y="1691640"/>
            <a:ext cx="2000936" cy="201168"/>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Randomised search, same folds</a:t>
            </a:r>
            <a:endParaRPr lang="en-US" sz="950" dirty="0"/>
          </a:p>
        </p:txBody>
      </p:sp>
      <p:sp>
        <p:nvSpPr>
          <p:cNvPr id="21" name="Text 18"/>
          <p:cNvSpPr/>
          <p:nvPr/>
        </p:nvSpPr>
        <p:spPr>
          <a:xfrm>
            <a:off x="6306160" y="1993392"/>
            <a:ext cx="2421560" cy="731520"/>
          </a:xfrm>
          <a:prstGeom prst="rect">
            <a:avLst/>
          </a:prstGeom>
          <a:noFill/>
          <a:ln/>
        </p:spPr>
        <p:txBody>
          <a:bodyPr wrap="square" lIns="0" tIns="0" rIns="0" bIns="0" rtlCol="0" anchor="t"/>
          <a:lstStyle/>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Stronger regularisation wins: C = 0.218</a:t>
            </a:r>
            <a:endParaRPr lang="en-US" sz="1050" dirty="0"/>
          </a:p>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The search was free to pick class weighting and rejected it</a:t>
            </a:r>
            <a:endParaRPr lang="en-US" sz="1050" dirty="0"/>
          </a:p>
        </p:txBody>
      </p:sp>
      <p:sp>
        <p:nvSpPr>
          <p:cNvPr id="22" name="Shape 19"/>
          <p:cNvSpPr/>
          <p:nvPr/>
        </p:nvSpPr>
        <p:spPr>
          <a:xfrm>
            <a:off x="8965463" y="1389888"/>
            <a:ext cx="2677592" cy="1371600"/>
          </a:xfrm>
          <a:prstGeom prst="roundRect">
            <a:avLst>
              <a:gd name="adj" fmla="val 6000"/>
            </a:avLst>
          </a:prstGeom>
          <a:solidFill>
            <a:srgbClr val="F6F8FB"/>
          </a:solidFill>
          <a:ln w="9525">
            <a:solidFill>
              <a:srgbClr val="DCE3EC"/>
            </a:solidFill>
            <a:prstDash val="solid"/>
          </a:ln>
        </p:spPr>
      </p:sp>
      <p:sp>
        <p:nvSpPr>
          <p:cNvPr id="23" name="Text 20"/>
          <p:cNvSpPr/>
          <p:nvPr/>
        </p:nvSpPr>
        <p:spPr>
          <a:xfrm>
            <a:off x="9111767" y="1490472"/>
            <a:ext cx="347472" cy="347472"/>
          </a:xfrm>
          <a:prstGeom prst="ellipse">
            <a:avLst/>
          </a:prstGeom>
          <a:solidFill>
            <a:srgbClr val="0B1B3A"/>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4" name="Text 21"/>
          <p:cNvSpPr/>
          <p:nvPr/>
        </p:nvSpPr>
        <p:spPr>
          <a:xfrm>
            <a:off x="9550679" y="1463040"/>
            <a:ext cx="2000936" cy="237744"/>
          </a:xfrm>
          <a:prstGeom prst="rect">
            <a:avLst/>
          </a:prstGeom>
          <a:noFill/>
          <a:ln/>
        </p:spPr>
        <p:txBody>
          <a:bodyPr wrap="square" lIns="0" tIns="0" rIns="0" bIns="0" rtlCol="0" anchor="ctr"/>
          <a:lstStyle/>
          <a:p>
            <a:pPr indent="0" marL="0">
              <a:buNone/>
            </a:pPr>
            <a:r>
              <a:rPr lang="en-US" sz="1250" b="1" dirty="0">
                <a:solidFill>
                  <a:srgbClr val="0B1B3A"/>
                </a:solidFill>
                <a:latin typeface="Calibri" pitchFamily="34" charset="0"/>
                <a:ea typeface="Calibri" pitchFamily="34" charset="-122"/>
                <a:cs typeface="Calibri" pitchFamily="34" charset="-120"/>
              </a:rPr>
              <a:t>Tuned against baseline</a:t>
            </a:r>
            <a:endParaRPr lang="en-US" sz="1250" dirty="0"/>
          </a:p>
        </p:txBody>
      </p:sp>
      <p:sp>
        <p:nvSpPr>
          <p:cNvPr id="25" name="Text 22"/>
          <p:cNvSpPr/>
          <p:nvPr/>
        </p:nvSpPr>
        <p:spPr>
          <a:xfrm>
            <a:off x="9550679" y="1691640"/>
            <a:ext cx="2000936" cy="201168"/>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Did the ranking survive tuning?</a:t>
            </a:r>
            <a:endParaRPr lang="en-US" sz="950" dirty="0"/>
          </a:p>
        </p:txBody>
      </p:sp>
      <p:sp>
        <p:nvSpPr>
          <p:cNvPr id="26" name="Text 23"/>
          <p:cNvSpPr/>
          <p:nvPr/>
        </p:nvSpPr>
        <p:spPr>
          <a:xfrm>
            <a:off x="9111767" y="1993392"/>
            <a:ext cx="2421560" cy="731520"/>
          </a:xfrm>
          <a:prstGeom prst="rect">
            <a:avLst/>
          </a:prstGeom>
          <a:noFill/>
          <a:ln/>
        </p:spPr>
        <p:txBody>
          <a:bodyPr wrap="square" lIns="0" tIns="0" rIns="0" bIns="0" rtlCol="0" anchor="t"/>
          <a:lstStyle/>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All four tuned models improve</a:t>
            </a:r>
            <a:endParaRPr lang="en-US" sz="1050" dirty="0"/>
          </a:p>
          <a:p>
            <a:pPr marL="139700" indent="-139700">
              <a:spcAft>
                <a:spcPts val="300"/>
              </a:spcAft>
              <a:buSzPct val="100000"/>
              <a:buChar char="•"/>
            </a:pPr>
            <a:r>
              <a:rPr lang="en-US" sz="1050" dirty="0">
                <a:solidFill>
                  <a:srgbClr val="334155"/>
                </a:solidFill>
                <a:latin typeface="Calibri" pitchFamily="34" charset="0"/>
                <a:ea typeface="Calibri" pitchFamily="34" charset="-122"/>
                <a:cs typeface="Calibri" pitchFamily="34" charset="-120"/>
              </a:rPr>
              <a:t>Logistic Regression overtakes Gradient Boosting</a:t>
            </a:r>
            <a:endParaRPr lang="en-US" sz="1050" dirty="0"/>
          </a:p>
        </p:txBody>
      </p:sp>
      <p:sp>
        <p:nvSpPr>
          <p:cNvPr id="27" name="Shape 24"/>
          <p:cNvSpPr/>
          <p:nvPr/>
        </p:nvSpPr>
        <p:spPr>
          <a:xfrm>
            <a:off x="548640" y="2889504"/>
            <a:ext cx="6629400" cy="2395728"/>
          </a:xfrm>
          <a:prstGeom prst="roundRect">
            <a:avLst>
              <a:gd name="adj" fmla="val 3435"/>
            </a:avLst>
          </a:prstGeom>
          <a:solidFill>
            <a:srgbClr val="FFFFFF"/>
          </a:solidFill>
          <a:ln w="9525">
            <a:solidFill>
              <a:srgbClr val="DCE3EC"/>
            </a:solidFill>
            <a:prstDash val="solid"/>
          </a:ln>
        </p:spPr>
      </p:sp>
      <p:sp>
        <p:nvSpPr>
          <p:cNvPr id="28" name="Text 25"/>
          <p:cNvSpPr/>
          <p:nvPr/>
        </p:nvSpPr>
        <p:spPr>
          <a:xfrm>
            <a:off x="731520" y="2944368"/>
            <a:ext cx="6263640" cy="256032"/>
          </a:xfrm>
          <a:prstGeom prst="rect">
            <a:avLst/>
          </a:prstGeom>
          <a:noFill/>
          <a:ln/>
        </p:spPr>
        <p:txBody>
          <a:bodyPr wrap="square" lIns="0" tIns="0" rIns="0" bIns="0" rtlCol="0" anchor="ctr"/>
          <a:lstStyle/>
          <a:p>
            <a:pPr indent="0" marL="0">
              <a:buNone/>
            </a:pPr>
            <a:r>
              <a:rPr lang="en-US" sz="1200" b="1" dirty="0">
                <a:solidFill>
                  <a:srgbClr val="0B1B3A"/>
                </a:solidFill>
                <a:latin typeface="Calibri" pitchFamily="34" charset="0"/>
                <a:ea typeface="Calibri" pitchFamily="34" charset="-122"/>
                <a:cs typeface="Calibri" pitchFamily="34" charset="-120"/>
              </a:rPr>
              <a:t>Macro-F1 before and after optimisation (5-fold mean, training split)</a:t>
            </a:r>
            <a:endParaRPr lang="en-US" sz="1200" dirty="0"/>
          </a:p>
        </p:txBody>
      </p:sp>
      <p:graphicFrame>
        <p:nvGraphicFramePr>
          <p:cNvPr id="29" name="Chart 0" descr=""/>
          <p:cNvGraphicFramePr/>
          <p:nvPr/>
        </p:nvGraphicFramePr>
        <p:xfrm>
          <a:off x="640080" y="3200400"/>
          <a:ext cx="6446520" cy="2066544"/>
        </p:xfrm>
        <a:graphic xmlns:a="http://schemas.openxmlformats.org/drawingml/2006/main">
          <a:graphicData uri="http://schemas.openxmlformats.org/drawingml/2006/chart">
            <c:chart xmlns:c="http://schemas.openxmlformats.org/drawingml/2006/chart" r:id="rId1"/>
          </a:graphicData>
        </a:graphic>
      </p:graphicFrame>
      <p:sp>
        <p:nvSpPr>
          <p:cNvPr id="30" name="Shape 26"/>
          <p:cNvSpPr/>
          <p:nvPr/>
        </p:nvSpPr>
        <p:spPr>
          <a:xfrm>
            <a:off x="7306056" y="2889504"/>
            <a:ext cx="4336999" cy="1152144"/>
          </a:xfrm>
          <a:prstGeom prst="roundRect">
            <a:avLst>
              <a:gd name="adj" fmla="val 7143"/>
            </a:avLst>
          </a:prstGeom>
          <a:solidFill>
            <a:srgbClr val="FFF4EC"/>
          </a:solidFill>
          <a:ln w="9525">
            <a:solidFill>
              <a:srgbClr val="FBD5B8"/>
            </a:solidFill>
            <a:prstDash val="solid"/>
          </a:ln>
        </p:spPr>
      </p:sp>
      <p:sp>
        <p:nvSpPr>
          <p:cNvPr id="31" name="Text 27"/>
          <p:cNvSpPr/>
          <p:nvPr/>
        </p:nvSpPr>
        <p:spPr>
          <a:xfrm>
            <a:off x="7470648" y="2953512"/>
            <a:ext cx="4007815" cy="274320"/>
          </a:xfrm>
          <a:prstGeom prst="rect">
            <a:avLst/>
          </a:prstGeom>
          <a:noFill/>
          <a:ln/>
        </p:spPr>
        <p:txBody>
          <a:bodyPr wrap="square" lIns="0" tIns="0" rIns="0" bIns="0" rtlCol="0" anchor="ctr"/>
          <a:lstStyle/>
          <a:p>
            <a:pPr indent="0" marL="0">
              <a:buNone/>
            </a:pPr>
            <a:r>
              <a:rPr lang="en-US" sz="1250" b="1" dirty="0">
                <a:solidFill>
                  <a:srgbClr val="C2410C"/>
                </a:solidFill>
                <a:latin typeface="Calibri" pitchFamily="34" charset="0"/>
                <a:ea typeface="Calibri" pitchFamily="34" charset="-122"/>
                <a:cs typeface="Calibri" pitchFamily="34" charset="-120"/>
              </a:rPr>
              <a:t>Why class weighting hurt Logistic Regression</a:t>
            </a:r>
            <a:endParaRPr lang="en-US" sz="1250" dirty="0"/>
          </a:p>
        </p:txBody>
      </p:sp>
      <p:sp>
        <p:nvSpPr>
          <p:cNvPr id="32" name="Text 28"/>
          <p:cNvSpPr/>
          <p:nvPr/>
        </p:nvSpPr>
        <p:spPr>
          <a:xfrm>
            <a:off x="7470648" y="3255264"/>
            <a:ext cx="4026103" cy="749808"/>
          </a:xfrm>
          <a:prstGeom prst="rect">
            <a:avLst/>
          </a:prstGeom>
          <a:noFill/>
          <a:ln/>
        </p:spPr>
        <p:txBody>
          <a:bodyPr wrap="square" lIns="0" tIns="0" rIns="0" bIns="0" rtlCol="0" anchor="t"/>
          <a:lstStyle/>
          <a:p>
            <a:pPr indent="0" marL="0">
              <a:lnSpc>
                <a:spcPct val="104000"/>
              </a:lnSpc>
              <a:buNone/>
            </a:pPr>
            <a:r>
              <a:rPr lang="en-US" sz="1100" dirty="0">
                <a:solidFill>
                  <a:srgbClr val="334155"/>
                </a:solidFill>
                <a:latin typeface="Calibri" pitchFamily="34" charset="0"/>
                <a:ea typeface="Calibri" pitchFamily="34" charset="-122"/>
                <a:cs typeface="Calibri" pitchFamily="34" charset="-120"/>
              </a:rPr>
              <a:t>Re-weighting inflates rare-role probabilities everywhere: a little recall gained, far more precision lost. Removing it adds +0.047 macro-F1.</a:t>
            </a:r>
            <a:endParaRPr lang="en-US" sz="1100" dirty="0"/>
          </a:p>
        </p:txBody>
      </p:sp>
      <p:sp>
        <p:nvSpPr>
          <p:cNvPr id="33" name="Shape 29"/>
          <p:cNvSpPr/>
          <p:nvPr/>
        </p:nvSpPr>
        <p:spPr>
          <a:xfrm>
            <a:off x="7306056" y="4151376"/>
            <a:ext cx="4336999" cy="1133856"/>
          </a:xfrm>
          <a:prstGeom prst="roundRect">
            <a:avLst>
              <a:gd name="adj" fmla="val 7258"/>
            </a:avLst>
          </a:prstGeom>
          <a:solidFill>
            <a:srgbClr val="EFF5FF"/>
          </a:solidFill>
          <a:ln w="9525">
            <a:solidFill>
              <a:srgbClr val="D2E2FD"/>
            </a:solidFill>
            <a:prstDash val="solid"/>
          </a:ln>
        </p:spPr>
      </p:sp>
      <p:sp>
        <p:nvSpPr>
          <p:cNvPr id="34" name="Text 30"/>
          <p:cNvSpPr/>
          <p:nvPr/>
        </p:nvSpPr>
        <p:spPr>
          <a:xfrm>
            <a:off x="7470648" y="4215384"/>
            <a:ext cx="4007815" cy="274320"/>
          </a:xfrm>
          <a:prstGeom prst="rect">
            <a:avLst/>
          </a:prstGeom>
          <a:noFill/>
          <a:ln/>
        </p:spPr>
        <p:txBody>
          <a:bodyPr wrap="square" lIns="0" tIns="0" rIns="0" bIns="0" rtlCol="0" anchor="ctr"/>
          <a:lstStyle/>
          <a:p>
            <a:pPr indent="0" marL="0">
              <a:buNone/>
            </a:pPr>
            <a:r>
              <a:rPr lang="en-US" sz="1250" b="1" dirty="0">
                <a:solidFill>
                  <a:srgbClr val="2563EB"/>
                </a:solidFill>
                <a:latin typeface="Calibri" pitchFamily="34" charset="0"/>
                <a:ea typeface="Calibri" pitchFamily="34" charset="-122"/>
                <a:cs typeface="Calibri" pitchFamily="34" charset="-120"/>
              </a:rPr>
              <a:t>Tuning changed the winner</a:t>
            </a:r>
            <a:endParaRPr lang="en-US" sz="1250" dirty="0"/>
          </a:p>
        </p:txBody>
      </p:sp>
      <p:sp>
        <p:nvSpPr>
          <p:cNvPr id="35" name="Text 31"/>
          <p:cNvSpPr/>
          <p:nvPr/>
        </p:nvSpPr>
        <p:spPr>
          <a:xfrm>
            <a:off x="7470648" y="4517136"/>
            <a:ext cx="4026103" cy="731520"/>
          </a:xfrm>
          <a:prstGeom prst="rect">
            <a:avLst/>
          </a:prstGeom>
          <a:noFill/>
          <a:ln/>
        </p:spPr>
        <p:txBody>
          <a:bodyPr wrap="square" lIns="0" tIns="0" rIns="0" bIns="0" rtlCol="0" anchor="t"/>
          <a:lstStyle/>
          <a:p>
            <a:pPr indent="0" marL="0">
              <a:lnSpc>
                <a:spcPct val="104000"/>
              </a:lnSpc>
              <a:buNone/>
            </a:pPr>
            <a:r>
              <a:rPr lang="en-US" sz="1100" dirty="0">
                <a:solidFill>
                  <a:srgbClr val="334155"/>
                </a:solidFill>
                <a:latin typeface="Calibri" pitchFamily="34" charset="0"/>
                <a:ea typeface="Calibri" pitchFamily="34" charset="-122"/>
                <a:cs typeface="Calibri" pitchFamily="34" charset="-120"/>
              </a:rPr>
              <a:t>Gradient Boosting led Stage 6 (0.2724). After tuning, Logistic Regression leads 0.3030 to 0.2860 and fits in 3.3 s.</a:t>
            </a:r>
            <a:endParaRPr lang="en-US" sz="1100" dirty="0"/>
          </a:p>
        </p:txBody>
      </p:sp>
      <p:sp>
        <p:nvSpPr>
          <p:cNvPr id="36" name="Shape 32"/>
          <p:cNvSpPr/>
          <p:nvPr/>
        </p:nvSpPr>
        <p:spPr>
          <a:xfrm>
            <a:off x="548640" y="5413248"/>
            <a:ext cx="11094415" cy="841248"/>
          </a:xfrm>
          <a:prstGeom prst="roundRect">
            <a:avLst>
              <a:gd name="adj" fmla="val 9783"/>
            </a:avLst>
          </a:prstGeom>
          <a:solidFill>
            <a:srgbClr val="0B1B3A"/>
          </a:solidFill>
          <a:ln/>
        </p:spPr>
      </p:sp>
      <p:sp>
        <p:nvSpPr>
          <p:cNvPr id="37" name="Text 33"/>
          <p:cNvSpPr/>
          <p:nvPr/>
        </p:nvSpPr>
        <p:spPr>
          <a:xfrm>
            <a:off x="777240" y="5486400"/>
            <a:ext cx="6949440" cy="219456"/>
          </a:xfrm>
          <a:prstGeom prst="rect">
            <a:avLst/>
          </a:prstGeom>
          <a:noFill/>
          <a:ln/>
        </p:spPr>
        <p:txBody>
          <a:bodyPr wrap="square" lIns="0" tIns="0" rIns="0" bIns="0" rtlCol="0" anchor="ctr"/>
          <a:lstStyle/>
          <a:p>
            <a:pPr indent="0" marL="0">
              <a:buNone/>
            </a:pPr>
            <a:r>
              <a:rPr lang="en-US" sz="950" b="1" spc="150" kern="0" dirty="0">
                <a:solidFill>
                  <a:srgbClr val="9DC1FF"/>
                </a:solidFill>
                <a:latin typeface="Calibri" pitchFamily="34" charset="0"/>
                <a:ea typeface="Calibri" pitchFamily="34" charset="-122"/>
                <a:cs typeface="Calibri" pitchFamily="34" charset="-120"/>
              </a:rPr>
              <a:t>SELECTION RULE, WRITTEN BEFORE THE RESULTS WERE READ</a:t>
            </a:r>
            <a:endParaRPr lang="en-US" sz="950" dirty="0"/>
          </a:p>
        </p:txBody>
      </p:sp>
      <p:sp>
        <p:nvSpPr>
          <p:cNvPr id="38" name="Text 34"/>
          <p:cNvSpPr/>
          <p:nvPr/>
        </p:nvSpPr>
        <p:spPr>
          <a:xfrm>
            <a:off x="777240" y="5715000"/>
            <a:ext cx="7040880" cy="493776"/>
          </a:xfrm>
          <a:prstGeom prst="rect">
            <a:avLst/>
          </a:prstGeom>
          <a:noFill/>
          <a:ln/>
        </p:spPr>
        <p:txBody>
          <a:bodyPr wrap="square" lIns="0" tIns="0" rIns="0" bIns="0" rtlCol="0" anchor="t"/>
          <a:lstStyle/>
          <a:p>
            <a:pPr indent="0" marL="0">
              <a:lnSpc>
                <a:spcPct val="103000"/>
              </a:lnSpc>
              <a:buNone/>
            </a:pPr>
            <a:r>
              <a:rPr lang="en-US" sz="1200" dirty="0">
                <a:solidFill>
                  <a:srgbClr val="FFFFFF"/>
                </a:solidFill>
                <a:latin typeface="Calibri" pitchFamily="34" charset="0"/>
                <a:ea typeface="Calibri" pitchFamily="34" charset="-122"/>
                <a:cs typeface="Calibri" pitchFamily="34" charset="-120"/>
              </a:rPr>
              <a:t>Highest 5-fold macro-F1 on the training split. Models within one standard deviation of the best are tied, and the cheapest to fit wins.</a:t>
            </a:r>
            <a:endParaRPr lang="en-US" sz="1200" dirty="0"/>
          </a:p>
        </p:txBody>
      </p:sp>
      <p:sp>
        <p:nvSpPr>
          <p:cNvPr id="39" name="Shape 35"/>
          <p:cNvSpPr/>
          <p:nvPr/>
        </p:nvSpPr>
        <p:spPr>
          <a:xfrm>
            <a:off x="8046720" y="5541264"/>
            <a:ext cx="0" cy="585216"/>
          </a:xfrm>
          <a:prstGeom prst="line">
            <a:avLst/>
          </a:prstGeom>
          <a:noFill/>
          <a:ln w="12700">
            <a:solidFill>
              <a:srgbClr val="35507F"/>
            </a:solidFill>
            <a:prstDash val="solid"/>
          </a:ln>
        </p:spPr>
      </p:sp>
      <p:sp>
        <p:nvSpPr>
          <p:cNvPr id="40" name="Text 36"/>
          <p:cNvSpPr/>
          <p:nvPr/>
        </p:nvSpPr>
        <p:spPr>
          <a:xfrm>
            <a:off x="8247888" y="5486400"/>
            <a:ext cx="3200400" cy="219456"/>
          </a:xfrm>
          <a:prstGeom prst="rect">
            <a:avLst/>
          </a:prstGeom>
          <a:noFill/>
          <a:ln/>
        </p:spPr>
        <p:txBody>
          <a:bodyPr wrap="square" lIns="0" tIns="0" rIns="0" bIns="0" rtlCol="0" anchor="ctr"/>
          <a:lstStyle/>
          <a:p>
            <a:pPr indent="0" marL="0">
              <a:buNone/>
            </a:pPr>
            <a:r>
              <a:rPr lang="en-US" sz="950" b="1" spc="150" kern="0" dirty="0">
                <a:solidFill>
                  <a:srgbClr val="9DC1FF"/>
                </a:solidFill>
                <a:latin typeface="Calibri" pitchFamily="34" charset="0"/>
                <a:ea typeface="Calibri" pitchFamily="34" charset="-122"/>
                <a:cs typeface="Calibri" pitchFamily="34" charset="-120"/>
              </a:rPr>
              <a:t>FINAL MODEL</a:t>
            </a:r>
            <a:endParaRPr lang="en-US" sz="950" dirty="0"/>
          </a:p>
        </p:txBody>
      </p:sp>
      <p:sp>
        <p:nvSpPr>
          <p:cNvPr id="41" name="Text 37"/>
          <p:cNvSpPr/>
          <p:nvPr/>
        </p:nvSpPr>
        <p:spPr>
          <a:xfrm>
            <a:off x="8247888" y="5696712"/>
            <a:ext cx="3246120" cy="530352"/>
          </a:xfrm>
          <a:prstGeom prst="rect">
            <a:avLst/>
          </a:prstGeom>
          <a:noFill/>
          <a:ln/>
        </p:spPr>
        <p:txBody>
          <a:bodyPr wrap="square" lIns="0" tIns="0" rIns="0" bIns="0" rtlCol="0" anchor="t"/>
          <a:lstStyle/>
          <a:p>
            <a:pPr indent="0" marL="0">
              <a:lnSpc>
                <a:spcPct val="98000"/>
              </a:lnSpc>
              <a:buNone/>
            </a:pPr>
            <a:r>
              <a:rPr lang="en-US" sz="1300" b="1" dirty="0">
                <a:solidFill>
                  <a:srgbClr val="FFFFFF"/>
                </a:solidFill>
                <a:latin typeface="Calibri" pitchFamily="34" charset="0"/>
                <a:ea typeface="Calibri" pitchFamily="34" charset="-122"/>
                <a:cs typeface="Calibri" pitchFamily="34" charset="-120"/>
              </a:rPr>
              <a:t>Logistic Regression</a:t>
            </a:r>
            <a:endParaRPr lang="en-US" sz="1300" dirty="0"/>
          </a:p>
          <a:p>
            <a:pPr indent="0" marL="0">
              <a:lnSpc>
                <a:spcPct val="98000"/>
              </a:lnSpc>
              <a:buNone/>
            </a:pPr>
            <a:r>
              <a:rPr lang="en-US" sz="950" dirty="0">
                <a:solidFill>
                  <a:srgbClr val="CBD5E1"/>
                </a:solidFill>
                <a:latin typeface="Calibri" pitchFamily="34" charset="0"/>
                <a:ea typeface="Calibri" pitchFamily="34" charset="-122"/>
                <a:cs typeface="Calibri" pitchFamily="34" charset="-120"/>
              </a:rPr>
              <a:t>C = 0.218, no class weighting; the only model within one SD of the best</a:t>
            </a:r>
            <a:endParaRPr lang="en-US" sz="1300" dirty="0"/>
          </a:p>
        </p:txBody>
      </p:sp>
      <p:sp>
        <p:nvSpPr>
          <p:cNvPr id="25" name="Slide Number Placeholder 0"/>
          <p:cNvSpPr>
            <a:spLocks noGrp="1"/>
          </p:cNvSpPr>
          <p:nvPr>
            <p:ph type="sldNum" sz="quarter" idx="4294967295"/>
          </p:nvPr>
        </p:nvSpPr>
        <p:spPr>
          <a:xfrm>
            <a:off x="11094415" y="6464808"/>
            <a:ext cx="5486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64748B"/>
                </a:solidFill>
                <a:latin typeface="Calibri"/>
                <a:ea typeface="Calibri"/>
                <a:cs typeface="Calibri"/>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64008" cy="713232"/>
          </a:xfrm>
          <a:prstGeom prst="rect">
            <a:avLst/>
          </a:prstGeom>
          <a:solidFill>
            <a:srgbClr val="2563EB"/>
          </a:solidFill>
          <a:ln/>
        </p:spPr>
      </p:sp>
      <p:sp>
        <p:nvSpPr>
          <p:cNvPr id="3" name="Text 1"/>
          <p:cNvSpPr/>
          <p:nvPr/>
        </p:nvSpPr>
        <p:spPr>
          <a:xfrm>
            <a:off x="749808" y="429768"/>
            <a:ext cx="7315200" cy="256032"/>
          </a:xfrm>
          <a:prstGeom prst="rect">
            <a:avLst/>
          </a:prstGeom>
          <a:noFill/>
          <a:ln/>
        </p:spPr>
        <p:txBody>
          <a:bodyPr wrap="square" lIns="0" tIns="0" rIns="0" bIns="0" rtlCol="0" anchor="t"/>
          <a:lstStyle/>
          <a:p>
            <a:pPr indent="0" marL="0">
              <a:buNone/>
            </a:pPr>
            <a:r>
              <a:rPr lang="en-US" sz="1100" b="1" spc="200" kern="0" dirty="0">
                <a:solidFill>
                  <a:srgbClr val="2563EB"/>
                </a:solidFill>
                <a:latin typeface="Calibri" pitchFamily="34" charset="0"/>
                <a:ea typeface="Calibri" pitchFamily="34" charset="-122"/>
                <a:cs typeface="Calibri" pitchFamily="34" charset="-120"/>
              </a:rPr>
              <a:t>MODELS, OPTIMISATION &amp; RESULTS</a:t>
            </a:r>
            <a:endParaRPr lang="en-US" sz="1100" dirty="0"/>
          </a:p>
        </p:txBody>
      </p:sp>
      <p:sp>
        <p:nvSpPr>
          <p:cNvPr id="4" name="Text 2"/>
          <p:cNvSpPr/>
          <p:nvPr/>
        </p:nvSpPr>
        <p:spPr>
          <a:xfrm>
            <a:off x="749808" y="676656"/>
            <a:ext cx="8229600" cy="512064"/>
          </a:xfrm>
          <a:prstGeom prst="rect">
            <a:avLst/>
          </a:prstGeom>
          <a:noFill/>
          <a:ln/>
        </p:spPr>
        <p:txBody>
          <a:bodyPr wrap="square" lIns="0" tIns="0" rIns="0" bIns="0" rtlCol="0" anchor="ctr"/>
          <a:lstStyle/>
          <a:p>
            <a:pPr indent="0" marL="0">
              <a:buNone/>
            </a:pPr>
            <a:r>
              <a:rPr lang="en-US" sz="2800" b="1" dirty="0">
                <a:solidFill>
                  <a:srgbClr val="0B1B3A"/>
                </a:solidFill>
                <a:latin typeface="Calibri" pitchFamily="34" charset="0"/>
                <a:ea typeface="Calibri" pitchFamily="34" charset="-122"/>
                <a:cs typeface="Calibri" pitchFamily="34" charset="-120"/>
              </a:rPr>
              <a:t>Final Model Evaluation</a:t>
            </a:r>
            <a:endParaRPr lang="en-US" sz="2800" dirty="0"/>
          </a:p>
        </p:txBody>
      </p:sp>
      <p:sp>
        <p:nvSpPr>
          <p:cNvPr id="5" name="Text 3"/>
          <p:cNvSpPr/>
          <p:nvPr/>
        </p:nvSpPr>
        <p:spPr>
          <a:xfrm>
            <a:off x="8945575" y="548640"/>
            <a:ext cx="2697480" cy="365760"/>
          </a:xfrm>
          <a:prstGeom prst="roundRect">
            <a:avLst>
              <a:gd name="adj" fmla="val 50000"/>
            </a:avLst>
          </a:prstGeom>
          <a:solidFill>
            <a:srgbClr val="EFF5FF"/>
          </a:solidFill>
          <a:ln w="9525">
            <a:solidFill>
              <a:srgbClr val="D2E2FD"/>
            </a:solid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Member 3</a:t>
            </a:r>
            <a:pPr algn="ctr" indent="0" marL="0">
              <a:buNone/>
            </a:pPr>
            <a:r>
              <a:rPr lang="en-US" sz="1100" b="1" dirty="0">
                <a:solidFill>
                  <a:srgbClr val="334155"/>
                </a:solidFill>
                <a:latin typeface="Calibri" pitchFamily="34" charset="0"/>
                <a:ea typeface="Calibri" pitchFamily="34" charset="-122"/>
                <a:cs typeface="Calibri" pitchFamily="34" charset="-120"/>
              </a:rPr>
              <a:t>   M G S D Wijesinghe</a:t>
            </a:r>
            <a:endParaRPr lang="en-US" sz="1100" dirty="0"/>
          </a:p>
        </p:txBody>
      </p:sp>
      <p:sp>
        <p:nvSpPr>
          <p:cNvPr id="7" name="Text 4"/>
          <p:cNvSpPr/>
          <p:nvPr/>
        </p:nvSpPr>
        <p:spPr>
          <a:xfrm>
            <a:off x="548640" y="1335024"/>
            <a:ext cx="11094415" cy="256032"/>
          </a:xfrm>
          <a:prstGeom prst="rect">
            <a:avLst/>
          </a:prstGeom>
          <a:noFill/>
          <a:ln/>
        </p:spPr>
        <p:txBody>
          <a:bodyPr wrap="square" lIns="0" tIns="0" rIns="0" bIns="0" rtlCol="0" anchor="ctr"/>
          <a:lstStyle/>
          <a:p>
            <a:pPr indent="0" marL="0">
              <a:buNone/>
            </a:pPr>
            <a:r>
              <a:rPr lang="en-US" sz="1200" b="1" dirty="0">
                <a:solidFill>
                  <a:srgbClr val="0B1B3A"/>
                </a:solidFill>
                <a:latin typeface="Calibri" pitchFamily="34" charset="0"/>
                <a:ea typeface="Calibri" pitchFamily="34" charset="-122"/>
                <a:cs typeface="Calibri" pitchFamily="34" charset="-120"/>
              </a:rPr>
              <a:t>Logistic Regression</a:t>
            </a:r>
            <a:pPr indent="0" marL="0">
              <a:buNone/>
            </a:pPr>
            <a:r>
              <a:rPr lang="en-US" sz="1200" dirty="0">
                <a:solidFill>
                  <a:srgbClr val="334155"/>
                </a:solidFill>
                <a:latin typeface="Calibri" pitchFamily="34" charset="0"/>
                <a:ea typeface="Calibri" pitchFamily="34" charset="-122"/>
                <a:cs typeface="Calibri" pitchFamily="34" charset="-120"/>
              </a:rPr>
              <a:t>, refitted on 18,457 training rows and evaluated </a:t>
            </a:r>
            <a:pPr indent="0" marL="0">
              <a:buNone/>
            </a:pPr>
            <a:r>
              <a:rPr lang="en-US" sz="1200" b="1" dirty="0">
                <a:solidFill>
                  <a:srgbClr val="0B1B3A"/>
                </a:solidFill>
                <a:latin typeface="Calibri" pitchFamily="34" charset="0"/>
                <a:ea typeface="Calibri" pitchFamily="34" charset="-122"/>
                <a:cs typeface="Calibri" pitchFamily="34" charset="-120"/>
              </a:rPr>
              <a:t>once</a:t>
            </a:r>
            <a:pPr indent="0" marL="0">
              <a:buNone/>
            </a:pPr>
            <a:r>
              <a:rPr lang="en-US" sz="1200" dirty="0">
                <a:solidFill>
                  <a:srgbClr val="334155"/>
                </a:solidFill>
                <a:latin typeface="Calibri" pitchFamily="34" charset="0"/>
                <a:ea typeface="Calibri" pitchFamily="34" charset="-122"/>
                <a:cs typeface="Calibri" pitchFamily="34" charset="-120"/>
              </a:rPr>
              <a:t> on 4,615 held-out respondents</a:t>
            </a:r>
            <a:endParaRPr lang="en-US" sz="1200" dirty="0"/>
          </a:p>
        </p:txBody>
      </p:sp>
      <p:sp>
        <p:nvSpPr>
          <p:cNvPr id="8" name="Shape 5"/>
          <p:cNvSpPr/>
          <p:nvPr/>
        </p:nvSpPr>
        <p:spPr>
          <a:xfrm>
            <a:off x="548640" y="1682496"/>
            <a:ext cx="3108960" cy="1133856"/>
          </a:xfrm>
          <a:prstGeom prst="roundRect">
            <a:avLst>
              <a:gd name="adj" fmla="val 7258"/>
            </a:avLst>
          </a:prstGeom>
          <a:solidFill>
            <a:srgbClr val="0B1B3A"/>
          </a:solidFill>
          <a:ln w="9525">
            <a:solidFill>
              <a:srgbClr val="0B1B3A"/>
            </a:solidFill>
            <a:prstDash val="solid"/>
          </a:ln>
          <a:effectLst>
            <a:outerShdw sx="100000" sy="100000" kx="0" ky="0" algn="bl" rotWithShape="0" blurRad="114300" dist="25400" dir="5400000">
              <a:srgbClr val="0F172A">
                <a:alpha val="10000"/>
              </a:srgbClr>
            </a:outerShdw>
          </a:effectLst>
        </p:spPr>
      </p:sp>
      <p:sp>
        <p:nvSpPr>
          <p:cNvPr id="9" name="Text 6"/>
          <p:cNvSpPr/>
          <p:nvPr/>
        </p:nvSpPr>
        <p:spPr>
          <a:xfrm>
            <a:off x="731520" y="1755648"/>
            <a:ext cx="2743200" cy="621792"/>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83.92%</a:t>
            </a:r>
            <a:endParaRPr lang="en-US" sz="4000" dirty="0"/>
          </a:p>
        </p:txBody>
      </p:sp>
      <p:sp>
        <p:nvSpPr>
          <p:cNvPr id="10" name="Text 7"/>
          <p:cNvSpPr/>
          <p:nvPr/>
        </p:nvSpPr>
        <p:spPr>
          <a:xfrm>
            <a:off x="731520" y="2377440"/>
            <a:ext cx="2788920" cy="384048"/>
          </a:xfrm>
          <a:prstGeom prst="rect">
            <a:avLst/>
          </a:prstGeom>
          <a:noFill/>
          <a:ln/>
        </p:spPr>
        <p:txBody>
          <a:bodyPr wrap="square" lIns="0" tIns="0" rIns="0" bIns="0" rtlCol="0" anchor="t"/>
          <a:lstStyle/>
          <a:p>
            <a:pPr indent="0" marL="0">
              <a:lnSpc>
                <a:spcPct val="98000"/>
              </a:lnSpc>
              <a:buNone/>
            </a:pPr>
            <a:r>
              <a:rPr lang="en-US" sz="1050" dirty="0">
                <a:solidFill>
                  <a:srgbClr val="9DC1FF"/>
                </a:solidFill>
                <a:latin typeface="Calibri" pitchFamily="34" charset="0"/>
                <a:ea typeface="Calibri" pitchFamily="34" charset="-122"/>
                <a:cs typeface="Calibri" pitchFamily="34" charset="-120"/>
              </a:rPr>
              <a:t>Top-3 job-role accuracy: the true role is among the three shown</a:t>
            </a:r>
            <a:endParaRPr lang="en-US" sz="1050" dirty="0"/>
          </a:p>
        </p:txBody>
      </p:sp>
      <p:sp>
        <p:nvSpPr>
          <p:cNvPr id="11" name="Shape 8"/>
          <p:cNvSpPr/>
          <p:nvPr/>
        </p:nvSpPr>
        <p:spPr>
          <a:xfrm>
            <a:off x="3785616" y="1682496"/>
            <a:ext cx="1868348" cy="1133856"/>
          </a:xfrm>
          <a:prstGeom prst="roundRect">
            <a:avLst>
              <a:gd name="adj" fmla="val 7258"/>
            </a:avLst>
          </a:prstGeom>
          <a:solidFill>
            <a:srgbClr val="EFF5FF"/>
          </a:solidFill>
          <a:ln w="9525">
            <a:solidFill>
              <a:srgbClr val="D2E2FD"/>
            </a:solidFill>
            <a:prstDash val="solid"/>
          </a:ln>
        </p:spPr>
      </p:sp>
      <p:sp>
        <p:nvSpPr>
          <p:cNvPr id="12" name="Text 9"/>
          <p:cNvSpPr/>
          <p:nvPr/>
        </p:nvSpPr>
        <p:spPr>
          <a:xfrm>
            <a:off x="3922776" y="1792224"/>
            <a:ext cx="1594028" cy="548640"/>
          </a:xfrm>
          <a:prstGeom prst="rect">
            <a:avLst/>
          </a:prstGeom>
          <a:noFill/>
          <a:ln/>
        </p:spPr>
        <p:txBody>
          <a:bodyPr wrap="square" lIns="0" tIns="0" rIns="0" bIns="0" rtlCol="0" anchor="ctr"/>
          <a:lstStyle/>
          <a:p>
            <a:pPr indent="0" marL="0">
              <a:buNone/>
            </a:pPr>
            <a:r>
              <a:rPr lang="en-US" sz="2800" b="1" dirty="0">
                <a:solidFill>
                  <a:srgbClr val="2563EB"/>
                </a:solidFill>
                <a:latin typeface="Calibri" pitchFamily="34" charset="0"/>
                <a:ea typeface="Calibri" pitchFamily="34" charset="-122"/>
                <a:cs typeface="Calibri" pitchFamily="34" charset="-120"/>
              </a:rPr>
              <a:t>87.78%</a:t>
            </a:r>
            <a:endParaRPr lang="en-US" sz="2800" dirty="0"/>
          </a:p>
        </p:txBody>
      </p:sp>
      <p:sp>
        <p:nvSpPr>
          <p:cNvPr id="13" name="Text 10"/>
          <p:cNvSpPr/>
          <p:nvPr/>
        </p:nvSpPr>
        <p:spPr>
          <a:xfrm>
            <a:off x="3922776" y="2359152"/>
            <a:ext cx="1639748" cy="384048"/>
          </a:xfrm>
          <a:prstGeom prst="rect">
            <a:avLst/>
          </a:prstGeom>
          <a:noFill/>
          <a:ln/>
        </p:spPr>
        <p:txBody>
          <a:bodyPr wrap="square" lIns="0" tIns="0" rIns="0" bIns="0" rtlCol="0" anchor="t"/>
          <a:lstStyle/>
          <a:p>
            <a:pPr indent="0" marL="0">
              <a:lnSpc>
                <a:spcPct val="98000"/>
              </a:lnSpc>
              <a:buNone/>
            </a:pPr>
            <a:r>
              <a:rPr lang="en-US" sz="1050" dirty="0">
                <a:solidFill>
                  <a:srgbClr val="334155"/>
                </a:solidFill>
                <a:latin typeface="Calibri" pitchFamily="34" charset="0"/>
                <a:ea typeface="Calibri" pitchFamily="34" charset="-122"/>
                <a:cs typeface="Calibri" pitchFamily="34" charset="-120"/>
              </a:rPr>
              <a:t>Career-family top-3 accuracy</a:t>
            </a:r>
            <a:endParaRPr lang="en-US" sz="1050" dirty="0"/>
          </a:p>
        </p:txBody>
      </p:sp>
      <p:sp>
        <p:nvSpPr>
          <p:cNvPr id="14" name="Shape 11"/>
          <p:cNvSpPr/>
          <p:nvPr/>
        </p:nvSpPr>
        <p:spPr>
          <a:xfrm>
            <a:off x="5781980" y="1682496"/>
            <a:ext cx="1868348" cy="1133856"/>
          </a:xfrm>
          <a:prstGeom prst="roundRect">
            <a:avLst>
              <a:gd name="adj" fmla="val 7258"/>
            </a:avLst>
          </a:prstGeom>
          <a:solidFill>
            <a:srgbClr val="F6F8FB"/>
          </a:solidFill>
          <a:ln w="9525">
            <a:solidFill>
              <a:srgbClr val="DCE3EC"/>
            </a:solidFill>
            <a:prstDash val="solid"/>
          </a:ln>
        </p:spPr>
      </p:sp>
      <p:sp>
        <p:nvSpPr>
          <p:cNvPr id="15" name="Text 12"/>
          <p:cNvSpPr/>
          <p:nvPr/>
        </p:nvSpPr>
        <p:spPr>
          <a:xfrm>
            <a:off x="5919140" y="1792224"/>
            <a:ext cx="1594028" cy="548640"/>
          </a:xfrm>
          <a:prstGeom prst="rect">
            <a:avLst/>
          </a:prstGeom>
          <a:noFill/>
          <a:ln/>
        </p:spPr>
        <p:txBody>
          <a:bodyPr wrap="square" lIns="0" tIns="0" rIns="0" bIns="0" rtlCol="0" anchor="ctr"/>
          <a:lstStyle/>
          <a:p>
            <a:pPr indent="0" marL="0">
              <a:buNone/>
            </a:pPr>
            <a:r>
              <a:rPr lang="en-US" sz="2800" b="1" dirty="0">
                <a:solidFill>
                  <a:srgbClr val="0B1B3A"/>
                </a:solidFill>
                <a:latin typeface="Calibri" pitchFamily="34" charset="0"/>
                <a:ea typeface="Calibri" pitchFamily="34" charset="-122"/>
                <a:cs typeface="Calibri" pitchFamily="34" charset="-120"/>
              </a:rPr>
              <a:t>54.93%</a:t>
            </a:r>
            <a:endParaRPr lang="en-US" sz="2800" dirty="0"/>
          </a:p>
        </p:txBody>
      </p:sp>
      <p:sp>
        <p:nvSpPr>
          <p:cNvPr id="16" name="Text 13"/>
          <p:cNvSpPr/>
          <p:nvPr/>
        </p:nvSpPr>
        <p:spPr>
          <a:xfrm>
            <a:off x="5919140" y="2359152"/>
            <a:ext cx="1639748" cy="384048"/>
          </a:xfrm>
          <a:prstGeom prst="rect">
            <a:avLst/>
          </a:prstGeom>
          <a:noFill/>
          <a:ln/>
        </p:spPr>
        <p:txBody>
          <a:bodyPr wrap="square" lIns="0" tIns="0" rIns="0" bIns="0" rtlCol="0" anchor="t"/>
          <a:lstStyle/>
          <a:p>
            <a:pPr indent="0" marL="0">
              <a:lnSpc>
                <a:spcPct val="98000"/>
              </a:lnSpc>
              <a:buNone/>
            </a:pPr>
            <a:r>
              <a:rPr lang="en-US" sz="1050" dirty="0">
                <a:solidFill>
                  <a:srgbClr val="334155"/>
                </a:solidFill>
                <a:latin typeface="Calibri" pitchFamily="34" charset="0"/>
                <a:ea typeface="Calibri" pitchFamily="34" charset="-122"/>
                <a:cs typeface="Calibri" pitchFamily="34" charset="-120"/>
              </a:rPr>
              <a:t>Top-1 accuracy</a:t>
            </a:r>
            <a:endParaRPr lang="en-US" sz="1050" dirty="0"/>
          </a:p>
        </p:txBody>
      </p:sp>
      <p:sp>
        <p:nvSpPr>
          <p:cNvPr id="17" name="Shape 14"/>
          <p:cNvSpPr/>
          <p:nvPr/>
        </p:nvSpPr>
        <p:spPr>
          <a:xfrm>
            <a:off x="7778344" y="1682496"/>
            <a:ext cx="1868348" cy="1133856"/>
          </a:xfrm>
          <a:prstGeom prst="roundRect">
            <a:avLst>
              <a:gd name="adj" fmla="val 7258"/>
            </a:avLst>
          </a:prstGeom>
          <a:solidFill>
            <a:srgbClr val="F6F8FB"/>
          </a:solidFill>
          <a:ln w="9525">
            <a:solidFill>
              <a:srgbClr val="DCE3EC"/>
            </a:solidFill>
            <a:prstDash val="solid"/>
          </a:ln>
        </p:spPr>
      </p:sp>
      <p:sp>
        <p:nvSpPr>
          <p:cNvPr id="18" name="Text 15"/>
          <p:cNvSpPr/>
          <p:nvPr/>
        </p:nvSpPr>
        <p:spPr>
          <a:xfrm>
            <a:off x="7915504" y="1792224"/>
            <a:ext cx="1594028" cy="548640"/>
          </a:xfrm>
          <a:prstGeom prst="rect">
            <a:avLst/>
          </a:prstGeom>
          <a:noFill/>
          <a:ln/>
        </p:spPr>
        <p:txBody>
          <a:bodyPr wrap="square" lIns="0" tIns="0" rIns="0" bIns="0" rtlCol="0" anchor="ctr"/>
          <a:lstStyle/>
          <a:p>
            <a:pPr indent="0" marL="0">
              <a:buNone/>
            </a:pPr>
            <a:r>
              <a:rPr lang="en-US" sz="2800" b="1" dirty="0">
                <a:solidFill>
                  <a:srgbClr val="0B1B3A"/>
                </a:solidFill>
                <a:latin typeface="Calibri" pitchFamily="34" charset="0"/>
                <a:ea typeface="Calibri" pitchFamily="34" charset="-122"/>
                <a:cs typeface="Calibri" pitchFamily="34" charset="-120"/>
              </a:rPr>
              <a:t>0.2845</a:t>
            </a:r>
            <a:endParaRPr lang="en-US" sz="2800" dirty="0"/>
          </a:p>
        </p:txBody>
      </p:sp>
      <p:sp>
        <p:nvSpPr>
          <p:cNvPr id="19" name="Text 16"/>
          <p:cNvSpPr/>
          <p:nvPr/>
        </p:nvSpPr>
        <p:spPr>
          <a:xfrm>
            <a:off x="7915504" y="2359152"/>
            <a:ext cx="1639748" cy="384048"/>
          </a:xfrm>
          <a:prstGeom prst="rect">
            <a:avLst/>
          </a:prstGeom>
          <a:noFill/>
          <a:ln/>
        </p:spPr>
        <p:txBody>
          <a:bodyPr wrap="square" lIns="0" tIns="0" rIns="0" bIns="0" rtlCol="0" anchor="t"/>
          <a:lstStyle/>
          <a:p>
            <a:pPr indent="0" marL="0">
              <a:lnSpc>
                <a:spcPct val="98000"/>
              </a:lnSpc>
              <a:buNone/>
            </a:pPr>
            <a:r>
              <a:rPr lang="en-US" sz="1050" dirty="0">
                <a:solidFill>
                  <a:srgbClr val="334155"/>
                </a:solidFill>
                <a:latin typeface="Calibri" pitchFamily="34" charset="0"/>
                <a:ea typeface="Calibri" pitchFamily="34" charset="-122"/>
                <a:cs typeface="Calibri" pitchFamily="34" charset="-120"/>
              </a:rPr>
              <a:t>Macro-F1 (20 roles)</a:t>
            </a:r>
            <a:endParaRPr lang="en-US" sz="1050" dirty="0"/>
          </a:p>
        </p:txBody>
      </p:sp>
      <p:sp>
        <p:nvSpPr>
          <p:cNvPr id="20" name="Shape 17"/>
          <p:cNvSpPr/>
          <p:nvPr/>
        </p:nvSpPr>
        <p:spPr>
          <a:xfrm>
            <a:off x="9774707" y="1682496"/>
            <a:ext cx="1868348" cy="1133856"/>
          </a:xfrm>
          <a:prstGeom prst="roundRect">
            <a:avLst>
              <a:gd name="adj" fmla="val 7258"/>
            </a:avLst>
          </a:prstGeom>
          <a:solidFill>
            <a:srgbClr val="F6F8FB"/>
          </a:solidFill>
          <a:ln w="9525">
            <a:solidFill>
              <a:srgbClr val="DCE3EC"/>
            </a:solidFill>
            <a:prstDash val="solid"/>
          </a:ln>
        </p:spPr>
      </p:sp>
      <p:sp>
        <p:nvSpPr>
          <p:cNvPr id="21" name="Text 18"/>
          <p:cNvSpPr/>
          <p:nvPr/>
        </p:nvSpPr>
        <p:spPr>
          <a:xfrm>
            <a:off x="9911867" y="1792224"/>
            <a:ext cx="1594028" cy="548640"/>
          </a:xfrm>
          <a:prstGeom prst="rect">
            <a:avLst/>
          </a:prstGeom>
          <a:noFill/>
          <a:ln/>
        </p:spPr>
        <p:txBody>
          <a:bodyPr wrap="square" lIns="0" tIns="0" rIns="0" bIns="0" rtlCol="0" anchor="ctr"/>
          <a:lstStyle/>
          <a:p>
            <a:pPr indent="0" marL="0">
              <a:buNone/>
            </a:pPr>
            <a:r>
              <a:rPr lang="en-US" sz="2800" b="1" dirty="0">
                <a:solidFill>
                  <a:srgbClr val="0B1B3A"/>
                </a:solidFill>
                <a:latin typeface="Calibri" pitchFamily="34" charset="0"/>
                <a:ea typeface="Calibri" pitchFamily="34" charset="-122"/>
                <a:cs typeface="Calibri" pitchFamily="34" charset="-120"/>
              </a:rPr>
              <a:t>0.4149</a:t>
            </a:r>
            <a:endParaRPr lang="en-US" sz="2800" dirty="0"/>
          </a:p>
        </p:txBody>
      </p:sp>
      <p:sp>
        <p:nvSpPr>
          <p:cNvPr id="22" name="Text 19"/>
          <p:cNvSpPr/>
          <p:nvPr/>
        </p:nvSpPr>
        <p:spPr>
          <a:xfrm>
            <a:off x="9911867" y="2359152"/>
            <a:ext cx="1639748" cy="384048"/>
          </a:xfrm>
          <a:prstGeom prst="rect">
            <a:avLst/>
          </a:prstGeom>
          <a:noFill/>
          <a:ln/>
        </p:spPr>
        <p:txBody>
          <a:bodyPr wrap="square" lIns="0" tIns="0" rIns="0" bIns="0" rtlCol="0" anchor="t"/>
          <a:lstStyle/>
          <a:p>
            <a:pPr indent="0" marL="0">
              <a:lnSpc>
                <a:spcPct val="98000"/>
              </a:lnSpc>
              <a:buNone/>
            </a:pPr>
            <a:r>
              <a:rPr lang="en-US" sz="1050" dirty="0">
                <a:solidFill>
                  <a:srgbClr val="334155"/>
                </a:solidFill>
                <a:latin typeface="Calibri" pitchFamily="34" charset="0"/>
                <a:ea typeface="Calibri" pitchFamily="34" charset="-122"/>
                <a:cs typeface="Calibri" pitchFamily="34" charset="-120"/>
              </a:rPr>
              <a:t>Family macro-F1 (12 families)</a:t>
            </a:r>
            <a:endParaRPr lang="en-US" sz="1050" dirty="0"/>
          </a:p>
        </p:txBody>
      </p:sp>
      <p:sp>
        <p:nvSpPr>
          <p:cNvPr id="23" name="Shape 20"/>
          <p:cNvSpPr/>
          <p:nvPr/>
        </p:nvSpPr>
        <p:spPr>
          <a:xfrm>
            <a:off x="548640" y="2962656"/>
            <a:ext cx="5120640" cy="1078992"/>
          </a:xfrm>
          <a:prstGeom prst="roundRect">
            <a:avLst>
              <a:gd name="adj" fmla="val 7627"/>
            </a:avLst>
          </a:prstGeom>
          <a:solidFill>
            <a:srgbClr val="EFF5FF"/>
          </a:solidFill>
          <a:ln w="9525">
            <a:solidFill>
              <a:srgbClr val="D2E2FD"/>
            </a:solidFill>
            <a:prstDash val="solid"/>
          </a:ln>
        </p:spPr>
      </p:sp>
      <p:sp>
        <p:nvSpPr>
          <p:cNvPr id="24" name="Text 21"/>
          <p:cNvSpPr/>
          <p:nvPr/>
        </p:nvSpPr>
        <p:spPr>
          <a:xfrm>
            <a:off x="713232" y="3017520"/>
            <a:ext cx="4791456" cy="256032"/>
          </a:xfrm>
          <a:prstGeom prst="rect">
            <a:avLst/>
          </a:prstGeom>
          <a:noFill/>
          <a:ln/>
        </p:spPr>
        <p:txBody>
          <a:bodyPr wrap="square" lIns="0" tIns="0" rIns="0" bIns="0" rtlCol="0" anchor="ctr"/>
          <a:lstStyle/>
          <a:p>
            <a:pPr indent="0" marL="0">
              <a:buNone/>
            </a:pPr>
            <a:r>
              <a:rPr lang="en-US" sz="1200" b="1" dirty="0">
                <a:solidFill>
                  <a:srgbClr val="2563EB"/>
                </a:solidFill>
                <a:latin typeface="Calibri" pitchFamily="34" charset="0"/>
                <a:ea typeface="Calibri" pitchFamily="34" charset="-122"/>
                <a:cs typeface="Calibri" pitchFamily="34" charset="-120"/>
              </a:rPr>
              <a:t>What this means in practice</a:t>
            </a:r>
            <a:endParaRPr lang="en-US" sz="1200" dirty="0"/>
          </a:p>
        </p:txBody>
      </p:sp>
      <p:sp>
        <p:nvSpPr>
          <p:cNvPr id="25" name="Text 22"/>
          <p:cNvSpPr/>
          <p:nvPr/>
        </p:nvSpPr>
        <p:spPr>
          <a:xfrm>
            <a:off x="713232" y="3291840"/>
            <a:ext cx="4828032" cy="713232"/>
          </a:xfrm>
          <a:prstGeom prst="rect">
            <a:avLst/>
          </a:prstGeom>
          <a:noFill/>
          <a:ln/>
        </p:spPr>
        <p:txBody>
          <a:bodyPr wrap="square" lIns="0" tIns="0" rIns="0" bIns="0" rtlCol="0" anchor="t"/>
          <a:lstStyle/>
          <a:p>
            <a:pPr marL="139700" indent="-139700">
              <a:spcAft>
                <a:spcPts val="200"/>
              </a:spcAft>
              <a:buSzPct val="100000"/>
              <a:buChar char="•"/>
            </a:pPr>
            <a:r>
              <a:rPr lang="en-US" sz="1050" dirty="0">
                <a:solidFill>
                  <a:srgbClr val="334155"/>
                </a:solidFill>
                <a:latin typeface="Calibri" pitchFamily="34" charset="0"/>
                <a:ea typeface="Calibri" pitchFamily="34" charset="-122"/>
                <a:cs typeface="Calibri" pitchFamily="34" charset="-120"/>
              </a:rPr>
              <a:t>For about 84 of every 100 held-out people, their real role is on the screen</a:t>
            </a:r>
            <a:endParaRPr lang="en-US" sz="1050" dirty="0"/>
          </a:p>
          <a:p>
            <a:pPr marL="139700" indent="-139700">
              <a:spcAft>
                <a:spcPts val="200"/>
              </a:spcAft>
              <a:buSzPct val="100000"/>
              <a:buChar char="•"/>
            </a:pPr>
            <a:r>
              <a:rPr lang="en-US" sz="1050" dirty="0">
                <a:solidFill>
                  <a:srgbClr val="334155"/>
                </a:solidFill>
                <a:latin typeface="Calibri" pitchFamily="34" charset="0"/>
                <a:ea typeface="Calibri" pitchFamily="34" charset="-122"/>
                <a:cs typeface="Calibri" pitchFamily="34" charset="-120"/>
              </a:rPr>
              <a:t>Roughly double the majority-class baseline (top-3 of 0.41 in cross-validation)</a:t>
            </a:r>
            <a:endParaRPr lang="en-US" sz="1050" dirty="0"/>
          </a:p>
          <a:p>
            <a:pPr marL="139700" indent="-139700">
              <a:spcAft>
                <a:spcPts val="200"/>
              </a:spcAft>
              <a:buSzPct val="100000"/>
              <a:buChar char="•"/>
            </a:pPr>
            <a:r>
              <a:rPr lang="en-US" sz="1050" dirty="0">
                <a:solidFill>
                  <a:srgbClr val="334155"/>
                </a:solidFill>
                <a:latin typeface="Calibri" pitchFamily="34" charset="0"/>
                <a:ea typeface="Calibri" pitchFamily="34" charset="-122"/>
                <a:cs typeface="Calibri" pitchFamily="34" charset="-120"/>
              </a:rPr>
              <a:t>The right career family is in the top three 87.8% of the time</a:t>
            </a:r>
            <a:endParaRPr lang="en-US" sz="1050" dirty="0"/>
          </a:p>
        </p:txBody>
      </p:sp>
      <p:sp>
        <p:nvSpPr>
          <p:cNvPr id="26" name="Shape 23"/>
          <p:cNvSpPr/>
          <p:nvPr/>
        </p:nvSpPr>
        <p:spPr>
          <a:xfrm>
            <a:off x="548640" y="4151376"/>
            <a:ext cx="5120640" cy="1024128"/>
          </a:xfrm>
          <a:prstGeom prst="roundRect">
            <a:avLst>
              <a:gd name="adj" fmla="val 8036"/>
            </a:avLst>
          </a:prstGeom>
          <a:solidFill>
            <a:srgbClr val="FFFFFF"/>
          </a:solidFill>
          <a:ln w="9525">
            <a:solidFill>
              <a:srgbClr val="DCE3EC"/>
            </a:solidFill>
            <a:prstDash val="solid"/>
          </a:ln>
        </p:spPr>
      </p:sp>
      <p:sp>
        <p:nvSpPr>
          <p:cNvPr id="27" name="Text 24"/>
          <p:cNvSpPr/>
          <p:nvPr/>
        </p:nvSpPr>
        <p:spPr>
          <a:xfrm>
            <a:off x="713232" y="4187952"/>
            <a:ext cx="4791456" cy="237744"/>
          </a:xfrm>
          <a:prstGeom prst="rect">
            <a:avLst/>
          </a:prstGeom>
          <a:noFill/>
          <a:ln/>
        </p:spPr>
        <p:txBody>
          <a:bodyPr wrap="square" lIns="0" tIns="0" rIns="0" bIns="0" rtlCol="0" anchor="ctr"/>
          <a:lstStyle/>
          <a:p>
            <a:pPr indent="0" marL="0">
              <a:buNone/>
            </a:pPr>
            <a:r>
              <a:rPr lang="en-US" sz="1100" b="1" dirty="0">
                <a:solidFill>
                  <a:srgbClr val="0B1B3A"/>
                </a:solidFill>
                <a:latin typeface="Calibri" pitchFamily="34" charset="0"/>
                <a:ea typeface="Calibri" pitchFamily="34" charset="-122"/>
                <a:cs typeface="Calibri" pitchFamily="34" charset="-120"/>
              </a:rPr>
              <a:t>Honest validation: cross-validated estimate against the test result</a:t>
            </a:r>
            <a:endParaRPr lang="en-US" sz="1100" dirty="0"/>
          </a:p>
        </p:txBody>
      </p:sp>
      <p:sp>
        <p:nvSpPr>
          <p:cNvPr id="28" name="Text 25"/>
          <p:cNvSpPr/>
          <p:nvPr/>
        </p:nvSpPr>
        <p:spPr>
          <a:xfrm>
            <a:off x="713232" y="4425696"/>
            <a:ext cx="1645920" cy="169164"/>
          </a:xfrm>
          <a:prstGeom prst="rect">
            <a:avLst/>
          </a:prstGeom>
          <a:noFill/>
          <a:ln/>
        </p:spPr>
        <p:txBody>
          <a:bodyPr wrap="square" lIns="0" tIns="0" rIns="0" bIns="0" rtlCol="0" anchor="ctr"/>
          <a:lstStyle/>
          <a:p>
            <a:pPr algn="l" indent="0" marL="0">
              <a:buNone/>
            </a:pPr>
            <a:endParaRPr lang="en-US" sz="900" dirty="0"/>
          </a:p>
        </p:txBody>
      </p:sp>
      <p:sp>
        <p:nvSpPr>
          <p:cNvPr id="29" name="Text 26"/>
          <p:cNvSpPr/>
          <p:nvPr/>
        </p:nvSpPr>
        <p:spPr>
          <a:xfrm>
            <a:off x="2377440" y="4425696"/>
            <a:ext cx="1143000" cy="169164"/>
          </a:xfrm>
          <a:prstGeom prst="rect">
            <a:avLst/>
          </a:prstGeom>
          <a:noFill/>
          <a:ln/>
        </p:spPr>
        <p:txBody>
          <a:bodyPr wrap="square" lIns="0" tIns="0" rIns="0" bIns="0"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5-fold CV (train)</a:t>
            </a:r>
            <a:endParaRPr lang="en-US" sz="900" dirty="0"/>
          </a:p>
        </p:txBody>
      </p:sp>
      <p:sp>
        <p:nvSpPr>
          <p:cNvPr id="30" name="Text 27"/>
          <p:cNvSpPr/>
          <p:nvPr/>
        </p:nvSpPr>
        <p:spPr>
          <a:xfrm>
            <a:off x="3566160" y="4425696"/>
            <a:ext cx="1051560" cy="169164"/>
          </a:xfrm>
          <a:prstGeom prst="rect">
            <a:avLst/>
          </a:prstGeom>
          <a:noFill/>
          <a:ln/>
        </p:spPr>
        <p:txBody>
          <a:bodyPr wrap="square" lIns="0" tIns="0" rIns="0" bIns="0"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Held-out test</a:t>
            </a:r>
            <a:endParaRPr lang="en-US" sz="900" dirty="0"/>
          </a:p>
        </p:txBody>
      </p:sp>
      <p:sp>
        <p:nvSpPr>
          <p:cNvPr id="31" name="Text 28"/>
          <p:cNvSpPr/>
          <p:nvPr/>
        </p:nvSpPr>
        <p:spPr>
          <a:xfrm>
            <a:off x="4663440" y="4425696"/>
            <a:ext cx="841248" cy="169164"/>
          </a:xfrm>
          <a:prstGeom prst="rect">
            <a:avLst/>
          </a:prstGeom>
          <a:noFill/>
          <a:ln/>
        </p:spPr>
        <p:txBody>
          <a:bodyPr wrap="square" lIns="0" tIns="0" rIns="0" bIns="0" rtlCol="0" anchor="ctr"/>
          <a:lstStyle/>
          <a:p>
            <a:pPr algn="r" indent="0" marL="0">
              <a:buNone/>
            </a:pPr>
            <a:r>
              <a:rPr lang="en-US" sz="900" b="1" dirty="0">
                <a:solidFill>
                  <a:srgbClr val="64748B"/>
                </a:solidFill>
                <a:latin typeface="Calibri" pitchFamily="34" charset="0"/>
                <a:ea typeface="Calibri" pitchFamily="34" charset="-122"/>
                <a:cs typeface="Calibri" pitchFamily="34" charset="-120"/>
              </a:rPr>
              <a:t>Gap</a:t>
            </a:r>
            <a:endParaRPr lang="en-US" sz="900" dirty="0"/>
          </a:p>
        </p:txBody>
      </p:sp>
      <p:sp>
        <p:nvSpPr>
          <p:cNvPr id="32" name="Text 29"/>
          <p:cNvSpPr/>
          <p:nvPr/>
        </p:nvSpPr>
        <p:spPr>
          <a:xfrm>
            <a:off x="713232" y="4594860"/>
            <a:ext cx="1645920" cy="169164"/>
          </a:xfrm>
          <a:prstGeom prst="rect">
            <a:avLst/>
          </a:prstGeom>
          <a:noFill/>
          <a:ln/>
        </p:spPr>
        <p:txBody>
          <a:bodyPr wrap="square" lIns="0" tIns="0" rIns="0" bIns="0" rtlCol="0" anchor="ctr"/>
          <a:lstStyle/>
          <a:p>
            <a:pPr algn="l" indent="0" marL="0">
              <a:buNone/>
            </a:pPr>
            <a:r>
              <a:rPr lang="en-US" sz="1050" dirty="0">
                <a:solidFill>
                  <a:srgbClr val="334155"/>
                </a:solidFill>
                <a:latin typeface="Calibri" pitchFamily="34" charset="0"/>
                <a:ea typeface="Calibri" pitchFamily="34" charset="-122"/>
                <a:cs typeface="Calibri" pitchFamily="34" charset="-120"/>
              </a:rPr>
              <a:t>Macro-F1</a:t>
            </a:r>
            <a:endParaRPr lang="en-US" sz="1050" dirty="0"/>
          </a:p>
        </p:txBody>
      </p:sp>
      <p:sp>
        <p:nvSpPr>
          <p:cNvPr id="33" name="Text 30"/>
          <p:cNvSpPr/>
          <p:nvPr/>
        </p:nvSpPr>
        <p:spPr>
          <a:xfrm>
            <a:off x="2377440" y="4594860"/>
            <a:ext cx="1143000" cy="169164"/>
          </a:xfrm>
          <a:prstGeom prst="rect">
            <a:avLst/>
          </a:prstGeom>
          <a:noFill/>
          <a:ln/>
        </p:spPr>
        <p:txBody>
          <a:bodyPr wrap="square" lIns="0" tIns="0" rIns="0" bIns="0" rtlCol="0" anchor="ctr"/>
          <a:lstStyle/>
          <a:p>
            <a:pPr algn="r" indent="0" marL="0">
              <a:buNone/>
            </a:pPr>
            <a:r>
              <a:rPr lang="en-US" sz="1050" dirty="0">
                <a:solidFill>
                  <a:srgbClr val="0B1B3A"/>
                </a:solidFill>
                <a:latin typeface="Calibri" pitchFamily="34" charset="0"/>
                <a:ea typeface="Calibri" pitchFamily="34" charset="-122"/>
                <a:cs typeface="Calibri" pitchFamily="34" charset="-120"/>
              </a:rPr>
              <a:t>0.3030</a:t>
            </a:r>
            <a:endParaRPr lang="en-US" sz="1050" dirty="0"/>
          </a:p>
        </p:txBody>
      </p:sp>
      <p:sp>
        <p:nvSpPr>
          <p:cNvPr id="34" name="Text 31"/>
          <p:cNvSpPr/>
          <p:nvPr/>
        </p:nvSpPr>
        <p:spPr>
          <a:xfrm>
            <a:off x="3566160" y="4594860"/>
            <a:ext cx="1051560" cy="169164"/>
          </a:xfrm>
          <a:prstGeom prst="rect">
            <a:avLst/>
          </a:prstGeom>
          <a:noFill/>
          <a:ln/>
        </p:spPr>
        <p:txBody>
          <a:bodyPr wrap="square" lIns="0" tIns="0" rIns="0" bIns="0" rtlCol="0" anchor="ctr"/>
          <a:lstStyle/>
          <a:p>
            <a:pPr algn="r" indent="0" marL="0">
              <a:buNone/>
            </a:pPr>
            <a:r>
              <a:rPr lang="en-US" sz="1050" b="1" dirty="0">
                <a:solidFill>
                  <a:srgbClr val="0B1B3A"/>
                </a:solidFill>
                <a:latin typeface="Calibri" pitchFamily="34" charset="0"/>
                <a:ea typeface="Calibri" pitchFamily="34" charset="-122"/>
                <a:cs typeface="Calibri" pitchFamily="34" charset="-120"/>
              </a:rPr>
              <a:t>0.2845</a:t>
            </a:r>
            <a:endParaRPr lang="en-US" sz="1050" dirty="0"/>
          </a:p>
        </p:txBody>
      </p:sp>
      <p:sp>
        <p:nvSpPr>
          <p:cNvPr id="35" name="Text 32"/>
          <p:cNvSpPr/>
          <p:nvPr/>
        </p:nvSpPr>
        <p:spPr>
          <a:xfrm>
            <a:off x="4663440" y="4594860"/>
            <a:ext cx="841248" cy="169164"/>
          </a:xfrm>
          <a:prstGeom prst="rect">
            <a:avLst/>
          </a:prstGeom>
          <a:noFill/>
          <a:ln/>
        </p:spPr>
        <p:txBody>
          <a:bodyPr wrap="square" lIns="0" tIns="0" rIns="0" bIns="0" rtlCol="0" anchor="ctr"/>
          <a:lstStyle/>
          <a:p>
            <a:pPr algn="r" indent="0" marL="0">
              <a:buNone/>
            </a:pPr>
            <a:r>
              <a:rPr lang="en-US" sz="1050" dirty="0">
                <a:solidFill>
                  <a:srgbClr val="0B1B3A"/>
                </a:solidFill>
                <a:latin typeface="Calibri" pitchFamily="34" charset="0"/>
                <a:ea typeface="Calibri" pitchFamily="34" charset="-122"/>
                <a:cs typeface="Calibri" pitchFamily="34" charset="-120"/>
              </a:rPr>
              <a:t>−0.0185</a:t>
            </a:r>
            <a:endParaRPr lang="en-US" sz="1050" dirty="0"/>
          </a:p>
        </p:txBody>
      </p:sp>
      <p:sp>
        <p:nvSpPr>
          <p:cNvPr id="36" name="Text 33"/>
          <p:cNvSpPr/>
          <p:nvPr/>
        </p:nvSpPr>
        <p:spPr>
          <a:xfrm>
            <a:off x="713232" y="4764024"/>
            <a:ext cx="1645920" cy="169164"/>
          </a:xfrm>
          <a:prstGeom prst="rect">
            <a:avLst/>
          </a:prstGeom>
          <a:noFill/>
          <a:ln/>
        </p:spPr>
        <p:txBody>
          <a:bodyPr wrap="square" lIns="0" tIns="0" rIns="0" bIns="0" rtlCol="0" anchor="ctr"/>
          <a:lstStyle/>
          <a:p>
            <a:pPr algn="l" indent="0" marL="0">
              <a:buNone/>
            </a:pPr>
            <a:r>
              <a:rPr lang="en-US" sz="1050" dirty="0">
                <a:solidFill>
                  <a:srgbClr val="334155"/>
                </a:solidFill>
                <a:latin typeface="Calibri" pitchFamily="34" charset="0"/>
                <a:ea typeface="Calibri" pitchFamily="34" charset="-122"/>
                <a:cs typeface="Calibri" pitchFamily="34" charset="-120"/>
              </a:rPr>
              <a:t>Top-3 accuracy</a:t>
            </a:r>
            <a:endParaRPr lang="en-US" sz="1050" dirty="0"/>
          </a:p>
        </p:txBody>
      </p:sp>
      <p:sp>
        <p:nvSpPr>
          <p:cNvPr id="37" name="Text 34"/>
          <p:cNvSpPr/>
          <p:nvPr/>
        </p:nvSpPr>
        <p:spPr>
          <a:xfrm>
            <a:off x="2377440" y="4764024"/>
            <a:ext cx="1143000" cy="169164"/>
          </a:xfrm>
          <a:prstGeom prst="rect">
            <a:avLst/>
          </a:prstGeom>
          <a:noFill/>
          <a:ln/>
        </p:spPr>
        <p:txBody>
          <a:bodyPr wrap="square" lIns="0" tIns="0" rIns="0" bIns="0" rtlCol="0" anchor="ctr"/>
          <a:lstStyle/>
          <a:p>
            <a:pPr algn="r" indent="0" marL="0">
              <a:buNone/>
            </a:pPr>
            <a:r>
              <a:rPr lang="en-US" sz="1050" dirty="0">
                <a:solidFill>
                  <a:srgbClr val="0B1B3A"/>
                </a:solidFill>
                <a:latin typeface="Calibri" pitchFamily="34" charset="0"/>
                <a:ea typeface="Calibri" pitchFamily="34" charset="-122"/>
                <a:cs typeface="Calibri" pitchFamily="34" charset="-120"/>
              </a:rPr>
              <a:t>0.8387</a:t>
            </a:r>
            <a:endParaRPr lang="en-US" sz="1050" dirty="0"/>
          </a:p>
        </p:txBody>
      </p:sp>
      <p:sp>
        <p:nvSpPr>
          <p:cNvPr id="38" name="Text 35"/>
          <p:cNvSpPr/>
          <p:nvPr/>
        </p:nvSpPr>
        <p:spPr>
          <a:xfrm>
            <a:off x="3566160" y="4764024"/>
            <a:ext cx="1051560" cy="169164"/>
          </a:xfrm>
          <a:prstGeom prst="rect">
            <a:avLst/>
          </a:prstGeom>
          <a:noFill/>
          <a:ln/>
        </p:spPr>
        <p:txBody>
          <a:bodyPr wrap="square" lIns="0" tIns="0" rIns="0" bIns="0" rtlCol="0" anchor="ctr"/>
          <a:lstStyle/>
          <a:p>
            <a:pPr algn="r" indent="0" marL="0">
              <a:buNone/>
            </a:pPr>
            <a:r>
              <a:rPr lang="en-US" sz="1050" b="1" dirty="0">
                <a:solidFill>
                  <a:srgbClr val="0B1B3A"/>
                </a:solidFill>
                <a:latin typeface="Calibri" pitchFamily="34" charset="0"/>
                <a:ea typeface="Calibri" pitchFamily="34" charset="-122"/>
                <a:cs typeface="Calibri" pitchFamily="34" charset="-120"/>
              </a:rPr>
              <a:t>0.8392</a:t>
            </a:r>
            <a:endParaRPr lang="en-US" sz="1050" dirty="0"/>
          </a:p>
        </p:txBody>
      </p:sp>
      <p:sp>
        <p:nvSpPr>
          <p:cNvPr id="39" name="Text 36"/>
          <p:cNvSpPr/>
          <p:nvPr/>
        </p:nvSpPr>
        <p:spPr>
          <a:xfrm>
            <a:off x="4663440" y="4764024"/>
            <a:ext cx="841248" cy="169164"/>
          </a:xfrm>
          <a:prstGeom prst="rect">
            <a:avLst/>
          </a:prstGeom>
          <a:noFill/>
          <a:ln/>
        </p:spPr>
        <p:txBody>
          <a:bodyPr wrap="square" lIns="0" tIns="0" rIns="0" bIns="0" rtlCol="0" anchor="ctr"/>
          <a:lstStyle/>
          <a:p>
            <a:pPr algn="r" indent="0" marL="0">
              <a:buNone/>
            </a:pPr>
            <a:r>
              <a:rPr lang="en-US" sz="1050" dirty="0">
                <a:solidFill>
                  <a:srgbClr val="0B1B3A"/>
                </a:solidFill>
                <a:latin typeface="Calibri" pitchFamily="34" charset="0"/>
                <a:ea typeface="Calibri" pitchFamily="34" charset="-122"/>
                <a:cs typeface="Calibri" pitchFamily="34" charset="-120"/>
              </a:rPr>
              <a:t>+0.0005</a:t>
            </a:r>
            <a:endParaRPr lang="en-US" sz="1050" dirty="0"/>
          </a:p>
        </p:txBody>
      </p:sp>
      <p:sp>
        <p:nvSpPr>
          <p:cNvPr id="40" name="Text 37"/>
          <p:cNvSpPr/>
          <p:nvPr/>
        </p:nvSpPr>
        <p:spPr>
          <a:xfrm>
            <a:off x="713232" y="4933188"/>
            <a:ext cx="1645920" cy="169164"/>
          </a:xfrm>
          <a:prstGeom prst="rect">
            <a:avLst/>
          </a:prstGeom>
          <a:noFill/>
          <a:ln/>
        </p:spPr>
        <p:txBody>
          <a:bodyPr wrap="square" lIns="0" tIns="0" rIns="0" bIns="0" rtlCol="0" anchor="ctr"/>
          <a:lstStyle/>
          <a:p>
            <a:pPr algn="l" indent="0" marL="0">
              <a:buNone/>
            </a:pPr>
            <a:r>
              <a:rPr lang="en-US" sz="1050" dirty="0">
                <a:solidFill>
                  <a:srgbClr val="334155"/>
                </a:solidFill>
                <a:latin typeface="Calibri" pitchFamily="34" charset="0"/>
                <a:ea typeface="Calibri" pitchFamily="34" charset="-122"/>
                <a:cs typeface="Calibri" pitchFamily="34" charset="-120"/>
              </a:rPr>
              <a:t>Log loss</a:t>
            </a:r>
            <a:endParaRPr lang="en-US" sz="1050" dirty="0"/>
          </a:p>
        </p:txBody>
      </p:sp>
      <p:sp>
        <p:nvSpPr>
          <p:cNvPr id="41" name="Text 38"/>
          <p:cNvSpPr/>
          <p:nvPr/>
        </p:nvSpPr>
        <p:spPr>
          <a:xfrm>
            <a:off x="2377440" y="4933188"/>
            <a:ext cx="1143000" cy="169164"/>
          </a:xfrm>
          <a:prstGeom prst="rect">
            <a:avLst/>
          </a:prstGeom>
          <a:noFill/>
          <a:ln/>
        </p:spPr>
        <p:txBody>
          <a:bodyPr wrap="square" lIns="0" tIns="0" rIns="0" bIns="0" rtlCol="0" anchor="ctr"/>
          <a:lstStyle/>
          <a:p>
            <a:pPr algn="r" indent="0" marL="0">
              <a:buNone/>
            </a:pPr>
            <a:r>
              <a:rPr lang="en-US" sz="1050" dirty="0">
                <a:solidFill>
                  <a:srgbClr val="0B1B3A"/>
                </a:solidFill>
                <a:latin typeface="Calibri" pitchFamily="34" charset="0"/>
                <a:ea typeface="Calibri" pitchFamily="34" charset="-122"/>
                <a:cs typeface="Calibri" pitchFamily="34" charset="-120"/>
              </a:rPr>
              <a:t>1.4146</a:t>
            </a:r>
            <a:endParaRPr lang="en-US" sz="1050" dirty="0"/>
          </a:p>
        </p:txBody>
      </p:sp>
      <p:sp>
        <p:nvSpPr>
          <p:cNvPr id="42" name="Text 39"/>
          <p:cNvSpPr/>
          <p:nvPr/>
        </p:nvSpPr>
        <p:spPr>
          <a:xfrm>
            <a:off x="3566160" y="4933188"/>
            <a:ext cx="1051560" cy="169164"/>
          </a:xfrm>
          <a:prstGeom prst="rect">
            <a:avLst/>
          </a:prstGeom>
          <a:noFill/>
          <a:ln/>
        </p:spPr>
        <p:txBody>
          <a:bodyPr wrap="square" lIns="0" tIns="0" rIns="0" bIns="0" rtlCol="0" anchor="ctr"/>
          <a:lstStyle/>
          <a:p>
            <a:pPr algn="r" indent="0" marL="0">
              <a:buNone/>
            </a:pPr>
            <a:r>
              <a:rPr lang="en-US" sz="1050" b="1" dirty="0">
                <a:solidFill>
                  <a:srgbClr val="0B1B3A"/>
                </a:solidFill>
                <a:latin typeface="Calibri" pitchFamily="34" charset="0"/>
                <a:ea typeface="Calibri" pitchFamily="34" charset="-122"/>
                <a:cs typeface="Calibri" pitchFamily="34" charset="-120"/>
              </a:rPr>
              <a:t>1.4146</a:t>
            </a:r>
            <a:endParaRPr lang="en-US" sz="1050" dirty="0"/>
          </a:p>
        </p:txBody>
      </p:sp>
      <p:sp>
        <p:nvSpPr>
          <p:cNvPr id="43" name="Text 40"/>
          <p:cNvSpPr/>
          <p:nvPr/>
        </p:nvSpPr>
        <p:spPr>
          <a:xfrm>
            <a:off x="4663440" y="4933188"/>
            <a:ext cx="841248" cy="169164"/>
          </a:xfrm>
          <a:prstGeom prst="rect">
            <a:avLst/>
          </a:prstGeom>
          <a:noFill/>
          <a:ln/>
        </p:spPr>
        <p:txBody>
          <a:bodyPr wrap="square" lIns="0" tIns="0" rIns="0" bIns="0" rtlCol="0" anchor="ctr"/>
          <a:lstStyle/>
          <a:p>
            <a:pPr algn="r" indent="0" marL="0">
              <a:buNone/>
            </a:pPr>
            <a:r>
              <a:rPr lang="en-US" sz="1050" dirty="0">
                <a:solidFill>
                  <a:srgbClr val="0B1B3A"/>
                </a:solidFill>
                <a:latin typeface="Calibri" pitchFamily="34" charset="0"/>
                <a:ea typeface="Calibri" pitchFamily="34" charset="-122"/>
                <a:cs typeface="Calibri" pitchFamily="34" charset="-120"/>
              </a:rPr>
              <a:t>0.0000</a:t>
            </a:r>
            <a:endParaRPr lang="en-US" sz="1050" dirty="0"/>
          </a:p>
        </p:txBody>
      </p:sp>
      <p:sp>
        <p:nvSpPr>
          <p:cNvPr id="44" name="Shape 41"/>
          <p:cNvSpPr/>
          <p:nvPr/>
        </p:nvSpPr>
        <p:spPr>
          <a:xfrm>
            <a:off x="548640" y="5266944"/>
            <a:ext cx="5120640" cy="950976"/>
          </a:xfrm>
          <a:prstGeom prst="roundRect">
            <a:avLst>
              <a:gd name="adj" fmla="val 8654"/>
            </a:avLst>
          </a:prstGeom>
          <a:solidFill>
            <a:srgbClr val="FFF4EC"/>
          </a:solidFill>
          <a:ln w="9525">
            <a:solidFill>
              <a:srgbClr val="FBD5B8"/>
            </a:solidFill>
            <a:prstDash val="solid"/>
          </a:ln>
        </p:spPr>
      </p:sp>
      <p:sp>
        <p:nvSpPr>
          <p:cNvPr id="45" name="Text 42"/>
          <p:cNvSpPr/>
          <p:nvPr/>
        </p:nvSpPr>
        <p:spPr>
          <a:xfrm>
            <a:off x="713232" y="5312664"/>
            <a:ext cx="4791456" cy="237744"/>
          </a:xfrm>
          <a:prstGeom prst="rect">
            <a:avLst/>
          </a:prstGeom>
          <a:noFill/>
          <a:ln/>
        </p:spPr>
        <p:txBody>
          <a:bodyPr wrap="square" lIns="0" tIns="0" rIns="0" bIns="0" rtlCol="0" anchor="ctr"/>
          <a:lstStyle/>
          <a:p>
            <a:pPr indent="0" marL="0">
              <a:buNone/>
            </a:pPr>
            <a:r>
              <a:rPr lang="en-US" sz="1150" b="1" dirty="0">
                <a:solidFill>
                  <a:srgbClr val="C2410C"/>
                </a:solidFill>
                <a:latin typeface="Calibri" pitchFamily="34" charset="0"/>
                <a:ea typeface="Calibri" pitchFamily="34" charset="-122"/>
                <a:cs typeface="Calibri" pitchFamily="34" charset="-120"/>
              </a:rPr>
              <a:t>Limits we report, not hide</a:t>
            </a:r>
            <a:endParaRPr lang="en-US" sz="1150" dirty="0"/>
          </a:p>
        </p:txBody>
      </p:sp>
      <p:sp>
        <p:nvSpPr>
          <p:cNvPr id="46" name="Text 43"/>
          <p:cNvSpPr/>
          <p:nvPr/>
        </p:nvSpPr>
        <p:spPr>
          <a:xfrm>
            <a:off x="713232" y="5568696"/>
            <a:ext cx="4828032" cy="621792"/>
          </a:xfrm>
          <a:prstGeom prst="rect">
            <a:avLst/>
          </a:prstGeom>
          <a:noFill/>
          <a:ln/>
        </p:spPr>
        <p:txBody>
          <a:bodyPr wrap="square" lIns="0" tIns="0" rIns="0" bIns="0" rtlCol="0" anchor="t"/>
          <a:lstStyle/>
          <a:p>
            <a:pPr marL="139700" indent="-139700">
              <a:spcAft>
                <a:spcPts val="100"/>
              </a:spcAft>
              <a:buSzPct val="100000"/>
              <a:buChar char="•"/>
            </a:pPr>
            <a:r>
              <a:rPr lang="en-US" sz="1000" dirty="0">
                <a:solidFill>
                  <a:srgbClr val="334155"/>
                </a:solidFill>
                <a:latin typeface="Calibri" pitchFamily="34" charset="0"/>
                <a:ea typeface="Calibri" pitchFamily="34" charset="-122"/>
                <a:cs typeface="Calibri" pitchFamily="34" charset="-120"/>
              </a:rPr>
              <a:t>Top-1 is modest: Full-stack (39% of the data) absorbs uncertain profiles</a:t>
            </a:r>
            <a:endParaRPr lang="en-US" sz="1000" dirty="0"/>
          </a:p>
          <a:p>
            <a:pPr marL="139700" indent="-139700">
              <a:spcAft>
                <a:spcPts val="100"/>
              </a:spcAft>
              <a:buSzPct val="100000"/>
              <a:buChar char="•"/>
            </a:pPr>
            <a:r>
              <a:rPr lang="en-US" sz="1000" dirty="0">
                <a:solidFill>
                  <a:srgbClr val="334155"/>
                </a:solidFill>
                <a:latin typeface="Calibri" pitchFamily="34" charset="0"/>
                <a:ea typeface="Calibri" pitchFamily="34" charset="-122"/>
                <a:cs typeface="Calibri" pitchFamily="34" charset="-120"/>
              </a:rPr>
              <a:t>7 of 20 roles have recall below 0.10 and carry a “low confidence” badge; two are never predicted first</a:t>
            </a:r>
            <a:endParaRPr lang="en-US" sz="1000" dirty="0"/>
          </a:p>
        </p:txBody>
      </p:sp>
      <p:sp>
        <p:nvSpPr>
          <p:cNvPr id="47" name="Shape 44"/>
          <p:cNvSpPr/>
          <p:nvPr/>
        </p:nvSpPr>
        <p:spPr>
          <a:xfrm>
            <a:off x="5852160" y="2962656"/>
            <a:ext cx="5790895" cy="3255264"/>
          </a:xfrm>
          <a:prstGeom prst="roundRect">
            <a:avLst>
              <a:gd name="adj" fmla="val 2528"/>
            </a:avLst>
          </a:prstGeom>
          <a:solidFill>
            <a:srgbClr val="FFFFFF"/>
          </a:solidFill>
          <a:ln w="9525">
            <a:solidFill>
              <a:srgbClr val="DCE3EC"/>
            </a:solidFill>
            <a:prstDash val="solid"/>
          </a:ln>
        </p:spPr>
      </p:sp>
      <p:sp>
        <p:nvSpPr>
          <p:cNvPr id="48" name="Text 45"/>
          <p:cNvSpPr/>
          <p:nvPr/>
        </p:nvSpPr>
        <p:spPr>
          <a:xfrm>
            <a:off x="6035040" y="3017520"/>
            <a:ext cx="3291840" cy="256032"/>
          </a:xfrm>
          <a:prstGeom prst="rect">
            <a:avLst/>
          </a:prstGeom>
          <a:noFill/>
          <a:ln/>
        </p:spPr>
        <p:txBody>
          <a:bodyPr wrap="square" lIns="0" tIns="0" rIns="0" bIns="0" rtlCol="0" anchor="ctr"/>
          <a:lstStyle/>
          <a:p>
            <a:pPr indent="0" marL="0">
              <a:buNone/>
            </a:pPr>
            <a:r>
              <a:rPr lang="en-US" sz="1200" b="1" dirty="0">
                <a:solidFill>
                  <a:srgbClr val="0B1B3A"/>
                </a:solidFill>
                <a:latin typeface="Calibri" pitchFamily="34" charset="0"/>
                <a:ea typeface="Calibri" pitchFamily="34" charset="-122"/>
                <a:cs typeface="Calibri" pitchFamily="34" charset="-120"/>
              </a:rPr>
              <a:t>F1 per job role on the held-out test set</a:t>
            </a:r>
            <a:endParaRPr lang="en-US" sz="1200" dirty="0"/>
          </a:p>
        </p:txBody>
      </p:sp>
      <p:sp>
        <p:nvSpPr>
          <p:cNvPr id="49" name="Text 46"/>
          <p:cNvSpPr/>
          <p:nvPr/>
        </p:nvSpPr>
        <p:spPr>
          <a:xfrm>
            <a:off x="9265615" y="3017520"/>
            <a:ext cx="2194560" cy="256032"/>
          </a:xfrm>
          <a:prstGeom prst="rect">
            <a:avLst/>
          </a:prstGeom>
          <a:noFill/>
          <a:ln/>
        </p:spPr>
        <p:txBody>
          <a:bodyPr wrap="square" lIns="0" tIns="0" rIns="0" bIns="0" rtlCol="0" anchor="ctr"/>
          <a:lstStyle/>
          <a:p>
            <a:pPr algn="r" indent="0" marL="0">
              <a:buNone/>
            </a:pPr>
            <a:r>
              <a:rPr lang="en-US" sz="950" b="1" dirty="0">
                <a:solidFill>
                  <a:srgbClr val="C2410C"/>
                </a:solidFill>
                <a:latin typeface="Calibri" pitchFamily="34" charset="0"/>
                <a:ea typeface="Calibri" pitchFamily="34" charset="-122"/>
                <a:cs typeface="Calibri" pitchFamily="34" charset="-120"/>
              </a:rPr>
              <a:t>* low confidence (recall &lt; 0.10)</a:t>
            </a:r>
            <a:endParaRPr lang="en-US" sz="950" dirty="0"/>
          </a:p>
        </p:txBody>
      </p:sp>
      <p:graphicFrame>
        <p:nvGraphicFramePr>
          <p:cNvPr id="50" name="Chart 0" descr=""/>
          <p:cNvGraphicFramePr/>
          <p:nvPr/>
        </p:nvGraphicFramePr>
        <p:xfrm>
          <a:off x="5925312" y="3273552"/>
          <a:ext cx="5644591" cy="2907792"/>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64808"/>
            <a:ext cx="5486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64748B"/>
                </a:solidFill>
                <a:latin typeface="Calibri"/>
                <a:ea typeface="Calibri"/>
                <a:cs typeface="Calibri"/>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57200"/>
            <a:ext cx="64008" cy="713232"/>
          </a:xfrm>
          <a:prstGeom prst="rect">
            <a:avLst/>
          </a:prstGeom>
          <a:solidFill>
            <a:srgbClr val="2563EB"/>
          </a:solidFill>
          <a:ln/>
        </p:spPr>
      </p:sp>
      <p:sp>
        <p:nvSpPr>
          <p:cNvPr id="3" name="Text 1"/>
          <p:cNvSpPr/>
          <p:nvPr/>
        </p:nvSpPr>
        <p:spPr>
          <a:xfrm>
            <a:off x="749808" y="429768"/>
            <a:ext cx="7315200" cy="256032"/>
          </a:xfrm>
          <a:prstGeom prst="rect">
            <a:avLst/>
          </a:prstGeom>
          <a:noFill/>
          <a:ln/>
        </p:spPr>
        <p:txBody>
          <a:bodyPr wrap="square" lIns="0" tIns="0" rIns="0" bIns="0" rtlCol="0" anchor="t"/>
          <a:lstStyle/>
          <a:p>
            <a:pPr indent="0" marL="0">
              <a:buNone/>
            </a:pPr>
            <a:r>
              <a:rPr lang="en-US" sz="1100" b="1" spc="200" kern="0" dirty="0">
                <a:solidFill>
                  <a:srgbClr val="2563EB"/>
                </a:solidFill>
                <a:latin typeface="Calibri" pitchFamily="34" charset="0"/>
                <a:ea typeface="Calibri" pitchFamily="34" charset="-122"/>
                <a:cs typeface="Calibri" pitchFamily="34" charset="-120"/>
              </a:rPr>
              <a:t>SYSTEM, TESTING &amp; CONCLUSION</a:t>
            </a:r>
            <a:endParaRPr lang="en-US" sz="1100" dirty="0"/>
          </a:p>
        </p:txBody>
      </p:sp>
      <p:sp>
        <p:nvSpPr>
          <p:cNvPr id="4" name="Text 2"/>
          <p:cNvSpPr/>
          <p:nvPr/>
        </p:nvSpPr>
        <p:spPr>
          <a:xfrm>
            <a:off x="749808" y="676656"/>
            <a:ext cx="8229600" cy="512064"/>
          </a:xfrm>
          <a:prstGeom prst="rect">
            <a:avLst/>
          </a:prstGeom>
          <a:noFill/>
          <a:ln/>
        </p:spPr>
        <p:txBody>
          <a:bodyPr wrap="square" lIns="0" tIns="0" rIns="0" bIns="0" rtlCol="0" anchor="ctr"/>
          <a:lstStyle/>
          <a:p>
            <a:pPr indent="0" marL="0">
              <a:buNone/>
            </a:pPr>
            <a:r>
              <a:rPr lang="en-US" sz="2800" b="1" dirty="0">
                <a:solidFill>
                  <a:srgbClr val="0B1B3A"/>
                </a:solidFill>
                <a:latin typeface="Calibri" pitchFamily="34" charset="0"/>
                <a:ea typeface="Calibri" pitchFamily="34" charset="-122"/>
                <a:cs typeface="Calibri" pitchFamily="34" charset="-120"/>
              </a:rPr>
              <a:t>System Architecture and Technology Stack</a:t>
            </a:r>
            <a:endParaRPr lang="en-US" sz="2800" dirty="0"/>
          </a:p>
        </p:txBody>
      </p:sp>
      <p:sp>
        <p:nvSpPr>
          <p:cNvPr id="5" name="Text 3"/>
          <p:cNvSpPr/>
          <p:nvPr/>
        </p:nvSpPr>
        <p:spPr>
          <a:xfrm>
            <a:off x="8945575" y="548640"/>
            <a:ext cx="2697480" cy="365760"/>
          </a:xfrm>
          <a:prstGeom prst="roundRect">
            <a:avLst>
              <a:gd name="adj" fmla="val 50000"/>
            </a:avLst>
          </a:prstGeom>
          <a:solidFill>
            <a:srgbClr val="EFF5FF"/>
          </a:solidFill>
          <a:ln w="9525">
            <a:solidFill>
              <a:srgbClr val="D2E2FD"/>
            </a:solid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Member 4</a:t>
            </a:r>
            <a:pPr algn="ctr" indent="0" marL="0">
              <a:buNone/>
            </a:pPr>
            <a:r>
              <a:rPr lang="en-US" sz="1100" b="1" dirty="0">
                <a:solidFill>
                  <a:srgbClr val="334155"/>
                </a:solidFill>
                <a:latin typeface="Calibri" pitchFamily="34" charset="0"/>
                <a:ea typeface="Calibri" pitchFamily="34" charset="-122"/>
                <a:cs typeface="Calibri" pitchFamily="34" charset="-120"/>
              </a:rPr>
              <a:t>   K M H S Bandara</a:t>
            </a:r>
            <a:endParaRPr lang="en-US" sz="1100" dirty="0"/>
          </a:p>
        </p:txBody>
      </p:sp>
      <p:sp>
        <p:nvSpPr>
          <p:cNvPr id="7" name="Text 4"/>
          <p:cNvSpPr/>
          <p:nvPr/>
        </p:nvSpPr>
        <p:spPr>
          <a:xfrm>
            <a:off x="548640" y="1353312"/>
            <a:ext cx="5486400" cy="237744"/>
          </a:xfrm>
          <a:prstGeom prst="rect">
            <a:avLst/>
          </a:prstGeom>
          <a:noFill/>
          <a:ln/>
        </p:spPr>
        <p:txBody>
          <a:bodyPr wrap="square" lIns="0" tIns="0" rIns="0" bIns="0" rtlCol="0" anchor="ctr"/>
          <a:lstStyle/>
          <a:p>
            <a:pPr indent="0" marL="0">
              <a:buNone/>
            </a:pPr>
            <a:r>
              <a:rPr lang="en-US" sz="1050" b="1" spc="150" kern="0" dirty="0">
                <a:solidFill>
                  <a:srgbClr val="2563EB"/>
                </a:solidFill>
                <a:latin typeface="Calibri" pitchFamily="34" charset="0"/>
                <a:ea typeface="Calibri" pitchFamily="34" charset="-122"/>
                <a:cs typeface="Calibri" pitchFamily="34" charset="-120"/>
              </a:rPr>
              <a:t>ONLINE: ONE RECOMMENDATION</a:t>
            </a:r>
            <a:endParaRPr lang="en-US" sz="1050" dirty="0"/>
          </a:p>
        </p:txBody>
      </p:sp>
      <p:sp>
        <p:nvSpPr>
          <p:cNvPr id="8" name="Shape 5"/>
          <p:cNvSpPr/>
          <p:nvPr/>
        </p:nvSpPr>
        <p:spPr>
          <a:xfrm>
            <a:off x="548640" y="1645920"/>
            <a:ext cx="2267712" cy="1481328"/>
          </a:xfrm>
          <a:prstGeom prst="roundRect">
            <a:avLst>
              <a:gd name="adj" fmla="val 5556"/>
            </a:avLst>
          </a:prstGeom>
          <a:solidFill>
            <a:srgbClr val="F6F8FB"/>
          </a:solidFill>
          <a:ln w="9525">
            <a:solidFill>
              <a:srgbClr val="DCE3EC"/>
            </a:solidFill>
            <a:prstDash val="solid"/>
          </a:ln>
          <a:effectLst>
            <a:outerShdw sx="100000" sy="100000" kx="0" ky="0" algn="bl" rotWithShape="0" blurRad="114300" dist="25400" dir="5400000">
              <a:srgbClr val="0F172A">
                <a:alpha val="10000"/>
              </a:srgbClr>
            </a:outerShdw>
          </a:effectLst>
        </p:spPr>
      </p:sp>
      <p:sp>
        <p:nvSpPr>
          <p:cNvPr id="9" name="Text 6"/>
          <p:cNvSpPr/>
          <p:nvPr/>
        </p:nvSpPr>
        <p:spPr>
          <a:xfrm>
            <a:off x="694944" y="1737360"/>
            <a:ext cx="1993392" cy="274320"/>
          </a:xfrm>
          <a:prstGeom prst="rect">
            <a:avLst/>
          </a:prstGeom>
          <a:noFill/>
          <a:ln/>
        </p:spPr>
        <p:txBody>
          <a:bodyPr wrap="square" lIns="0" tIns="0" rIns="0" bIns="0" rtlCol="0" anchor="ctr"/>
          <a:lstStyle/>
          <a:p>
            <a:pPr indent="0" marL="0">
              <a:buNone/>
            </a:pPr>
            <a:r>
              <a:rPr lang="en-US" sz="1400" b="1" dirty="0">
                <a:solidFill>
                  <a:srgbClr val="0B1B3A"/>
                </a:solidFill>
                <a:latin typeface="Calibri" pitchFamily="34" charset="0"/>
                <a:ea typeface="Calibri" pitchFamily="34" charset="-122"/>
                <a:cs typeface="Calibri" pitchFamily="34" charset="-120"/>
              </a:rPr>
              <a:t>Web application</a:t>
            </a:r>
            <a:endParaRPr lang="en-US" sz="1400" dirty="0"/>
          </a:p>
        </p:txBody>
      </p:sp>
      <p:sp>
        <p:nvSpPr>
          <p:cNvPr id="10" name="Text 7"/>
          <p:cNvSpPr/>
          <p:nvPr/>
        </p:nvSpPr>
        <p:spPr>
          <a:xfrm>
            <a:off x="694944" y="2029968"/>
            <a:ext cx="1993392" cy="237744"/>
          </a:xfrm>
          <a:prstGeom prst="rect">
            <a:avLst/>
          </a:prstGeom>
          <a:noFill/>
          <a:ln/>
        </p:spPr>
        <p:txBody>
          <a:bodyPr wrap="square" lIns="0" tIns="0" rIns="0" bIns="0" rtlCol="0" anchor="ctr"/>
          <a:lstStyle/>
          <a:p>
            <a:pPr indent="0" marL="0">
              <a:buNone/>
            </a:pPr>
            <a:r>
              <a:rPr lang="en-US" sz="950" b="1" dirty="0">
                <a:solidFill>
                  <a:srgbClr val="2563EB"/>
                </a:solidFill>
                <a:latin typeface="Calibri" pitchFamily="34" charset="0"/>
                <a:ea typeface="Calibri" pitchFamily="34" charset="-122"/>
                <a:cs typeface="Calibri" pitchFamily="34" charset="-120"/>
              </a:rPr>
              <a:t>React 19 · TypeScript · Vite · Material UI</a:t>
            </a:r>
            <a:endParaRPr lang="en-US" sz="950" dirty="0"/>
          </a:p>
        </p:txBody>
      </p:sp>
      <p:sp>
        <p:nvSpPr>
          <p:cNvPr id="11" name="Text 8"/>
          <p:cNvSpPr/>
          <p:nvPr/>
        </p:nvSpPr>
        <p:spPr>
          <a:xfrm>
            <a:off x="694944" y="2304288"/>
            <a:ext cx="2011680" cy="768096"/>
          </a:xfrm>
          <a:prstGeom prst="rect">
            <a:avLst/>
          </a:prstGeom>
          <a:noFill/>
          <a:ln/>
        </p:spPr>
        <p:txBody>
          <a:bodyPr wrap="square" lIns="0" tIns="0" rIns="0" bIns="0" rtlCol="0" anchor="t"/>
          <a:lstStyle/>
          <a:p>
            <a:pPr indent="0" marL="0">
              <a:lnSpc>
                <a:spcPct val="102000"/>
              </a:lnSpc>
              <a:buNone/>
            </a:pPr>
            <a:r>
              <a:rPr lang="en-US" sz="1000" dirty="0">
                <a:solidFill>
                  <a:srgbClr val="334155"/>
                </a:solidFill>
                <a:latin typeface="Calibri" pitchFamily="34" charset="0"/>
                <a:ea typeface="Calibri" pitchFamily="34" charset="-122"/>
                <a:cs typeface="Calibri" pitchFamily="34" charset="-120"/>
              </a:rPr>
              <a:t>Questionnaire built from the API’s valid options; results, what-if, print, dark mode</a:t>
            </a:r>
            <a:endParaRPr lang="en-US" sz="1000" dirty="0"/>
          </a:p>
        </p:txBody>
      </p:sp>
      <p:sp>
        <p:nvSpPr>
          <p:cNvPr id="12" name="Shape 9"/>
          <p:cNvSpPr/>
          <p:nvPr/>
        </p:nvSpPr>
        <p:spPr>
          <a:xfrm>
            <a:off x="2871216" y="2514600"/>
            <a:ext cx="564794" cy="0"/>
          </a:xfrm>
          <a:prstGeom prst="line">
            <a:avLst/>
          </a:prstGeom>
          <a:noFill/>
          <a:ln w="22225">
            <a:solidFill>
              <a:srgbClr val="2563EB"/>
            </a:solidFill>
            <a:prstDash val="solid"/>
            <a:tailEnd type="triangle"/>
          </a:ln>
        </p:spPr>
      </p:sp>
      <p:sp>
        <p:nvSpPr>
          <p:cNvPr id="13" name="Text 10"/>
          <p:cNvSpPr/>
          <p:nvPr/>
        </p:nvSpPr>
        <p:spPr>
          <a:xfrm>
            <a:off x="2834640" y="2103120"/>
            <a:ext cx="637946" cy="365760"/>
          </a:xfrm>
          <a:prstGeom prst="rect">
            <a:avLst/>
          </a:prstGeom>
          <a:noFill/>
          <a:ln/>
        </p:spPr>
        <p:txBody>
          <a:bodyPr wrap="square" lIns="0" tIns="0" rIns="0" bIns="0" rtlCol="0" anchor="b"/>
          <a:lstStyle/>
          <a:p>
            <a:pPr algn="ctr" indent="0" marL="0">
              <a:lnSpc>
                <a:spcPct val="92000"/>
              </a:lnSpc>
              <a:buNone/>
            </a:pPr>
            <a:r>
              <a:rPr lang="en-US" sz="900" dirty="0">
                <a:solidFill>
                  <a:srgbClr val="64748B"/>
                </a:solidFill>
                <a:latin typeface="Calibri" pitchFamily="34" charset="0"/>
                <a:ea typeface="Calibri" pitchFamily="34" charset="-122"/>
                <a:cs typeface="Calibri" pitchFamily="34" charset="-120"/>
              </a:rPr>
              <a:t>JSON</a:t>
            </a:r>
            <a:endParaRPr lang="en-US" sz="900" dirty="0"/>
          </a:p>
          <a:p>
            <a:pPr algn="ctr" indent="0" marL="0">
              <a:lnSpc>
                <a:spcPct val="92000"/>
              </a:lnSpc>
              <a:buNone/>
            </a:pPr>
            <a:r>
              <a:rPr lang="en-US" sz="900" dirty="0">
                <a:solidFill>
                  <a:srgbClr val="64748B"/>
                </a:solidFill>
                <a:latin typeface="Calibri" pitchFamily="34" charset="0"/>
                <a:ea typeface="Calibri" pitchFamily="34" charset="-122"/>
                <a:cs typeface="Calibri" pitchFamily="34" charset="-120"/>
              </a:rPr>
              <a:t>profile</a:t>
            </a:r>
            <a:endParaRPr lang="en-US" sz="900" dirty="0"/>
          </a:p>
        </p:txBody>
      </p:sp>
      <p:sp>
        <p:nvSpPr>
          <p:cNvPr id="14" name="Shape 11"/>
          <p:cNvSpPr/>
          <p:nvPr/>
        </p:nvSpPr>
        <p:spPr>
          <a:xfrm>
            <a:off x="3490874" y="1645920"/>
            <a:ext cx="2267712" cy="1481328"/>
          </a:xfrm>
          <a:prstGeom prst="roundRect">
            <a:avLst>
              <a:gd name="adj" fmla="val 5556"/>
            </a:avLst>
          </a:prstGeom>
          <a:solidFill>
            <a:srgbClr val="F6F8FB"/>
          </a:solidFill>
          <a:ln w="9525">
            <a:solidFill>
              <a:srgbClr val="DCE3EC"/>
            </a:solidFill>
            <a:prstDash val="solid"/>
          </a:ln>
          <a:effectLst>
            <a:outerShdw sx="100000" sy="100000" kx="0" ky="0" algn="bl" rotWithShape="0" blurRad="114300" dist="25400" dir="5400000">
              <a:srgbClr val="0F172A">
                <a:alpha val="10000"/>
              </a:srgbClr>
            </a:outerShdw>
          </a:effectLst>
        </p:spPr>
      </p:sp>
      <p:sp>
        <p:nvSpPr>
          <p:cNvPr id="15" name="Text 12"/>
          <p:cNvSpPr/>
          <p:nvPr/>
        </p:nvSpPr>
        <p:spPr>
          <a:xfrm>
            <a:off x="3637178" y="1737360"/>
            <a:ext cx="1993392" cy="274320"/>
          </a:xfrm>
          <a:prstGeom prst="rect">
            <a:avLst/>
          </a:prstGeom>
          <a:noFill/>
          <a:ln/>
        </p:spPr>
        <p:txBody>
          <a:bodyPr wrap="square" lIns="0" tIns="0" rIns="0" bIns="0" rtlCol="0" anchor="ctr"/>
          <a:lstStyle/>
          <a:p>
            <a:pPr indent="0" marL="0">
              <a:buNone/>
            </a:pPr>
            <a:r>
              <a:rPr lang="en-US" sz="1400" b="1" dirty="0">
                <a:solidFill>
                  <a:srgbClr val="0B1B3A"/>
                </a:solidFill>
                <a:latin typeface="Calibri" pitchFamily="34" charset="0"/>
                <a:ea typeface="Calibri" pitchFamily="34" charset="-122"/>
                <a:cs typeface="Calibri" pitchFamily="34" charset="-120"/>
              </a:rPr>
              <a:t>Web API</a:t>
            </a:r>
            <a:endParaRPr lang="en-US" sz="1400" dirty="0"/>
          </a:p>
        </p:txBody>
      </p:sp>
      <p:sp>
        <p:nvSpPr>
          <p:cNvPr id="16" name="Text 13"/>
          <p:cNvSpPr/>
          <p:nvPr/>
        </p:nvSpPr>
        <p:spPr>
          <a:xfrm>
            <a:off x="3637178" y="2029968"/>
            <a:ext cx="1993392" cy="237744"/>
          </a:xfrm>
          <a:prstGeom prst="rect">
            <a:avLst/>
          </a:prstGeom>
          <a:noFill/>
          <a:ln/>
        </p:spPr>
        <p:txBody>
          <a:bodyPr wrap="square" lIns="0" tIns="0" rIns="0" bIns="0" rtlCol="0" anchor="ctr"/>
          <a:lstStyle/>
          <a:p>
            <a:pPr indent="0" marL="0">
              <a:buNone/>
            </a:pPr>
            <a:r>
              <a:rPr lang="en-US" sz="950" b="1" dirty="0">
                <a:solidFill>
                  <a:srgbClr val="2563EB"/>
                </a:solidFill>
                <a:latin typeface="Calibri" pitchFamily="34" charset="0"/>
                <a:ea typeface="Calibri" pitchFamily="34" charset="-122"/>
                <a:cs typeface="Calibri" pitchFamily="34" charset="-120"/>
              </a:rPr>
              <a:t>FastAPI · Pydantic · Uvicorn</a:t>
            </a:r>
            <a:endParaRPr lang="en-US" sz="950" dirty="0"/>
          </a:p>
        </p:txBody>
      </p:sp>
      <p:sp>
        <p:nvSpPr>
          <p:cNvPr id="17" name="Text 14"/>
          <p:cNvSpPr/>
          <p:nvPr/>
        </p:nvSpPr>
        <p:spPr>
          <a:xfrm>
            <a:off x="3637178" y="2304288"/>
            <a:ext cx="2011680" cy="768096"/>
          </a:xfrm>
          <a:prstGeom prst="rect">
            <a:avLst/>
          </a:prstGeom>
          <a:noFill/>
          <a:ln/>
        </p:spPr>
        <p:txBody>
          <a:bodyPr wrap="square" lIns="0" tIns="0" rIns="0" bIns="0" rtlCol="0" anchor="t"/>
          <a:lstStyle/>
          <a:p>
            <a:pPr indent="0" marL="0">
              <a:lnSpc>
                <a:spcPct val="102000"/>
              </a:lnSpc>
              <a:buNone/>
            </a:pPr>
            <a:r>
              <a:rPr lang="en-US" sz="1000" dirty="0">
                <a:solidFill>
                  <a:srgbClr val="334155"/>
                </a:solidFill>
                <a:latin typeface="Calibri" pitchFamily="34" charset="0"/>
                <a:ea typeface="Calibri" pitchFamily="34" charset="-122"/>
                <a:cs typeface="Calibri" pitchFamily="34" charset="-120"/>
              </a:rPr>
              <a:t>GET /api/health, GET /api/options, POST /api/predict; readable 422 errors</a:t>
            </a:r>
            <a:endParaRPr lang="en-US" sz="1000" dirty="0"/>
          </a:p>
        </p:txBody>
      </p:sp>
      <p:sp>
        <p:nvSpPr>
          <p:cNvPr id="18" name="Shape 15"/>
          <p:cNvSpPr/>
          <p:nvPr/>
        </p:nvSpPr>
        <p:spPr>
          <a:xfrm>
            <a:off x="5813450" y="2514600"/>
            <a:ext cx="564794" cy="0"/>
          </a:xfrm>
          <a:prstGeom prst="line">
            <a:avLst/>
          </a:prstGeom>
          <a:noFill/>
          <a:ln w="22225">
            <a:solidFill>
              <a:srgbClr val="2563EB"/>
            </a:solidFill>
            <a:prstDash val="solid"/>
            <a:tailEnd type="triangle"/>
          </a:ln>
        </p:spPr>
      </p:sp>
      <p:sp>
        <p:nvSpPr>
          <p:cNvPr id="19" name="Text 16"/>
          <p:cNvSpPr/>
          <p:nvPr/>
        </p:nvSpPr>
        <p:spPr>
          <a:xfrm>
            <a:off x="5776874" y="2103120"/>
            <a:ext cx="637946" cy="365760"/>
          </a:xfrm>
          <a:prstGeom prst="rect">
            <a:avLst/>
          </a:prstGeom>
          <a:noFill/>
          <a:ln/>
        </p:spPr>
        <p:txBody>
          <a:bodyPr wrap="square" lIns="0" tIns="0" rIns="0" bIns="0" rtlCol="0" anchor="b"/>
          <a:lstStyle/>
          <a:p>
            <a:pPr algn="ctr" indent="0" marL="0">
              <a:lnSpc>
                <a:spcPct val="92000"/>
              </a:lnSpc>
              <a:buNone/>
            </a:pPr>
            <a:r>
              <a:rPr lang="en-US" sz="900" dirty="0">
                <a:solidFill>
                  <a:srgbClr val="64748B"/>
                </a:solidFill>
                <a:latin typeface="Calibri" pitchFamily="34" charset="0"/>
                <a:ea typeface="Calibri" pitchFamily="34" charset="-122"/>
                <a:cs typeface="Calibri" pitchFamily="34" charset="-120"/>
              </a:rPr>
              <a:t>validated</a:t>
            </a:r>
            <a:endParaRPr lang="en-US" sz="900" dirty="0"/>
          </a:p>
          <a:p>
            <a:pPr algn="ctr" indent="0" marL="0">
              <a:lnSpc>
                <a:spcPct val="92000"/>
              </a:lnSpc>
              <a:buNone/>
            </a:pPr>
            <a:r>
              <a:rPr lang="en-US" sz="900" dirty="0">
                <a:solidFill>
                  <a:srgbClr val="64748B"/>
                </a:solidFill>
                <a:latin typeface="Calibri" pitchFamily="34" charset="0"/>
                <a:ea typeface="Calibri" pitchFamily="34" charset="-122"/>
                <a:cs typeface="Calibri" pitchFamily="34" charset="-120"/>
              </a:rPr>
              <a:t>profile</a:t>
            </a:r>
            <a:endParaRPr lang="en-US" sz="900" dirty="0"/>
          </a:p>
        </p:txBody>
      </p:sp>
      <p:sp>
        <p:nvSpPr>
          <p:cNvPr id="20" name="Shape 17"/>
          <p:cNvSpPr/>
          <p:nvPr/>
        </p:nvSpPr>
        <p:spPr>
          <a:xfrm>
            <a:off x="6433109" y="1645920"/>
            <a:ext cx="2267712" cy="1481328"/>
          </a:xfrm>
          <a:prstGeom prst="roundRect">
            <a:avLst>
              <a:gd name="adj" fmla="val 5556"/>
            </a:avLst>
          </a:prstGeom>
          <a:solidFill>
            <a:srgbClr val="EFF5FF"/>
          </a:solidFill>
          <a:ln w="9525">
            <a:solidFill>
              <a:srgbClr val="D2E2FD"/>
            </a:solidFill>
            <a:prstDash val="solid"/>
          </a:ln>
          <a:effectLst>
            <a:outerShdw sx="100000" sy="100000" kx="0" ky="0" algn="bl" rotWithShape="0" blurRad="114300" dist="25400" dir="5400000">
              <a:srgbClr val="0F172A">
                <a:alpha val="10000"/>
              </a:srgbClr>
            </a:outerShdw>
          </a:effectLst>
        </p:spPr>
      </p:sp>
      <p:sp>
        <p:nvSpPr>
          <p:cNvPr id="21" name="Text 18"/>
          <p:cNvSpPr/>
          <p:nvPr/>
        </p:nvSpPr>
        <p:spPr>
          <a:xfrm>
            <a:off x="6579413" y="1737360"/>
            <a:ext cx="1993392" cy="274320"/>
          </a:xfrm>
          <a:prstGeom prst="rect">
            <a:avLst/>
          </a:prstGeom>
          <a:noFill/>
          <a:ln/>
        </p:spPr>
        <p:txBody>
          <a:bodyPr wrap="square" lIns="0" tIns="0" rIns="0" bIns="0" rtlCol="0" anchor="ctr"/>
          <a:lstStyle/>
          <a:p>
            <a:pPr indent="0" marL="0">
              <a:buNone/>
            </a:pPr>
            <a:r>
              <a:rPr lang="en-US" sz="1400" b="1" dirty="0">
                <a:solidFill>
                  <a:srgbClr val="0B1B3A"/>
                </a:solidFill>
                <a:latin typeface="Calibri" pitchFamily="34" charset="0"/>
                <a:ea typeface="Calibri" pitchFamily="34" charset="-122"/>
                <a:cs typeface="Calibri" pitchFamily="34" charset="-120"/>
              </a:rPr>
              <a:t>skillpath package</a:t>
            </a:r>
            <a:endParaRPr lang="en-US" sz="1400" dirty="0"/>
          </a:p>
        </p:txBody>
      </p:sp>
      <p:sp>
        <p:nvSpPr>
          <p:cNvPr id="22" name="Text 19"/>
          <p:cNvSpPr/>
          <p:nvPr/>
        </p:nvSpPr>
        <p:spPr>
          <a:xfrm>
            <a:off x="6579413" y="2029968"/>
            <a:ext cx="1993392" cy="237744"/>
          </a:xfrm>
          <a:prstGeom prst="rect">
            <a:avLst/>
          </a:prstGeom>
          <a:noFill/>
          <a:ln/>
        </p:spPr>
        <p:txBody>
          <a:bodyPr wrap="square" lIns="0" tIns="0" rIns="0" bIns="0" rtlCol="0" anchor="ctr"/>
          <a:lstStyle/>
          <a:p>
            <a:pPr indent="0" marL="0">
              <a:buNone/>
            </a:pPr>
            <a:r>
              <a:rPr lang="en-US" sz="950" b="1" dirty="0">
                <a:solidFill>
                  <a:srgbClr val="2563EB"/>
                </a:solidFill>
                <a:latin typeface="Calibri" pitchFamily="34" charset="0"/>
                <a:ea typeface="Calibri" pitchFamily="34" charset="-122"/>
                <a:cs typeface="Calibri" pitchFamily="34" charset="-120"/>
              </a:rPr>
              <a:t>Shared Python package · scikit-learn</a:t>
            </a:r>
            <a:endParaRPr lang="en-US" sz="950" dirty="0"/>
          </a:p>
        </p:txBody>
      </p:sp>
      <p:sp>
        <p:nvSpPr>
          <p:cNvPr id="23" name="Text 20"/>
          <p:cNvSpPr/>
          <p:nvPr/>
        </p:nvSpPr>
        <p:spPr>
          <a:xfrm>
            <a:off x="6579413" y="2304288"/>
            <a:ext cx="2011680" cy="768096"/>
          </a:xfrm>
          <a:prstGeom prst="rect">
            <a:avLst/>
          </a:prstGeom>
          <a:noFill/>
          <a:ln/>
        </p:spPr>
        <p:txBody>
          <a:bodyPr wrap="square" lIns="0" tIns="0" rIns="0" bIns="0" rtlCol="0" anchor="t"/>
          <a:lstStyle/>
          <a:p>
            <a:pPr indent="0" marL="0">
              <a:lnSpc>
                <a:spcPct val="102000"/>
              </a:lnSpc>
              <a:buNone/>
            </a:pPr>
            <a:r>
              <a:rPr lang="en-US" sz="1000" dirty="0">
                <a:solidFill>
                  <a:srgbClr val="334155"/>
                </a:solidFill>
                <a:latin typeface="Calibri" pitchFamily="34" charset="0"/>
                <a:ea typeface="Calibri" pitchFamily="34" charset="-122"/>
                <a:cs typeface="Calibri" pitchFamily="34" charset="-120"/>
              </a:rPr>
              <a:t>profile_to_frame() makes a survey-format row; the same code the training scripts use</a:t>
            </a:r>
            <a:endParaRPr lang="en-US" sz="1000" dirty="0"/>
          </a:p>
        </p:txBody>
      </p:sp>
      <p:sp>
        <p:nvSpPr>
          <p:cNvPr id="24" name="Shape 21"/>
          <p:cNvSpPr/>
          <p:nvPr/>
        </p:nvSpPr>
        <p:spPr>
          <a:xfrm>
            <a:off x="8755685" y="2514600"/>
            <a:ext cx="564794" cy="0"/>
          </a:xfrm>
          <a:prstGeom prst="line">
            <a:avLst/>
          </a:prstGeom>
          <a:noFill/>
          <a:ln w="22225">
            <a:solidFill>
              <a:srgbClr val="2563EB"/>
            </a:solidFill>
            <a:prstDash val="solid"/>
            <a:tailEnd type="triangle"/>
          </a:ln>
        </p:spPr>
      </p:sp>
      <p:sp>
        <p:nvSpPr>
          <p:cNvPr id="25" name="Text 22"/>
          <p:cNvSpPr/>
          <p:nvPr/>
        </p:nvSpPr>
        <p:spPr>
          <a:xfrm>
            <a:off x="8719109" y="2103120"/>
            <a:ext cx="637946" cy="365760"/>
          </a:xfrm>
          <a:prstGeom prst="rect">
            <a:avLst/>
          </a:prstGeom>
          <a:noFill/>
          <a:ln/>
        </p:spPr>
        <p:txBody>
          <a:bodyPr wrap="square" lIns="0" tIns="0" rIns="0" bIns="0" rtlCol="0" anchor="b"/>
          <a:lstStyle/>
          <a:p>
            <a:pPr algn="ctr" indent="0" marL="0">
              <a:lnSpc>
                <a:spcPct val="92000"/>
              </a:lnSpc>
              <a:buNone/>
            </a:pPr>
            <a:r>
              <a:rPr lang="en-US" sz="900" dirty="0">
                <a:solidFill>
                  <a:srgbClr val="64748B"/>
                </a:solidFill>
                <a:latin typeface="Calibri" pitchFamily="34" charset="0"/>
                <a:ea typeface="Calibri" pitchFamily="34" charset="-122"/>
                <a:cs typeface="Calibri" pitchFamily="34" charset="-120"/>
              </a:rPr>
              <a:t>loaded at</a:t>
            </a:r>
            <a:endParaRPr lang="en-US" sz="900" dirty="0"/>
          </a:p>
          <a:p>
            <a:pPr algn="ctr" indent="0" marL="0">
              <a:lnSpc>
                <a:spcPct val="92000"/>
              </a:lnSpc>
              <a:buNone/>
            </a:pPr>
            <a:r>
              <a:rPr lang="en-US" sz="900" dirty="0">
                <a:solidFill>
                  <a:srgbClr val="64748B"/>
                </a:solidFill>
                <a:latin typeface="Calibri" pitchFamily="34" charset="0"/>
                <a:ea typeface="Calibri" pitchFamily="34" charset="-122"/>
                <a:cs typeface="Calibri" pitchFamily="34" charset="-120"/>
              </a:rPr>
              <a:t>start-up</a:t>
            </a:r>
            <a:endParaRPr lang="en-US" sz="900" dirty="0"/>
          </a:p>
        </p:txBody>
      </p:sp>
      <p:sp>
        <p:nvSpPr>
          <p:cNvPr id="26" name="Shape 23"/>
          <p:cNvSpPr/>
          <p:nvPr/>
        </p:nvSpPr>
        <p:spPr>
          <a:xfrm>
            <a:off x="9375343" y="1645920"/>
            <a:ext cx="2267712" cy="1481328"/>
          </a:xfrm>
          <a:prstGeom prst="roundRect">
            <a:avLst>
              <a:gd name="adj" fmla="val 5556"/>
            </a:avLst>
          </a:prstGeom>
          <a:solidFill>
            <a:srgbClr val="0B1B3A"/>
          </a:solidFill>
          <a:ln w="9525">
            <a:solidFill>
              <a:srgbClr val="0B1B3A"/>
            </a:solidFill>
            <a:prstDash val="solid"/>
          </a:ln>
          <a:effectLst>
            <a:outerShdw sx="100000" sy="100000" kx="0" ky="0" algn="bl" rotWithShape="0" blurRad="114300" dist="25400" dir="5400000">
              <a:srgbClr val="0F172A">
                <a:alpha val="10000"/>
              </a:srgbClr>
            </a:outerShdw>
          </a:effectLst>
        </p:spPr>
      </p:sp>
      <p:sp>
        <p:nvSpPr>
          <p:cNvPr id="27" name="Text 24"/>
          <p:cNvSpPr/>
          <p:nvPr/>
        </p:nvSpPr>
        <p:spPr>
          <a:xfrm>
            <a:off x="9521647" y="1737360"/>
            <a:ext cx="1993392"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Model artifacts</a:t>
            </a:r>
            <a:endParaRPr lang="en-US" sz="1400" dirty="0"/>
          </a:p>
        </p:txBody>
      </p:sp>
      <p:sp>
        <p:nvSpPr>
          <p:cNvPr id="28" name="Text 25"/>
          <p:cNvSpPr/>
          <p:nvPr/>
        </p:nvSpPr>
        <p:spPr>
          <a:xfrm>
            <a:off x="9521647" y="2029968"/>
            <a:ext cx="1993392" cy="237744"/>
          </a:xfrm>
          <a:prstGeom prst="rect">
            <a:avLst/>
          </a:prstGeom>
          <a:noFill/>
          <a:ln/>
        </p:spPr>
        <p:txBody>
          <a:bodyPr wrap="square" lIns="0" tIns="0" rIns="0" bIns="0" rtlCol="0" anchor="ctr"/>
          <a:lstStyle/>
          <a:p>
            <a:pPr indent="0" marL="0">
              <a:buNone/>
            </a:pPr>
            <a:r>
              <a:rPr lang="en-US" sz="950" b="1" dirty="0">
                <a:solidFill>
                  <a:srgbClr val="9DC1FF"/>
                </a:solidFill>
                <a:latin typeface="Calibri" pitchFamily="34" charset="0"/>
                <a:ea typeface="Calibri" pitchFamily="34" charset="-122"/>
                <a:cs typeface="Calibri" pitchFamily="34" charset="-120"/>
              </a:rPr>
              <a:t>model.joblib · insights.json</a:t>
            </a:r>
            <a:endParaRPr lang="en-US" sz="950" dirty="0"/>
          </a:p>
        </p:txBody>
      </p:sp>
      <p:sp>
        <p:nvSpPr>
          <p:cNvPr id="29" name="Text 26"/>
          <p:cNvSpPr/>
          <p:nvPr/>
        </p:nvSpPr>
        <p:spPr>
          <a:xfrm>
            <a:off x="9521647" y="2304288"/>
            <a:ext cx="2011680" cy="768096"/>
          </a:xfrm>
          <a:prstGeom prst="rect">
            <a:avLst/>
          </a:prstGeom>
          <a:noFill/>
          <a:ln/>
        </p:spPr>
        <p:txBody>
          <a:bodyPr wrap="square" lIns="0" tIns="0" rIns="0" bIns="0" rtlCol="0" anchor="t"/>
          <a:lstStyle/>
          <a:p>
            <a:pPr indent="0" marL="0">
              <a:lnSpc>
                <a:spcPct val="102000"/>
              </a:lnSpc>
              <a:buNone/>
            </a:pPr>
            <a:r>
              <a:rPr lang="en-US" sz="1000" dirty="0">
                <a:solidFill>
                  <a:srgbClr val="DBE7FB"/>
                </a:solidFill>
                <a:latin typeface="Calibri" pitchFamily="34" charset="0"/>
                <a:ea typeface="Calibri" pitchFamily="34" charset="-122"/>
                <a:cs typeface="Calibri" pitchFamily="34" charset="-120"/>
              </a:rPr>
              <a:t>Fitted preprocessor + Logistic Regression; pre-computed role insights; options.json; model card</a:t>
            </a:r>
            <a:endParaRPr lang="en-US" sz="1000" dirty="0"/>
          </a:p>
        </p:txBody>
      </p:sp>
      <p:sp>
        <p:nvSpPr>
          <p:cNvPr id="30" name="Text 27"/>
          <p:cNvSpPr/>
          <p:nvPr/>
        </p:nvSpPr>
        <p:spPr>
          <a:xfrm>
            <a:off x="548640" y="3364992"/>
            <a:ext cx="7315200" cy="237744"/>
          </a:xfrm>
          <a:prstGeom prst="rect">
            <a:avLst/>
          </a:prstGeom>
          <a:noFill/>
          <a:ln/>
        </p:spPr>
        <p:txBody>
          <a:bodyPr wrap="square" lIns="0" tIns="0" rIns="0" bIns="0" rtlCol="0" anchor="ctr"/>
          <a:lstStyle/>
          <a:p>
            <a:pPr indent="0" marL="0">
              <a:buNone/>
            </a:pPr>
            <a:r>
              <a:rPr lang="en-US" sz="1050" b="1" spc="150" kern="0" dirty="0">
                <a:solidFill>
                  <a:srgbClr val="64748B"/>
                </a:solidFill>
                <a:latin typeface="Calibri" pitchFamily="34" charset="0"/>
                <a:ea typeface="Calibri" pitchFamily="34" charset="-122"/>
                <a:cs typeface="Calibri" pitchFamily="34" charset="-120"/>
              </a:rPr>
              <a:t>OFFLINE: THE DATA MINING WORKFLOW THAT PRODUCES THE ARTIFACTS</a:t>
            </a:r>
            <a:endParaRPr lang="en-US" sz="1050" dirty="0"/>
          </a:p>
        </p:txBody>
      </p:sp>
      <p:sp>
        <p:nvSpPr>
          <p:cNvPr id="31" name="Shape 28"/>
          <p:cNvSpPr/>
          <p:nvPr/>
        </p:nvSpPr>
        <p:spPr>
          <a:xfrm>
            <a:off x="548640" y="3657600"/>
            <a:ext cx="1664208" cy="603504"/>
          </a:xfrm>
          <a:prstGeom prst="roundRect">
            <a:avLst>
              <a:gd name="adj" fmla="val 13636"/>
            </a:avLst>
          </a:prstGeom>
          <a:solidFill>
            <a:srgbClr val="FFFFFF"/>
          </a:solidFill>
          <a:ln w="9525">
            <a:solidFill>
              <a:srgbClr val="DCE3EC"/>
            </a:solidFill>
            <a:prstDash val="solid"/>
          </a:ln>
        </p:spPr>
      </p:sp>
      <p:sp>
        <p:nvSpPr>
          <p:cNvPr id="32" name="Text 29"/>
          <p:cNvSpPr/>
          <p:nvPr/>
        </p:nvSpPr>
        <p:spPr>
          <a:xfrm>
            <a:off x="594360" y="3657600"/>
            <a:ext cx="1572768" cy="603504"/>
          </a:xfrm>
          <a:prstGeom prst="rect">
            <a:avLst/>
          </a:prstGeom>
          <a:noFill/>
          <a:ln/>
        </p:spPr>
        <p:txBody>
          <a:bodyPr wrap="square" lIns="0" tIns="0" rIns="0" bIns="0" rtlCol="0" anchor="ctr"/>
          <a:lstStyle/>
          <a:p>
            <a:pPr algn="ctr" indent="0" marL="0">
              <a:lnSpc>
                <a:spcPct val="100000"/>
              </a:lnSpc>
              <a:buNone/>
            </a:pPr>
            <a:r>
              <a:rPr lang="en-US" sz="1100" b="1" dirty="0">
                <a:solidFill>
                  <a:srgbClr val="0B1B3A"/>
                </a:solidFill>
                <a:latin typeface="Calibri" pitchFamily="34" charset="0"/>
                <a:ea typeface="Calibri" pitchFamily="34" charset="-122"/>
                <a:cs typeface="Calibri" pitchFamily="34" charset="-120"/>
              </a:rPr>
              <a:t>Survey CSV</a:t>
            </a:r>
            <a:endParaRPr lang="en-US" sz="1100" dirty="0"/>
          </a:p>
          <a:p>
            <a:pPr algn="ctr" indent="0" marL="0">
              <a:lnSpc>
                <a:spcPct val="100000"/>
              </a:lnSpc>
              <a:buNone/>
            </a:pPr>
            <a:r>
              <a:rPr lang="en-US" sz="950" dirty="0">
                <a:solidFill>
                  <a:srgbClr val="64748B"/>
                </a:solidFill>
                <a:latin typeface="Calibri" pitchFamily="34" charset="0"/>
                <a:ea typeface="Calibri" pitchFamily="34" charset="-122"/>
                <a:cs typeface="Calibri" pitchFamily="34" charset="-120"/>
              </a:rPr>
              <a:t>49,123 responses</a:t>
            </a:r>
            <a:endParaRPr lang="en-US" sz="1100" dirty="0"/>
          </a:p>
        </p:txBody>
      </p:sp>
      <p:sp>
        <p:nvSpPr>
          <p:cNvPr id="33" name="Shape 30"/>
          <p:cNvSpPr/>
          <p:nvPr/>
        </p:nvSpPr>
        <p:spPr>
          <a:xfrm>
            <a:off x="2240280" y="3959352"/>
            <a:ext cx="166969" cy="0"/>
          </a:xfrm>
          <a:prstGeom prst="line">
            <a:avLst/>
          </a:prstGeom>
          <a:noFill/>
          <a:ln w="15875">
            <a:solidFill>
              <a:srgbClr val="64748B"/>
            </a:solidFill>
            <a:prstDash val="solid"/>
            <a:tailEnd type="triangle"/>
          </a:ln>
        </p:spPr>
      </p:sp>
      <p:sp>
        <p:nvSpPr>
          <p:cNvPr id="34" name="Shape 31"/>
          <p:cNvSpPr/>
          <p:nvPr/>
        </p:nvSpPr>
        <p:spPr>
          <a:xfrm>
            <a:off x="2434681" y="3657600"/>
            <a:ext cx="1664208" cy="603504"/>
          </a:xfrm>
          <a:prstGeom prst="roundRect">
            <a:avLst>
              <a:gd name="adj" fmla="val 13636"/>
            </a:avLst>
          </a:prstGeom>
          <a:solidFill>
            <a:srgbClr val="F6F8FB"/>
          </a:solidFill>
          <a:ln w="9525">
            <a:solidFill>
              <a:srgbClr val="DCE3EC"/>
            </a:solidFill>
            <a:prstDash val="solid"/>
          </a:ln>
        </p:spPr>
      </p:sp>
      <p:sp>
        <p:nvSpPr>
          <p:cNvPr id="35" name="Text 32"/>
          <p:cNvSpPr/>
          <p:nvPr/>
        </p:nvSpPr>
        <p:spPr>
          <a:xfrm>
            <a:off x="2480401" y="3657600"/>
            <a:ext cx="1572768" cy="603504"/>
          </a:xfrm>
          <a:prstGeom prst="rect">
            <a:avLst/>
          </a:prstGeom>
          <a:noFill/>
          <a:ln/>
        </p:spPr>
        <p:txBody>
          <a:bodyPr wrap="square" lIns="0" tIns="0" rIns="0" bIns="0" rtlCol="0" anchor="ctr"/>
          <a:lstStyle/>
          <a:p>
            <a:pPr algn="ctr" indent="0" marL="0">
              <a:lnSpc>
                <a:spcPct val="100000"/>
              </a:lnSpc>
              <a:buNone/>
            </a:pPr>
            <a:r>
              <a:rPr lang="en-US" sz="950" b="1" dirty="0">
                <a:solidFill>
                  <a:srgbClr val="0B1B3A"/>
                </a:solidFill>
                <a:latin typeface="Consolas" pitchFamily="34" charset="0"/>
                <a:ea typeface="Consolas" pitchFamily="34" charset="-122"/>
                <a:cs typeface="Consolas" pitchFamily="34" charset="-120"/>
              </a:rPr>
              <a:t>build_dataset.py</a:t>
            </a:r>
            <a:endParaRPr lang="en-US" sz="950" dirty="0"/>
          </a:p>
          <a:p>
            <a:pPr algn="ctr" indent="0" marL="0">
              <a:lnSpc>
                <a:spcPct val="100000"/>
              </a:lnSpc>
              <a:buNone/>
            </a:pPr>
            <a:r>
              <a:rPr lang="en-US" sz="950" dirty="0">
                <a:solidFill>
                  <a:srgbClr val="64748B"/>
                </a:solidFill>
                <a:latin typeface="Calibri" pitchFamily="34" charset="0"/>
                <a:ea typeface="Calibri" pitchFamily="34" charset="-122"/>
                <a:cs typeface="Calibri" pitchFamily="34" charset="-120"/>
              </a:rPr>
              <a:t>clean, cohort, split</a:t>
            </a:r>
            <a:endParaRPr lang="en-US" sz="950" dirty="0"/>
          </a:p>
        </p:txBody>
      </p:sp>
      <p:sp>
        <p:nvSpPr>
          <p:cNvPr id="36" name="Shape 33"/>
          <p:cNvSpPr/>
          <p:nvPr/>
        </p:nvSpPr>
        <p:spPr>
          <a:xfrm>
            <a:off x="4126321" y="3959352"/>
            <a:ext cx="166969" cy="0"/>
          </a:xfrm>
          <a:prstGeom prst="line">
            <a:avLst/>
          </a:prstGeom>
          <a:noFill/>
          <a:ln w="15875">
            <a:solidFill>
              <a:srgbClr val="64748B"/>
            </a:solidFill>
            <a:prstDash val="solid"/>
            <a:tailEnd type="triangle"/>
          </a:ln>
        </p:spPr>
      </p:sp>
      <p:sp>
        <p:nvSpPr>
          <p:cNvPr id="37" name="Shape 34"/>
          <p:cNvSpPr/>
          <p:nvPr/>
        </p:nvSpPr>
        <p:spPr>
          <a:xfrm>
            <a:off x="4320723" y="3657600"/>
            <a:ext cx="1664208" cy="603504"/>
          </a:xfrm>
          <a:prstGeom prst="roundRect">
            <a:avLst>
              <a:gd name="adj" fmla="val 13636"/>
            </a:avLst>
          </a:prstGeom>
          <a:solidFill>
            <a:srgbClr val="F6F8FB"/>
          </a:solidFill>
          <a:ln w="9525">
            <a:solidFill>
              <a:srgbClr val="DCE3EC"/>
            </a:solidFill>
            <a:prstDash val="solid"/>
          </a:ln>
        </p:spPr>
      </p:sp>
      <p:sp>
        <p:nvSpPr>
          <p:cNvPr id="38" name="Text 35"/>
          <p:cNvSpPr/>
          <p:nvPr/>
        </p:nvSpPr>
        <p:spPr>
          <a:xfrm>
            <a:off x="4366443" y="3657600"/>
            <a:ext cx="1572768" cy="603504"/>
          </a:xfrm>
          <a:prstGeom prst="rect">
            <a:avLst/>
          </a:prstGeom>
          <a:noFill/>
          <a:ln/>
        </p:spPr>
        <p:txBody>
          <a:bodyPr wrap="square" lIns="0" tIns="0" rIns="0" bIns="0" rtlCol="0" anchor="ctr"/>
          <a:lstStyle/>
          <a:p>
            <a:pPr algn="ctr" indent="0" marL="0">
              <a:lnSpc>
                <a:spcPct val="100000"/>
              </a:lnSpc>
              <a:buNone/>
            </a:pPr>
            <a:r>
              <a:rPr lang="en-US" sz="950" b="1" dirty="0">
                <a:solidFill>
                  <a:srgbClr val="0B1B3A"/>
                </a:solidFill>
                <a:latin typeface="Consolas" pitchFamily="34" charset="0"/>
                <a:ea typeface="Consolas" pitchFamily="34" charset="-122"/>
                <a:cs typeface="Consolas" pitchFamily="34" charset="-120"/>
              </a:rPr>
              <a:t>run_models.py</a:t>
            </a:r>
            <a:endParaRPr lang="en-US" sz="950" dirty="0"/>
          </a:p>
          <a:p>
            <a:pPr algn="ctr" indent="0" marL="0">
              <a:lnSpc>
                <a:spcPct val="100000"/>
              </a:lnSpc>
              <a:buNone/>
            </a:pPr>
            <a:r>
              <a:rPr lang="en-US" sz="950" dirty="0">
                <a:solidFill>
                  <a:srgbClr val="64748B"/>
                </a:solidFill>
                <a:latin typeface="Calibri" pitchFamily="34" charset="0"/>
                <a:ea typeface="Calibri" pitchFamily="34" charset="-122"/>
                <a:cs typeface="Calibri" pitchFamily="34" charset="-120"/>
              </a:rPr>
              <a:t>6 algorithms, 5-fold</a:t>
            </a:r>
            <a:endParaRPr lang="en-US" sz="950" dirty="0"/>
          </a:p>
        </p:txBody>
      </p:sp>
      <p:sp>
        <p:nvSpPr>
          <p:cNvPr id="39" name="Shape 36"/>
          <p:cNvSpPr/>
          <p:nvPr/>
        </p:nvSpPr>
        <p:spPr>
          <a:xfrm>
            <a:off x="6012363" y="3959352"/>
            <a:ext cx="166969" cy="0"/>
          </a:xfrm>
          <a:prstGeom prst="line">
            <a:avLst/>
          </a:prstGeom>
          <a:noFill/>
          <a:ln w="15875">
            <a:solidFill>
              <a:srgbClr val="64748B"/>
            </a:solidFill>
            <a:prstDash val="solid"/>
            <a:tailEnd type="triangle"/>
          </a:ln>
        </p:spPr>
      </p:sp>
      <p:sp>
        <p:nvSpPr>
          <p:cNvPr id="40" name="Shape 37"/>
          <p:cNvSpPr/>
          <p:nvPr/>
        </p:nvSpPr>
        <p:spPr>
          <a:xfrm>
            <a:off x="6206764" y="3657600"/>
            <a:ext cx="1664208" cy="603504"/>
          </a:xfrm>
          <a:prstGeom prst="roundRect">
            <a:avLst>
              <a:gd name="adj" fmla="val 13636"/>
            </a:avLst>
          </a:prstGeom>
          <a:solidFill>
            <a:srgbClr val="F6F8FB"/>
          </a:solidFill>
          <a:ln w="9525">
            <a:solidFill>
              <a:srgbClr val="DCE3EC"/>
            </a:solidFill>
            <a:prstDash val="solid"/>
          </a:ln>
        </p:spPr>
      </p:sp>
      <p:sp>
        <p:nvSpPr>
          <p:cNvPr id="41" name="Text 38"/>
          <p:cNvSpPr/>
          <p:nvPr/>
        </p:nvSpPr>
        <p:spPr>
          <a:xfrm>
            <a:off x="6252484" y="3657600"/>
            <a:ext cx="1572768" cy="603504"/>
          </a:xfrm>
          <a:prstGeom prst="rect">
            <a:avLst/>
          </a:prstGeom>
          <a:noFill/>
          <a:ln/>
        </p:spPr>
        <p:txBody>
          <a:bodyPr wrap="square" lIns="0" tIns="0" rIns="0" bIns="0" rtlCol="0" anchor="ctr"/>
          <a:lstStyle/>
          <a:p>
            <a:pPr algn="ctr" indent="0" marL="0">
              <a:lnSpc>
                <a:spcPct val="100000"/>
              </a:lnSpc>
              <a:buNone/>
            </a:pPr>
            <a:r>
              <a:rPr lang="en-US" sz="950" b="1" dirty="0">
                <a:solidFill>
                  <a:srgbClr val="0B1B3A"/>
                </a:solidFill>
                <a:latin typeface="Consolas" pitchFamily="34" charset="0"/>
                <a:ea typeface="Consolas" pitchFamily="34" charset="-122"/>
                <a:cs typeface="Consolas" pitchFamily="34" charset="-120"/>
              </a:rPr>
              <a:t>tune_models.py</a:t>
            </a:r>
            <a:endParaRPr lang="en-US" sz="950" dirty="0"/>
          </a:p>
          <a:p>
            <a:pPr algn="ctr" indent="0" marL="0">
              <a:lnSpc>
                <a:spcPct val="100000"/>
              </a:lnSpc>
              <a:buNone/>
            </a:pPr>
            <a:r>
              <a:rPr lang="en-US" sz="950" dirty="0">
                <a:solidFill>
                  <a:srgbClr val="64748B"/>
                </a:solidFill>
                <a:latin typeface="Calibri" pitchFamily="34" charset="0"/>
                <a:ea typeface="Calibri" pitchFamily="34" charset="-122"/>
                <a:cs typeface="Calibri" pitchFamily="34" charset="-120"/>
              </a:rPr>
              <a:t>phases A to D</a:t>
            </a:r>
            <a:endParaRPr lang="en-US" sz="950" dirty="0"/>
          </a:p>
        </p:txBody>
      </p:sp>
      <p:sp>
        <p:nvSpPr>
          <p:cNvPr id="42" name="Shape 39"/>
          <p:cNvSpPr/>
          <p:nvPr/>
        </p:nvSpPr>
        <p:spPr>
          <a:xfrm>
            <a:off x="7898404" y="3959352"/>
            <a:ext cx="166969" cy="0"/>
          </a:xfrm>
          <a:prstGeom prst="line">
            <a:avLst/>
          </a:prstGeom>
          <a:noFill/>
          <a:ln w="15875">
            <a:solidFill>
              <a:srgbClr val="64748B"/>
            </a:solidFill>
            <a:prstDash val="solid"/>
            <a:tailEnd type="triangle"/>
          </a:ln>
        </p:spPr>
      </p:sp>
      <p:sp>
        <p:nvSpPr>
          <p:cNvPr id="43" name="Shape 40"/>
          <p:cNvSpPr/>
          <p:nvPr/>
        </p:nvSpPr>
        <p:spPr>
          <a:xfrm>
            <a:off x="8092806" y="3657600"/>
            <a:ext cx="1664208" cy="603504"/>
          </a:xfrm>
          <a:prstGeom prst="roundRect">
            <a:avLst>
              <a:gd name="adj" fmla="val 13636"/>
            </a:avLst>
          </a:prstGeom>
          <a:solidFill>
            <a:srgbClr val="F6F8FB"/>
          </a:solidFill>
          <a:ln w="9525">
            <a:solidFill>
              <a:srgbClr val="DCE3EC"/>
            </a:solidFill>
            <a:prstDash val="solid"/>
          </a:ln>
        </p:spPr>
      </p:sp>
      <p:sp>
        <p:nvSpPr>
          <p:cNvPr id="44" name="Text 41"/>
          <p:cNvSpPr/>
          <p:nvPr/>
        </p:nvSpPr>
        <p:spPr>
          <a:xfrm>
            <a:off x="8138526" y="3657600"/>
            <a:ext cx="1572768" cy="603504"/>
          </a:xfrm>
          <a:prstGeom prst="rect">
            <a:avLst/>
          </a:prstGeom>
          <a:noFill/>
          <a:ln/>
        </p:spPr>
        <p:txBody>
          <a:bodyPr wrap="square" lIns="0" tIns="0" rIns="0" bIns="0" rtlCol="0" anchor="ctr"/>
          <a:lstStyle/>
          <a:p>
            <a:pPr algn="ctr" indent="0" marL="0">
              <a:lnSpc>
                <a:spcPct val="100000"/>
              </a:lnSpc>
              <a:buNone/>
            </a:pPr>
            <a:r>
              <a:rPr lang="en-US" sz="950" b="1" dirty="0">
                <a:solidFill>
                  <a:srgbClr val="0B1B3A"/>
                </a:solidFill>
                <a:latin typeface="Consolas" pitchFamily="34" charset="0"/>
                <a:ea typeface="Consolas" pitchFamily="34" charset="-122"/>
                <a:cs typeface="Consolas" pitchFamily="34" charset="-120"/>
              </a:rPr>
              <a:t>finalise_model.py</a:t>
            </a:r>
            <a:endParaRPr lang="en-US" sz="950" dirty="0"/>
          </a:p>
          <a:p>
            <a:pPr algn="ctr" indent="0" marL="0">
              <a:lnSpc>
                <a:spcPct val="100000"/>
              </a:lnSpc>
              <a:buNone/>
            </a:pPr>
            <a:r>
              <a:rPr lang="en-US" sz="950" dirty="0">
                <a:solidFill>
                  <a:srgbClr val="64748B"/>
                </a:solidFill>
                <a:latin typeface="Calibri" pitchFamily="34" charset="0"/>
                <a:ea typeface="Calibri" pitchFamily="34" charset="-122"/>
                <a:cs typeface="Calibri" pitchFamily="34" charset="-120"/>
              </a:rPr>
              <a:t>fit, single test</a:t>
            </a:r>
            <a:endParaRPr lang="en-US" sz="950" dirty="0"/>
          </a:p>
        </p:txBody>
      </p:sp>
      <p:sp>
        <p:nvSpPr>
          <p:cNvPr id="45" name="Shape 42"/>
          <p:cNvSpPr/>
          <p:nvPr/>
        </p:nvSpPr>
        <p:spPr>
          <a:xfrm>
            <a:off x="9784446" y="3959352"/>
            <a:ext cx="166969" cy="0"/>
          </a:xfrm>
          <a:prstGeom prst="line">
            <a:avLst/>
          </a:prstGeom>
          <a:noFill/>
          <a:ln w="15875">
            <a:solidFill>
              <a:srgbClr val="64748B"/>
            </a:solidFill>
            <a:prstDash val="solid"/>
            <a:tailEnd type="triangle"/>
          </a:ln>
        </p:spPr>
      </p:sp>
      <p:sp>
        <p:nvSpPr>
          <p:cNvPr id="46" name="Shape 43"/>
          <p:cNvSpPr/>
          <p:nvPr/>
        </p:nvSpPr>
        <p:spPr>
          <a:xfrm>
            <a:off x="9978847" y="3657600"/>
            <a:ext cx="1664208" cy="603504"/>
          </a:xfrm>
          <a:prstGeom prst="roundRect">
            <a:avLst>
              <a:gd name="adj" fmla="val 13636"/>
            </a:avLst>
          </a:prstGeom>
          <a:solidFill>
            <a:srgbClr val="F6F8FB"/>
          </a:solidFill>
          <a:ln w="9525">
            <a:solidFill>
              <a:srgbClr val="DCE3EC"/>
            </a:solidFill>
            <a:prstDash val="solid"/>
          </a:ln>
        </p:spPr>
      </p:sp>
      <p:sp>
        <p:nvSpPr>
          <p:cNvPr id="47" name="Text 44"/>
          <p:cNvSpPr/>
          <p:nvPr/>
        </p:nvSpPr>
        <p:spPr>
          <a:xfrm>
            <a:off x="10024567" y="3657600"/>
            <a:ext cx="1572768" cy="603504"/>
          </a:xfrm>
          <a:prstGeom prst="rect">
            <a:avLst/>
          </a:prstGeom>
          <a:noFill/>
          <a:ln/>
        </p:spPr>
        <p:txBody>
          <a:bodyPr wrap="square" lIns="0" tIns="0" rIns="0" bIns="0" rtlCol="0" anchor="ctr"/>
          <a:lstStyle/>
          <a:p>
            <a:pPr algn="ctr" indent="0" marL="0">
              <a:lnSpc>
                <a:spcPct val="100000"/>
              </a:lnSpc>
              <a:buNone/>
            </a:pPr>
            <a:r>
              <a:rPr lang="en-US" sz="950" b="1" dirty="0">
                <a:solidFill>
                  <a:srgbClr val="0B1B3A"/>
                </a:solidFill>
                <a:latin typeface="Consolas" pitchFamily="34" charset="0"/>
                <a:ea typeface="Consolas" pitchFamily="34" charset="-122"/>
                <a:cs typeface="Consolas" pitchFamily="34" charset="-120"/>
              </a:rPr>
              <a:t>build_app_tables.py</a:t>
            </a:r>
            <a:endParaRPr lang="en-US" sz="950" dirty="0"/>
          </a:p>
          <a:p>
            <a:pPr algn="ctr" indent="0" marL="0">
              <a:lnSpc>
                <a:spcPct val="100000"/>
              </a:lnSpc>
              <a:buNone/>
            </a:pPr>
            <a:r>
              <a:rPr lang="en-US" sz="950" dirty="0">
                <a:solidFill>
                  <a:srgbClr val="64748B"/>
                </a:solidFill>
                <a:latin typeface="Calibri" pitchFamily="34" charset="0"/>
                <a:ea typeface="Calibri" pitchFamily="34" charset="-122"/>
                <a:cs typeface="Calibri" pitchFamily="34" charset="-120"/>
              </a:rPr>
              <a:t>role insights</a:t>
            </a:r>
            <a:endParaRPr lang="en-US" sz="950" dirty="0"/>
          </a:p>
        </p:txBody>
      </p:sp>
      <p:sp>
        <p:nvSpPr>
          <p:cNvPr id="48" name="Shape 45"/>
          <p:cNvSpPr/>
          <p:nvPr/>
        </p:nvSpPr>
        <p:spPr>
          <a:xfrm>
            <a:off x="10728655" y="3172968"/>
            <a:ext cx="0" cy="438912"/>
          </a:xfrm>
          <a:prstGeom prst="line">
            <a:avLst/>
          </a:prstGeom>
          <a:noFill/>
          <a:ln w="15875">
            <a:solidFill>
              <a:srgbClr val="64748B"/>
            </a:solidFill>
            <a:prstDash val="dash"/>
            <a:headEnd type="triangle"/>
          </a:ln>
        </p:spPr>
      </p:sp>
      <p:sp>
        <p:nvSpPr>
          <p:cNvPr id="49" name="Text 46"/>
          <p:cNvSpPr/>
          <p:nvPr/>
        </p:nvSpPr>
        <p:spPr>
          <a:xfrm>
            <a:off x="10783519" y="3255264"/>
            <a:ext cx="822960"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produces</a:t>
            </a:r>
            <a:endParaRPr lang="en-US" sz="900" dirty="0"/>
          </a:p>
        </p:txBody>
      </p:sp>
      <p:sp>
        <p:nvSpPr>
          <p:cNvPr id="50" name="Text 47"/>
          <p:cNvSpPr/>
          <p:nvPr/>
        </p:nvSpPr>
        <p:spPr>
          <a:xfrm>
            <a:off x="548640" y="4462272"/>
            <a:ext cx="7315200" cy="237744"/>
          </a:xfrm>
          <a:prstGeom prst="rect">
            <a:avLst/>
          </a:prstGeom>
          <a:noFill/>
          <a:ln/>
        </p:spPr>
        <p:txBody>
          <a:bodyPr wrap="square" lIns="0" tIns="0" rIns="0" bIns="0" rtlCol="0" anchor="ctr"/>
          <a:lstStyle/>
          <a:p>
            <a:pPr indent="0" marL="0">
              <a:buNone/>
            </a:pPr>
            <a:r>
              <a:rPr lang="en-US" sz="1050" b="1" spc="150" kern="0" dirty="0">
                <a:solidFill>
                  <a:srgbClr val="2563EB"/>
                </a:solidFill>
                <a:latin typeface="Calibri" pitchFamily="34" charset="0"/>
                <a:ea typeface="Calibri" pitchFamily="34" charset="-122"/>
                <a:cs typeface="Calibri" pitchFamily="34" charset="-120"/>
              </a:rPr>
              <a:t>PREDICTION FLOW OF POST /API/PREDICT</a:t>
            </a:r>
            <a:endParaRPr lang="en-US" sz="1050" dirty="0"/>
          </a:p>
        </p:txBody>
      </p:sp>
      <p:sp>
        <p:nvSpPr>
          <p:cNvPr id="51" name="Shape 48"/>
          <p:cNvSpPr/>
          <p:nvPr/>
        </p:nvSpPr>
        <p:spPr>
          <a:xfrm>
            <a:off x="548640" y="4754880"/>
            <a:ext cx="1506539" cy="1097280"/>
          </a:xfrm>
          <a:prstGeom prst="roundRect">
            <a:avLst>
              <a:gd name="adj" fmla="val 7500"/>
            </a:avLst>
          </a:prstGeom>
          <a:solidFill>
            <a:srgbClr val="FFFFFF"/>
          </a:solidFill>
          <a:ln w="9525">
            <a:solidFill>
              <a:srgbClr val="DCE3EC"/>
            </a:solidFill>
            <a:prstDash val="solid"/>
          </a:ln>
        </p:spPr>
      </p:sp>
      <p:sp>
        <p:nvSpPr>
          <p:cNvPr id="52" name="Text 49"/>
          <p:cNvSpPr/>
          <p:nvPr/>
        </p:nvSpPr>
        <p:spPr>
          <a:xfrm>
            <a:off x="658368" y="4828032"/>
            <a:ext cx="274320" cy="274320"/>
          </a:xfrm>
          <a:prstGeom prst="ellipse">
            <a:avLst/>
          </a:prstGeom>
          <a:solidFill>
            <a:srgbClr val="0B1B3A"/>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53" name="Text 50"/>
          <p:cNvSpPr/>
          <p:nvPr/>
        </p:nvSpPr>
        <p:spPr>
          <a:xfrm>
            <a:off x="658368" y="5157216"/>
            <a:ext cx="1323659" cy="658368"/>
          </a:xfrm>
          <a:prstGeom prst="rect">
            <a:avLst/>
          </a:prstGeom>
          <a:noFill/>
          <a:ln/>
        </p:spPr>
        <p:txBody>
          <a:bodyPr wrap="square" lIns="0" tIns="0" rIns="0" bIns="0" rtlCol="0" anchor="t"/>
          <a:lstStyle/>
          <a:p>
            <a:pPr indent="0" marL="0">
              <a:lnSpc>
                <a:spcPct val="100000"/>
              </a:lnSpc>
              <a:buNone/>
            </a:pPr>
            <a:r>
              <a:rPr lang="en-US" sz="950" dirty="0">
                <a:solidFill>
                  <a:srgbClr val="334155"/>
                </a:solidFill>
                <a:latin typeface="Calibri" pitchFamily="34" charset="0"/>
                <a:ea typeface="Calibri" pitchFamily="34" charset="-122"/>
                <a:cs typeface="Calibri" pitchFamily="34" charset="-120"/>
              </a:rPr>
              <a:t>Questionnaire answers sent as a JSON profile</a:t>
            </a:r>
            <a:endParaRPr lang="en-US" sz="950" dirty="0"/>
          </a:p>
        </p:txBody>
      </p:sp>
      <p:sp>
        <p:nvSpPr>
          <p:cNvPr id="54" name="Shape 51"/>
          <p:cNvSpPr/>
          <p:nvPr/>
        </p:nvSpPr>
        <p:spPr>
          <a:xfrm>
            <a:off x="2146619" y="4754880"/>
            <a:ext cx="1506539" cy="1097280"/>
          </a:xfrm>
          <a:prstGeom prst="roundRect">
            <a:avLst>
              <a:gd name="adj" fmla="val 7500"/>
            </a:avLst>
          </a:prstGeom>
          <a:solidFill>
            <a:srgbClr val="FFFFFF"/>
          </a:solidFill>
          <a:ln w="9525">
            <a:solidFill>
              <a:srgbClr val="DCE3EC"/>
            </a:solidFill>
            <a:prstDash val="solid"/>
          </a:ln>
        </p:spPr>
      </p:sp>
      <p:sp>
        <p:nvSpPr>
          <p:cNvPr id="55" name="Text 52"/>
          <p:cNvSpPr/>
          <p:nvPr/>
        </p:nvSpPr>
        <p:spPr>
          <a:xfrm>
            <a:off x="2256347" y="4828032"/>
            <a:ext cx="274320" cy="274320"/>
          </a:xfrm>
          <a:prstGeom prst="ellipse">
            <a:avLst/>
          </a:prstGeom>
          <a:solidFill>
            <a:srgbClr val="0B1B3A"/>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56" name="Text 53"/>
          <p:cNvSpPr/>
          <p:nvPr/>
        </p:nvSpPr>
        <p:spPr>
          <a:xfrm>
            <a:off x="2256347" y="5157216"/>
            <a:ext cx="1323659" cy="658368"/>
          </a:xfrm>
          <a:prstGeom prst="rect">
            <a:avLst/>
          </a:prstGeom>
          <a:noFill/>
          <a:ln/>
        </p:spPr>
        <p:txBody>
          <a:bodyPr wrap="square" lIns="0" tIns="0" rIns="0" bIns="0" rtlCol="0" anchor="t"/>
          <a:lstStyle/>
          <a:p>
            <a:pPr indent="0" marL="0">
              <a:lnSpc>
                <a:spcPct val="100000"/>
              </a:lnSpc>
              <a:buNone/>
            </a:pPr>
            <a:r>
              <a:rPr lang="en-US" sz="950" dirty="0">
                <a:solidFill>
                  <a:srgbClr val="334155"/>
                </a:solidFill>
                <a:latin typeface="Calibri" pitchFamily="34" charset="0"/>
                <a:ea typeface="Calibri" pitchFamily="34" charset="-122"/>
                <a:cs typeface="Calibri" pitchFamily="34" charset="-120"/>
              </a:rPr>
              <a:t>Pydantic validates every answer (HTTP 422 if invalid)</a:t>
            </a:r>
            <a:endParaRPr lang="en-US" sz="950" dirty="0"/>
          </a:p>
        </p:txBody>
      </p:sp>
      <p:sp>
        <p:nvSpPr>
          <p:cNvPr id="57" name="Shape 54"/>
          <p:cNvSpPr/>
          <p:nvPr/>
        </p:nvSpPr>
        <p:spPr>
          <a:xfrm>
            <a:off x="3744599" y="4754880"/>
            <a:ext cx="1506539" cy="1097280"/>
          </a:xfrm>
          <a:prstGeom prst="roundRect">
            <a:avLst>
              <a:gd name="adj" fmla="val 7500"/>
            </a:avLst>
          </a:prstGeom>
          <a:solidFill>
            <a:srgbClr val="FFFFFF"/>
          </a:solidFill>
          <a:ln w="9525">
            <a:solidFill>
              <a:srgbClr val="DCE3EC"/>
            </a:solidFill>
            <a:prstDash val="solid"/>
          </a:ln>
        </p:spPr>
      </p:sp>
      <p:sp>
        <p:nvSpPr>
          <p:cNvPr id="58" name="Text 55"/>
          <p:cNvSpPr/>
          <p:nvPr/>
        </p:nvSpPr>
        <p:spPr>
          <a:xfrm>
            <a:off x="3854327" y="4828032"/>
            <a:ext cx="274320" cy="274320"/>
          </a:xfrm>
          <a:prstGeom prst="ellipse">
            <a:avLst/>
          </a:prstGeom>
          <a:solidFill>
            <a:srgbClr val="0B1B3A"/>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59" name="Text 56"/>
          <p:cNvSpPr/>
          <p:nvPr/>
        </p:nvSpPr>
        <p:spPr>
          <a:xfrm>
            <a:off x="3854327" y="5157216"/>
            <a:ext cx="1323659" cy="658368"/>
          </a:xfrm>
          <a:prstGeom prst="rect">
            <a:avLst/>
          </a:prstGeom>
          <a:noFill/>
          <a:ln/>
        </p:spPr>
        <p:txBody>
          <a:bodyPr wrap="square" lIns="0" tIns="0" rIns="0" bIns="0" rtlCol="0" anchor="t"/>
          <a:lstStyle/>
          <a:p>
            <a:pPr indent="0" marL="0">
              <a:lnSpc>
                <a:spcPct val="100000"/>
              </a:lnSpc>
              <a:buNone/>
            </a:pPr>
            <a:r>
              <a:rPr lang="en-US" sz="950" dirty="0">
                <a:solidFill>
                  <a:srgbClr val="334155"/>
                </a:solidFill>
                <a:latin typeface="Calibri" pitchFamily="34" charset="0"/>
                <a:ea typeface="Calibri" pitchFamily="34" charset="-122"/>
                <a:cs typeface="Calibri" pitchFamily="34" charset="-120"/>
              </a:rPr>
              <a:t>profile_to_frame() builds a one-row survey frame</a:t>
            </a:r>
            <a:endParaRPr lang="en-US" sz="950" dirty="0"/>
          </a:p>
        </p:txBody>
      </p:sp>
      <p:sp>
        <p:nvSpPr>
          <p:cNvPr id="60" name="Shape 57"/>
          <p:cNvSpPr/>
          <p:nvPr/>
        </p:nvSpPr>
        <p:spPr>
          <a:xfrm>
            <a:off x="5342578" y="4754880"/>
            <a:ext cx="1506539" cy="1097280"/>
          </a:xfrm>
          <a:prstGeom prst="roundRect">
            <a:avLst>
              <a:gd name="adj" fmla="val 7500"/>
            </a:avLst>
          </a:prstGeom>
          <a:solidFill>
            <a:srgbClr val="EFF5FF"/>
          </a:solidFill>
          <a:ln w="9525">
            <a:solidFill>
              <a:srgbClr val="D2E2FD"/>
            </a:solidFill>
            <a:prstDash val="solid"/>
          </a:ln>
        </p:spPr>
      </p:sp>
      <p:sp>
        <p:nvSpPr>
          <p:cNvPr id="61" name="Text 58"/>
          <p:cNvSpPr/>
          <p:nvPr/>
        </p:nvSpPr>
        <p:spPr>
          <a:xfrm>
            <a:off x="5452306" y="4828032"/>
            <a:ext cx="274320" cy="274320"/>
          </a:xfrm>
          <a:prstGeom prst="ellipse">
            <a:avLst/>
          </a:prstGeom>
          <a:solidFill>
            <a:srgbClr val="2563EB"/>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62" name="Text 59"/>
          <p:cNvSpPr/>
          <p:nvPr/>
        </p:nvSpPr>
        <p:spPr>
          <a:xfrm>
            <a:off x="5452306" y="5157216"/>
            <a:ext cx="1323659" cy="658368"/>
          </a:xfrm>
          <a:prstGeom prst="rect">
            <a:avLst/>
          </a:prstGeom>
          <a:noFill/>
          <a:ln/>
        </p:spPr>
        <p:txBody>
          <a:bodyPr wrap="square" lIns="0" tIns="0" rIns="0" bIns="0" rtlCol="0" anchor="t"/>
          <a:lstStyle/>
          <a:p>
            <a:pPr indent="0" marL="0">
              <a:lnSpc>
                <a:spcPct val="100000"/>
              </a:lnSpc>
              <a:buNone/>
            </a:pPr>
            <a:r>
              <a:rPr lang="en-US" sz="950" dirty="0">
                <a:solidFill>
                  <a:srgbClr val="334155"/>
                </a:solidFill>
                <a:latin typeface="Calibri" pitchFamily="34" charset="0"/>
                <a:ea typeface="Calibri" pitchFamily="34" charset="-122"/>
                <a:cs typeface="Calibri" pitchFamily="34" charset="-120"/>
              </a:rPr>
              <a:t>Saved pipeline returns 20 role probabilities</a:t>
            </a:r>
            <a:endParaRPr lang="en-US" sz="950" dirty="0"/>
          </a:p>
        </p:txBody>
      </p:sp>
      <p:sp>
        <p:nvSpPr>
          <p:cNvPr id="63" name="Shape 60"/>
          <p:cNvSpPr/>
          <p:nvPr/>
        </p:nvSpPr>
        <p:spPr>
          <a:xfrm>
            <a:off x="6940557" y="4754880"/>
            <a:ext cx="1506539" cy="1097280"/>
          </a:xfrm>
          <a:prstGeom prst="roundRect">
            <a:avLst>
              <a:gd name="adj" fmla="val 7500"/>
            </a:avLst>
          </a:prstGeom>
          <a:solidFill>
            <a:srgbClr val="FFFFFF"/>
          </a:solidFill>
          <a:ln w="9525">
            <a:solidFill>
              <a:srgbClr val="DCE3EC"/>
            </a:solidFill>
            <a:prstDash val="solid"/>
          </a:ln>
        </p:spPr>
      </p:sp>
      <p:sp>
        <p:nvSpPr>
          <p:cNvPr id="64" name="Text 61"/>
          <p:cNvSpPr/>
          <p:nvPr/>
        </p:nvSpPr>
        <p:spPr>
          <a:xfrm>
            <a:off x="7050285" y="4828032"/>
            <a:ext cx="274320" cy="274320"/>
          </a:xfrm>
          <a:prstGeom prst="ellipse">
            <a:avLst/>
          </a:prstGeom>
          <a:solidFill>
            <a:srgbClr val="0B1B3A"/>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65" name="Text 62"/>
          <p:cNvSpPr/>
          <p:nvPr/>
        </p:nvSpPr>
        <p:spPr>
          <a:xfrm>
            <a:off x="7050285" y="5157216"/>
            <a:ext cx="1323659" cy="658368"/>
          </a:xfrm>
          <a:prstGeom prst="rect">
            <a:avLst/>
          </a:prstGeom>
          <a:noFill/>
          <a:ln/>
        </p:spPr>
        <p:txBody>
          <a:bodyPr wrap="square" lIns="0" tIns="0" rIns="0" bIns="0" rtlCol="0" anchor="t"/>
          <a:lstStyle/>
          <a:p>
            <a:pPr indent="0" marL="0">
              <a:lnSpc>
                <a:spcPct val="100000"/>
              </a:lnSpc>
              <a:buNone/>
            </a:pPr>
            <a:r>
              <a:rPr lang="en-US" sz="950" dirty="0">
                <a:solidFill>
                  <a:srgbClr val="334155"/>
                </a:solidFill>
                <a:latin typeface="Calibri" pitchFamily="34" charset="0"/>
                <a:ea typeface="Calibri" pitchFamily="34" charset="-122"/>
                <a:cs typeface="Calibri" pitchFamily="34" charset="-120"/>
              </a:rPr>
              <a:t>Top-3 roles picked; probabilities summed into families</a:t>
            </a:r>
            <a:endParaRPr lang="en-US" sz="950" dirty="0"/>
          </a:p>
        </p:txBody>
      </p:sp>
      <p:sp>
        <p:nvSpPr>
          <p:cNvPr id="66" name="Shape 63"/>
          <p:cNvSpPr/>
          <p:nvPr/>
        </p:nvSpPr>
        <p:spPr>
          <a:xfrm>
            <a:off x="8538537" y="4754880"/>
            <a:ext cx="1506539" cy="1097280"/>
          </a:xfrm>
          <a:prstGeom prst="roundRect">
            <a:avLst>
              <a:gd name="adj" fmla="val 7500"/>
            </a:avLst>
          </a:prstGeom>
          <a:solidFill>
            <a:srgbClr val="FFFFFF"/>
          </a:solidFill>
          <a:ln w="9525">
            <a:solidFill>
              <a:srgbClr val="DCE3EC"/>
            </a:solidFill>
            <a:prstDash val="solid"/>
          </a:ln>
        </p:spPr>
      </p:sp>
      <p:sp>
        <p:nvSpPr>
          <p:cNvPr id="67" name="Text 64"/>
          <p:cNvSpPr/>
          <p:nvPr/>
        </p:nvSpPr>
        <p:spPr>
          <a:xfrm>
            <a:off x="8648265" y="4828032"/>
            <a:ext cx="274320" cy="274320"/>
          </a:xfrm>
          <a:prstGeom prst="ellipse">
            <a:avLst/>
          </a:prstGeom>
          <a:solidFill>
            <a:srgbClr val="0B1B3A"/>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68" name="Text 65"/>
          <p:cNvSpPr/>
          <p:nvPr/>
        </p:nvSpPr>
        <p:spPr>
          <a:xfrm>
            <a:off x="8648265" y="5157216"/>
            <a:ext cx="1323659" cy="658368"/>
          </a:xfrm>
          <a:prstGeom prst="rect">
            <a:avLst/>
          </a:prstGeom>
          <a:noFill/>
          <a:ln/>
        </p:spPr>
        <p:txBody>
          <a:bodyPr wrap="square" lIns="0" tIns="0" rIns="0" bIns="0" rtlCol="0" anchor="t"/>
          <a:lstStyle/>
          <a:p>
            <a:pPr indent="0" marL="0">
              <a:lnSpc>
                <a:spcPct val="100000"/>
              </a:lnSpc>
              <a:buNone/>
            </a:pPr>
            <a:r>
              <a:rPr lang="en-US" sz="950" dirty="0">
                <a:solidFill>
                  <a:srgbClr val="334155"/>
                </a:solidFill>
                <a:latin typeface="Calibri" pitchFamily="34" charset="0"/>
                <a:ea typeface="Calibri" pitchFamily="34" charset="-122"/>
                <a:cs typeface="Calibri" pitchFamily="34" charset="-120"/>
              </a:rPr>
              <a:t>insights.json adds AI outlook, pay, skill gap, confidence flag</a:t>
            </a:r>
            <a:endParaRPr lang="en-US" sz="950" dirty="0"/>
          </a:p>
        </p:txBody>
      </p:sp>
      <p:sp>
        <p:nvSpPr>
          <p:cNvPr id="69" name="Shape 66"/>
          <p:cNvSpPr/>
          <p:nvPr/>
        </p:nvSpPr>
        <p:spPr>
          <a:xfrm>
            <a:off x="10136516" y="4754880"/>
            <a:ext cx="1506539" cy="1097280"/>
          </a:xfrm>
          <a:prstGeom prst="roundRect">
            <a:avLst>
              <a:gd name="adj" fmla="val 7500"/>
            </a:avLst>
          </a:prstGeom>
          <a:solidFill>
            <a:srgbClr val="FFFFFF"/>
          </a:solidFill>
          <a:ln w="9525">
            <a:solidFill>
              <a:srgbClr val="DCE3EC"/>
            </a:solidFill>
            <a:prstDash val="solid"/>
          </a:ln>
        </p:spPr>
      </p:sp>
      <p:sp>
        <p:nvSpPr>
          <p:cNvPr id="70" name="Text 67"/>
          <p:cNvSpPr/>
          <p:nvPr/>
        </p:nvSpPr>
        <p:spPr>
          <a:xfrm>
            <a:off x="10246244" y="4828032"/>
            <a:ext cx="274320" cy="274320"/>
          </a:xfrm>
          <a:prstGeom prst="ellipse">
            <a:avLst/>
          </a:prstGeom>
          <a:solidFill>
            <a:srgbClr val="0B1B3A"/>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7</a:t>
            </a:r>
            <a:endParaRPr lang="en-US" sz="1050" dirty="0"/>
          </a:p>
        </p:txBody>
      </p:sp>
      <p:sp>
        <p:nvSpPr>
          <p:cNvPr id="71" name="Text 68"/>
          <p:cNvSpPr/>
          <p:nvPr/>
        </p:nvSpPr>
        <p:spPr>
          <a:xfrm>
            <a:off x="10246244" y="5157216"/>
            <a:ext cx="1323659" cy="658368"/>
          </a:xfrm>
          <a:prstGeom prst="rect">
            <a:avLst/>
          </a:prstGeom>
          <a:noFill/>
          <a:ln/>
        </p:spPr>
        <p:txBody>
          <a:bodyPr wrap="square" lIns="0" tIns="0" rIns="0" bIns="0" rtlCol="0" anchor="t"/>
          <a:lstStyle/>
          <a:p>
            <a:pPr indent="0" marL="0">
              <a:lnSpc>
                <a:spcPct val="100000"/>
              </a:lnSpc>
              <a:buNone/>
            </a:pPr>
            <a:r>
              <a:rPr lang="en-US" sz="950" dirty="0">
                <a:solidFill>
                  <a:srgbClr val="334155"/>
                </a:solidFill>
                <a:latin typeface="Calibri" pitchFamily="34" charset="0"/>
                <a:ea typeface="Calibri" pitchFamily="34" charset="-122"/>
                <a:cs typeface="Calibri" pitchFamily="34" charset="-120"/>
              </a:rPr>
              <a:t>Response rendered as the results page</a:t>
            </a:r>
            <a:endParaRPr lang="en-US" sz="950" dirty="0"/>
          </a:p>
        </p:txBody>
      </p:sp>
      <p:sp>
        <p:nvSpPr>
          <p:cNvPr id="72" name="Text 69"/>
          <p:cNvSpPr/>
          <p:nvPr/>
        </p:nvSpPr>
        <p:spPr>
          <a:xfrm>
            <a:off x="548640" y="5943600"/>
            <a:ext cx="11094415" cy="310896"/>
          </a:xfrm>
          <a:prstGeom prst="rect">
            <a:avLst/>
          </a:prstGeom>
          <a:noFill/>
          <a:ln/>
        </p:spPr>
        <p:txBody>
          <a:bodyPr wrap="square" lIns="0" tIns="0" rIns="0" bIns="0" rtlCol="0" anchor="ctr"/>
          <a:lstStyle/>
          <a:p>
            <a:pPr algn="ctr" indent="0" marL="0">
              <a:buNone/>
            </a:pPr>
            <a:r>
              <a:rPr lang="en-US" sz="1050" b="1" dirty="0">
                <a:solidFill>
                  <a:srgbClr val="0B1B3A"/>
                </a:solidFill>
                <a:latin typeface="Calibri" pitchFamily="34" charset="0"/>
                <a:ea typeface="Calibri" pitchFamily="34" charset="-122"/>
                <a:cs typeface="Calibri" pitchFamily="34" charset="-120"/>
              </a:rPr>
              <a:t>No preprocessing is re-implemented in the backend</a:t>
            </a:r>
            <a:pPr algn="ctr" indent="0" marL="0">
              <a:buNone/>
            </a:pPr>
            <a:r>
              <a:rPr lang="en-US" sz="1050" dirty="0">
                <a:solidFill>
                  <a:srgbClr val="334155"/>
                </a:solidFill>
                <a:latin typeface="Calibri" pitchFamily="34" charset="0"/>
                <a:ea typeface="Calibri" pitchFamily="34" charset="-122"/>
                <a:cs typeface="Calibri" pitchFamily="34" charset="-120"/>
              </a:rPr>
              <a:t>   ·   nothing the user sends is stored or logged   ·   about 15 ms per prediction, including insights</a:t>
            </a:r>
            <a:endParaRPr lang="en-US" sz="1050" dirty="0"/>
          </a:p>
        </p:txBody>
      </p:sp>
      <p:sp>
        <p:nvSpPr>
          <p:cNvPr id="25" name="Slide Number Placeholder 0"/>
          <p:cNvSpPr>
            <a:spLocks noGrp="1"/>
          </p:cNvSpPr>
          <p:nvPr>
            <p:ph type="sldNum" sz="quarter" idx="4294967295"/>
          </p:nvPr>
        </p:nvSpPr>
        <p:spPr>
          <a:xfrm>
            <a:off x="11094415" y="6464808"/>
            <a:ext cx="5486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64748B"/>
                </a:solidFill>
                <a:latin typeface="Calibri"/>
                <a:ea typeface="Calibri"/>
                <a:cs typeface="Calibri"/>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64008" cy="713232"/>
          </a:xfrm>
          <a:prstGeom prst="rect">
            <a:avLst/>
          </a:prstGeom>
          <a:solidFill>
            <a:srgbClr val="2563EB"/>
          </a:solidFill>
          <a:ln/>
        </p:spPr>
      </p:sp>
      <p:sp>
        <p:nvSpPr>
          <p:cNvPr id="3" name="Text 1"/>
          <p:cNvSpPr/>
          <p:nvPr/>
        </p:nvSpPr>
        <p:spPr>
          <a:xfrm>
            <a:off x="749808" y="429768"/>
            <a:ext cx="7315200" cy="256032"/>
          </a:xfrm>
          <a:prstGeom prst="rect">
            <a:avLst/>
          </a:prstGeom>
          <a:noFill/>
          <a:ln/>
        </p:spPr>
        <p:txBody>
          <a:bodyPr wrap="square" lIns="0" tIns="0" rIns="0" bIns="0" rtlCol="0" anchor="t"/>
          <a:lstStyle/>
          <a:p>
            <a:pPr indent="0" marL="0">
              <a:buNone/>
            </a:pPr>
            <a:r>
              <a:rPr lang="en-US" sz="1100" b="1" spc="200" kern="0" dirty="0">
                <a:solidFill>
                  <a:srgbClr val="2563EB"/>
                </a:solidFill>
                <a:latin typeface="Calibri" pitchFamily="34" charset="0"/>
                <a:ea typeface="Calibri" pitchFamily="34" charset="-122"/>
                <a:cs typeface="Calibri" pitchFamily="34" charset="-120"/>
              </a:rPr>
              <a:t>SYSTEM, TESTING &amp; CONCLUSION</a:t>
            </a:r>
            <a:endParaRPr lang="en-US" sz="1100" dirty="0"/>
          </a:p>
        </p:txBody>
      </p:sp>
      <p:sp>
        <p:nvSpPr>
          <p:cNvPr id="4" name="Text 2"/>
          <p:cNvSpPr/>
          <p:nvPr/>
        </p:nvSpPr>
        <p:spPr>
          <a:xfrm>
            <a:off x="749808" y="676656"/>
            <a:ext cx="8229600" cy="512064"/>
          </a:xfrm>
          <a:prstGeom prst="rect">
            <a:avLst/>
          </a:prstGeom>
          <a:noFill/>
          <a:ln/>
        </p:spPr>
        <p:txBody>
          <a:bodyPr wrap="square" lIns="0" tIns="0" rIns="0" bIns="0" rtlCol="0" anchor="ctr"/>
          <a:lstStyle/>
          <a:p>
            <a:pPr indent="0" marL="0">
              <a:buNone/>
            </a:pPr>
            <a:r>
              <a:rPr lang="en-US" sz="2800" b="1" dirty="0">
                <a:solidFill>
                  <a:srgbClr val="0B1B3A"/>
                </a:solidFill>
                <a:latin typeface="Calibri" pitchFamily="34" charset="0"/>
                <a:ea typeface="Calibri" pitchFamily="34" charset="-122"/>
                <a:cs typeface="Calibri" pitchFamily="34" charset="-120"/>
              </a:rPr>
              <a:t>Application Demonstration and Testing</a:t>
            </a:r>
            <a:endParaRPr lang="en-US" sz="2800" dirty="0"/>
          </a:p>
        </p:txBody>
      </p:sp>
      <p:sp>
        <p:nvSpPr>
          <p:cNvPr id="5" name="Text 3"/>
          <p:cNvSpPr/>
          <p:nvPr/>
        </p:nvSpPr>
        <p:spPr>
          <a:xfrm>
            <a:off x="8945575" y="548640"/>
            <a:ext cx="2697480" cy="365760"/>
          </a:xfrm>
          <a:prstGeom prst="roundRect">
            <a:avLst>
              <a:gd name="adj" fmla="val 50000"/>
            </a:avLst>
          </a:prstGeom>
          <a:solidFill>
            <a:srgbClr val="EFF5FF"/>
          </a:solidFill>
          <a:ln w="9525">
            <a:solidFill>
              <a:srgbClr val="D2E2FD"/>
            </a:solid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Member 4</a:t>
            </a:r>
            <a:pPr algn="ctr" indent="0" marL="0">
              <a:buNone/>
            </a:pPr>
            <a:r>
              <a:rPr lang="en-US" sz="1100" b="1" dirty="0">
                <a:solidFill>
                  <a:srgbClr val="334155"/>
                </a:solidFill>
                <a:latin typeface="Calibri" pitchFamily="34" charset="0"/>
                <a:ea typeface="Calibri" pitchFamily="34" charset="-122"/>
                <a:cs typeface="Calibri" pitchFamily="34" charset="-120"/>
              </a:rPr>
              <a:t>   K M H S Bandara</a:t>
            </a:r>
            <a:endParaRPr lang="en-US" sz="1100" dirty="0"/>
          </a:p>
        </p:txBody>
      </p:sp>
      <p:sp>
        <p:nvSpPr>
          <p:cNvPr id="7" name="Shape 4"/>
          <p:cNvSpPr/>
          <p:nvPr/>
        </p:nvSpPr>
        <p:spPr>
          <a:xfrm>
            <a:off x="548640" y="1371600"/>
            <a:ext cx="3749040" cy="2999232"/>
          </a:xfrm>
          <a:prstGeom prst="rect">
            <a:avLst/>
          </a:prstGeom>
          <a:solidFill>
            <a:srgbClr val="FFFFFF"/>
          </a:solidFill>
          <a:ln w="9525">
            <a:solidFill>
              <a:srgbClr val="DCE3EC"/>
            </a:solidFill>
            <a:prstDash val="solid"/>
          </a:ln>
          <a:effectLst>
            <a:outerShdw sx="100000" sy="100000" kx="0" ky="0" algn="bl" rotWithShape="0" blurRad="114300" dist="25400" dir="5400000">
              <a:srgbClr val="0F172A">
                <a:alpha val="10000"/>
              </a:srgbClr>
            </a:outerShdw>
          </a:effectLst>
        </p:spPr>
      </p:sp>
      <p:pic>
        <p:nvPicPr>
          <p:cNvPr id="8" name="Image 0" descr="/Users/yoosufahamed/Desktop/SLIIT/Y3S2/FDM-Fundamentals of Data Mining/Mini Project/SkillPath Repo/skillpath/output/assets/shot-technologies.jpg">    </p:cNvPr>
          <p:cNvPicPr>
            <a:picLocks noChangeAspect="1"/>
          </p:cNvPicPr>
          <p:nvPr/>
        </p:nvPicPr>
        <p:blipFill>
          <a:blip r:embed="rId1"/>
          <a:stretch>
            <a:fillRect/>
          </a:stretch>
        </p:blipFill>
        <p:spPr>
          <a:xfrm>
            <a:off x="576072" y="1399032"/>
            <a:ext cx="3694176" cy="2944368"/>
          </a:xfrm>
          <a:prstGeom prst="rect">
            <a:avLst/>
          </a:prstGeom>
        </p:spPr>
      </p:pic>
      <p:sp>
        <p:nvSpPr>
          <p:cNvPr id="9" name="Text 5"/>
          <p:cNvSpPr/>
          <p:nvPr/>
        </p:nvSpPr>
        <p:spPr>
          <a:xfrm>
            <a:off x="548640" y="4425696"/>
            <a:ext cx="219456" cy="219456"/>
          </a:xfrm>
          <a:prstGeom prst="ellipse">
            <a:avLst/>
          </a:prstGeom>
          <a:solidFill>
            <a:srgbClr val="0B1B3A"/>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10" name="Text 6"/>
          <p:cNvSpPr/>
          <p:nvPr/>
        </p:nvSpPr>
        <p:spPr>
          <a:xfrm>
            <a:off x="841248" y="4398264"/>
            <a:ext cx="3456432" cy="2743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Questionnaire: technologies used, wanted, or “none”</a:t>
            </a:r>
            <a:endParaRPr lang="en-US" sz="1000" dirty="0"/>
          </a:p>
        </p:txBody>
      </p:sp>
      <p:sp>
        <p:nvSpPr>
          <p:cNvPr id="11" name="Shape 7"/>
          <p:cNvSpPr/>
          <p:nvPr/>
        </p:nvSpPr>
        <p:spPr>
          <a:xfrm>
            <a:off x="548640" y="4773168"/>
            <a:ext cx="3749040" cy="1089427"/>
          </a:xfrm>
          <a:prstGeom prst="rect">
            <a:avLst/>
          </a:prstGeom>
          <a:solidFill>
            <a:srgbClr val="FFFFFF"/>
          </a:solidFill>
          <a:ln w="9525">
            <a:solidFill>
              <a:srgbClr val="DCE3EC"/>
            </a:solidFill>
            <a:prstDash val="solid"/>
          </a:ln>
          <a:effectLst>
            <a:outerShdw sx="100000" sy="100000" kx="0" ky="0" algn="bl" rotWithShape="0" blurRad="114300" dist="25400" dir="5400000">
              <a:srgbClr val="0F172A">
                <a:alpha val="10000"/>
              </a:srgbClr>
            </a:outerShdw>
          </a:effectLst>
        </p:spPr>
      </p:sp>
      <p:pic>
        <p:nvPicPr>
          <p:cNvPr id="12" name="Image 1" descr="/Users/yoosufahamed/Desktop/SLIIT/Y3S2/FDM-Fundamentals of Data Mining/Mini Project/SkillPath Repo/skillpath/output/assets/shot-detail.jpg">    </p:cNvPr>
          <p:cNvPicPr>
            <a:picLocks noChangeAspect="1"/>
          </p:cNvPicPr>
          <p:nvPr/>
        </p:nvPicPr>
        <p:blipFill>
          <a:blip r:embed="rId2"/>
          <a:stretch>
            <a:fillRect/>
          </a:stretch>
        </p:blipFill>
        <p:spPr>
          <a:xfrm>
            <a:off x="576072" y="4800600"/>
            <a:ext cx="3694176" cy="1034563"/>
          </a:xfrm>
          <a:prstGeom prst="rect">
            <a:avLst/>
          </a:prstGeom>
        </p:spPr>
      </p:pic>
      <p:sp>
        <p:nvSpPr>
          <p:cNvPr id="13" name="Text 8"/>
          <p:cNvSpPr/>
          <p:nvPr/>
        </p:nvSpPr>
        <p:spPr>
          <a:xfrm>
            <a:off x="548640" y="5917459"/>
            <a:ext cx="219456" cy="219456"/>
          </a:xfrm>
          <a:prstGeom prst="ellipse">
            <a:avLst/>
          </a:prstGeom>
          <a:solidFill>
            <a:srgbClr val="0B1B3A"/>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14" name="Text 9"/>
          <p:cNvSpPr/>
          <p:nvPr/>
        </p:nvSpPr>
        <p:spPr>
          <a:xfrm>
            <a:off x="841248" y="5890027"/>
            <a:ext cx="3456432" cy="2743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Evidence per role: AI Exposure Index and salary peer group</a:t>
            </a:r>
            <a:endParaRPr lang="en-US" sz="1000" dirty="0"/>
          </a:p>
        </p:txBody>
      </p:sp>
      <p:sp>
        <p:nvSpPr>
          <p:cNvPr id="15" name="Shape 10"/>
          <p:cNvSpPr/>
          <p:nvPr/>
        </p:nvSpPr>
        <p:spPr>
          <a:xfrm>
            <a:off x="4462272" y="1371600"/>
            <a:ext cx="3749040" cy="2469956"/>
          </a:xfrm>
          <a:prstGeom prst="rect">
            <a:avLst/>
          </a:prstGeom>
          <a:solidFill>
            <a:srgbClr val="FFFFFF"/>
          </a:solidFill>
          <a:ln w="9525">
            <a:solidFill>
              <a:srgbClr val="DCE3EC"/>
            </a:solidFill>
            <a:prstDash val="solid"/>
          </a:ln>
          <a:effectLst>
            <a:outerShdw sx="100000" sy="100000" kx="0" ky="0" algn="bl" rotWithShape="0" blurRad="114300" dist="25400" dir="5400000">
              <a:srgbClr val="0F172A">
                <a:alpha val="10000"/>
              </a:srgbClr>
            </a:outerShdw>
          </a:effectLst>
        </p:spPr>
      </p:sp>
      <p:pic>
        <p:nvPicPr>
          <p:cNvPr id="16" name="Image 2" descr="/Users/yoosufahamed/Desktop/SLIIT/Y3S2/FDM-Fundamentals of Data Mining/Mini Project/SkillPath Repo/skillpath/output/assets/shot-results.jpg">    </p:cNvPr>
          <p:cNvPicPr>
            <a:picLocks noChangeAspect="1"/>
          </p:cNvPicPr>
          <p:nvPr/>
        </p:nvPicPr>
        <p:blipFill>
          <a:blip r:embed="rId3"/>
          <a:stretch>
            <a:fillRect/>
          </a:stretch>
        </p:blipFill>
        <p:spPr>
          <a:xfrm>
            <a:off x="4489704" y="1399032"/>
            <a:ext cx="3694176" cy="2415092"/>
          </a:xfrm>
          <a:prstGeom prst="rect">
            <a:avLst/>
          </a:prstGeom>
        </p:spPr>
      </p:pic>
      <p:sp>
        <p:nvSpPr>
          <p:cNvPr id="17" name="Text 11"/>
          <p:cNvSpPr/>
          <p:nvPr/>
        </p:nvSpPr>
        <p:spPr>
          <a:xfrm>
            <a:off x="4462272" y="3896420"/>
            <a:ext cx="219456" cy="219456"/>
          </a:xfrm>
          <a:prstGeom prst="ellipse">
            <a:avLst/>
          </a:prstGeom>
          <a:solidFill>
            <a:srgbClr val="0B1B3A"/>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18" name="Text 12"/>
          <p:cNvSpPr/>
          <p:nvPr/>
        </p:nvSpPr>
        <p:spPr>
          <a:xfrm>
            <a:off x="4754880" y="3868988"/>
            <a:ext cx="3456432" cy="2743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Results: best match and the three closest roles</a:t>
            </a:r>
            <a:endParaRPr lang="en-US" sz="1000" dirty="0"/>
          </a:p>
        </p:txBody>
      </p:sp>
      <p:sp>
        <p:nvSpPr>
          <p:cNvPr id="19" name="Shape 13"/>
          <p:cNvSpPr/>
          <p:nvPr/>
        </p:nvSpPr>
        <p:spPr>
          <a:xfrm>
            <a:off x="4462272" y="4243892"/>
            <a:ext cx="3749040" cy="1682657"/>
          </a:xfrm>
          <a:prstGeom prst="rect">
            <a:avLst/>
          </a:prstGeom>
          <a:solidFill>
            <a:srgbClr val="FFFFFF"/>
          </a:solidFill>
          <a:ln w="9525">
            <a:solidFill>
              <a:srgbClr val="DCE3EC"/>
            </a:solidFill>
            <a:prstDash val="solid"/>
          </a:ln>
          <a:effectLst>
            <a:outerShdw sx="100000" sy="100000" kx="0" ky="0" algn="bl" rotWithShape="0" blurRad="114300" dist="25400" dir="5400000">
              <a:srgbClr val="0F172A">
                <a:alpha val="10000"/>
              </a:srgbClr>
            </a:outerShdw>
          </a:effectLst>
        </p:spPr>
      </p:sp>
      <p:pic>
        <p:nvPicPr>
          <p:cNvPr id="20" name="Image 3" descr="/Users/yoosufahamed/Desktop/SLIIT/Y3S2/FDM-Fundamentals of Data Mining/Mini Project/SkillPath Repo/skillpath/output/assets/shot-whatif.jpg">    </p:cNvPr>
          <p:cNvPicPr>
            <a:picLocks noChangeAspect="1"/>
          </p:cNvPicPr>
          <p:nvPr/>
        </p:nvPicPr>
        <p:blipFill>
          <a:blip r:embed="rId4"/>
          <a:stretch>
            <a:fillRect/>
          </a:stretch>
        </p:blipFill>
        <p:spPr>
          <a:xfrm>
            <a:off x="4489704" y="4271324"/>
            <a:ext cx="3694176" cy="1627793"/>
          </a:xfrm>
          <a:prstGeom prst="rect">
            <a:avLst/>
          </a:prstGeom>
        </p:spPr>
      </p:pic>
      <p:sp>
        <p:nvSpPr>
          <p:cNvPr id="21" name="Text 14"/>
          <p:cNvSpPr/>
          <p:nvPr/>
        </p:nvSpPr>
        <p:spPr>
          <a:xfrm>
            <a:off x="4462272" y="5981413"/>
            <a:ext cx="219456" cy="219456"/>
          </a:xfrm>
          <a:prstGeom prst="ellipse">
            <a:avLst/>
          </a:prstGeom>
          <a:solidFill>
            <a:srgbClr val="0B1B3A"/>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22" name="Text 15"/>
          <p:cNvSpPr/>
          <p:nvPr/>
        </p:nvSpPr>
        <p:spPr>
          <a:xfrm>
            <a:off x="4754880" y="5953981"/>
            <a:ext cx="3456432" cy="274320"/>
          </a:xfrm>
          <a:prstGeom prst="rect">
            <a:avLst/>
          </a:prstGeom>
          <a:noFill/>
          <a:ln/>
        </p:spPr>
        <p:txBody>
          <a:bodyPr wrap="square" lIns="0" tIns="0" rIns="0" bIns="0" rtlCol="0" anchor="ctr"/>
          <a:lstStyle/>
          <a:p>
            <a:pPr indent="0" marL="0">
              <a:buNone/>
            </a:pPr>
            <a:r>
              <a:rPr lang="en-US" sz="1000" dirty="0">
                <a:solidFill>
                  <a:srgbClr val="334155"/>
                </a:solidFill>
                <a:latin typeface="Calibri" pitchFamily="34" charset="0"/>
                <a:ea typeface="Calibri" pitchFamily="34" charset="-122"/>
                <a:cs typeface="Calibri" pitchFamily="34" charset="-120"/>
              </a:rPr>
              <a:t>“What if…?” Adding a skill re-runs and compares</a:t>
            </a:r>
            <a:endParaRPr lang="en-US" sz="1000" dirty="0"/>
          </a:p>
        </p:txBody>
      </p:sp>
      <p:sp>
        <p:nvSpPr>
          <p:cNvPr id="23" name="Shape 16"/>
          <p:cNvSpPr/>
          <p:nvPr/>
        </p:nvSpPr>
        <p:spPr>
          <a:xfrm>
            <a:off x="8412480" y="1371600"/>
            <a:ext cx="3230575" cy="4882896"/>
          </a:xfrm>
          <a:prstGeom prst="roundRect">
            <a:avLst>
              <a:gd name="adj" fmla="val 2547"/>
            </a:avLst>
          </a:prstGeom>
          <a:solidFill>
            <a:srgbClr val="F6F8FB"/>
          </a:solidFill>
          <a:ln w="9525">
            <a:solidFill>
              <a:srgbClr val="DCE3EC"/>
            </a:solidFill>
            <a:prstDash val="solid"/>
          </a:ln>
        </p:spPr>
      </p:sp>
      <p:sp>
        <p:nvSpPr>
          <p:cNvPr id="24" name="Text 17"/>
          <p:cNvSpPr/>
          <p:nvPr/>
        </p:nvSpPr>
        <p:spPr>
          <a:xfrm>
            <a:off x="8595360" y="1463040"/>
            <a:ext cx="2864815" cy="219456"/>
          </a:xfrm>
          <a:prstGeom prst="rect">
            <a:avLst/>
          </a:prstGeom>
          <a:noFill/>
          <a:ln/>
        </p:spPr>
        <p:txBody>
          <a:bodyPr wrap="square" lIns="0" tIns="0" rIns="0" bIns="0" rtlCol="0" anchor="ctr"/>
          <a:lstStyle/>
          <a:p>
            <a:pPr indent="0" marL="0">
              <a:buNone/>
            </a:pPr>
            <a:r>
              <a:rPr lang="en-US" sz="1000" b="1" spc="200" kern="0" dirty="0">
                <a:solidFill>
                  <a:srgbClr val="2563EB"/>
                </a:solidFill>
                <a:latin typeface="Calibri" pitchFamily="34" charset="0"/>
                <a:ea typeface="Calibri" pitchFamily="34" charset="-122"/>
                <a:cs typeface="Calibri" pitchFamily="34" charset="-120"/>
              </a:rPr>
              <a:t>TESTING</a:t>
            </a:r>
            <a:endParaRPr lang="en-US" sz="1000" dirty="0"/>
          </a:p>
        </p:txBody>
      </p:sp>
      <p:sp>
        <p:nvSpPr>
          <p:cNvPr id="25" name="Text 18"/>
          <p:cNvSpPr/>
          <p:nvPr/>
        </p:nvSpPr>
        <p:spPr>
          <a:xfrm>
            <a:off x="8595360" y="1682496"/>
            <a:ext cx="2864815" cy="548640"/>
          </a:xfrm>
          <a:prstGeom prst="rect">
            <a:avLst/>
          </a:prstGeom>
          <a:noFill/>
          <a:ln/>
        </p:spPr>
        <p:txBody>
          <a:bodyPr wrap="square" lIns="0" tIns="0" rIns="0" bIns="0" rtlCol="0" anchor="ctr"/>
          <a:lstStyle/>
          <a:p>
            <a:pPr indent="0" marL="0">
              <a:buNone/>
            </a:pPr>
            <a:r>
              <a:rPr lang="en-US" sz="3400" b="1" dirty="0">
                <a:solidFill>
                  <a:srgbClr val="0B1B3A"/>
                </a:solidFill>
                <a:latin typeface="Calibri" pitchFamily="34" charset="0"/>
                <a:ea typeface="Calibri" pitchFamily="34" charset="-122"/>
                <a:cs typeface="Calibri" pitchFamily="34" charset="-120"/>
              </a:rPr>
              <a:t>178</a:t>
            </a:r>
            <a:pPr indent="0" marL="0">
              <a:buNone/>
            </a:pPr>
            <a:r>
              <a:rPr lang="en-US" sz="1300" b="1" dirty="0">
                <a:solidFill>
                  <a:srgbClr val="0B1B3A"/>
                </a:solidFill>
                <a:latin typeface="Calibri" pitchFamily="34" charset="0"/>
                <a:ea typeface="Calibri" pitchFamily="34" charset="-122"/>
                <a:cs typeface="Calibri" pitchFamily="34" charset="-120"/>
              </a:rPr>
              <a:t>  automated tests</a:t>
            </a:r>
            <a:endParaRPr lang="en-US" sz="3400" dirty="0"/>
          </a:p>
        </p:txBody>
      </p:sp>
      <p:sp>
        <p:nvSpPr>
          <p:cNvPr id="26" name="Text 19"/>
          <p:cNvSpPr/>
          <p:nvPr/>
        </p:nvSpPr>
        <p:spPr>
          <a:xfrm>
            <a:off x="8595360" y="2231136"/>
            <a:ext cx="2864815" cy="237744"/>
          </a:xfrm>
          <a:prstGeom prst="rect">
            <a:avLst/>
          </a:prstGeom>
          <a:noFill/>
          <a:ln/>
        </p:spPr>
        <p:txBody>
          <a:bodyPr wrap="square" lIns="0" tIns="0" rIns="0" bIns="0" rtlCol="0" anchor="ctr"/>
          <a:lstStyle/>
          <a:p>
            <a:pPr indent="0" marL="0">
              <a:buNone/>
            </a:pPr>
            <a:r>
              <a:rPr lang="en-US" sz="1100" b="1" dirty="0">
                <a:solidFill>
                  <a:srgbClr val="047857"/>
                </a:solidFill>
                <a:latin typeface="Calibri" pitchFamily="34" charset="0"/>
                <a:ea typeface="Calibri" pitchFamily="34" charset="-122"/>
                <a:cs typeface="Calibri" pitchFamily="34" charset="-120"/>
              </a:rPr>
              <a:t>177 passed</a:t>
            </a:r>
            <a:pPr indent="0" marL="0">
              <a:buNone/>
            </a:pPr>
            <a:r>
              <a:rPr lang="en-US" sz="1100" dirty="0">
                <a:solidFill>
                  <a:srgbClr val="334155"/>
                </a:solidFill>
                <a:latin typeface="Calibri" pitchFamily="34" charset="0"/>
                <a:ea typeface="Calibri" pitchFamily="34" charset="-122"/>
                <a:cs typeface="Calibri" pitchFamily="34" charset="-120"/>
              </a:rPr>
              <a:t> · 1 skipped · 0 failed</a:t>
            </a:r>
            <a:endParaRPr lang="en-US" sz="1100" dirty="0"/>
          </a:p>
        </p:txBody>
      </p:sp>
      <p:sp>
        <p:nvSpPr>
          <p:cNvPr id="27" name="Shape 20"/>
          <p:cNvSpPr/>
          <p:nvPr/>
        </p:nvSpPr>
        <p:spPr>
          <a:xfrm>
            <a:off x="8595360" y="2578608"/>
            <a:ext cx="2864815" cy="0"/>
          </a:xfrm>
          <a:prstGeom prst="line">
            <a:avLst/>
          </a:prstGeom>
          <a:noFill/>
          <a:ln w="9525">
            <a:solidFill>
              <a:srgbClr val="DCE3EC"/>
            </a:solidFill>
            <a:prstDash val="solid"/>
          </a:ln>
        </p:spPr>
      </p:sp>
      <p:sp>
        <p:nvSpPr>
          <p:cNvPr id="28" name="Text 21"/>
          <p:cNvSpPr/>
          <p:nvPr/>
        </p:nvSpPr>
        <p:spPr>
          <a:xfrm>
            <a:off x="8595360" y="2606040"/>
            <a:ext cx="2316175" cy="365760"/>
          </a:xfrm>
          <a:prstGeom prst="rect">
            <a:avLst/>
          </a:prstGeom>
          <a:noFill/>
          <a:ln/>
        </p:spPr>
        <p:txBody>
          <a:bodyPr wrap="square" lIns="0" tIns="0" rIns="0" bIns="0" rtlCol="0" anchor="ctr"/>
          <a:lstStyle/>
          <a:p>
            <a:pPr indent="0" marL="0">
              <a:lnSpc>
                <a:spcPct val="95000"/>
              </a:lnSpc>
              <a:buNone/>
            </a:pPr>
            <a:r>
              <a:rPr lang="en-US" sz="1050" b="1" dirty="0">
                <a:solidFill>
                  <a:srgbClr val="0B1B3A"/>
                </a:solidFill>
                <a:latin typeface="Calibri" pitchFamily="34" charset="0"/>
                <a:ea typeface="Calibri" pitchFamily="34" charset="-122"/>
                <a:cs typeface="Calibri" pitchFamily="34" charset="-120"/>
              </a:rPr>
              <a:t>Unit: data and model</a:t>
            </a:r>
            <a:endParaRPr lang="en-US" sz="1050" dirty="0"/>
          </a:p>
          <a:p>
            <a:pPr indent="0" marL="0">
              <a:lnSpc>
                <a:spcPct val="95000"/>
              </a:lnSpc>
              <a:buNone/>
            </a:pPr>
            <a:r>
              <a:rPr lang="en-US" sz="900" dirty="0">
                <a:solidFill>
                  <a:srgbClr val="64748B"/>
                </a:solidFill>
                <a:latin typeface="Calibri" pitchFamily="34" charset="0"/>
                <a:ea typeface="Calibri" pitchFamily="34" charset="-122"/>
                <a:cs typeface="Calibri" pitchFamily="34" charset="-120"/>
              </a:rPr>
              <a:t>pytest</a:t>
            </a:r>
            <a:endParaRPr lang="en-US" sz="1050" dirty="0"/>
          </a:p>
        </p:txBody>
      </p:sp>
      <p:sp>
        <p:nvSpPr>
          <p:cNvPr id="29" name="Text 22"/>
          <p:cNvSpPr/>
          <p:nvPr/>
        </p:nvSpPr>
        <p:spPr>
          <a:xfrm>
            <a:off x="10911535" y="2606040"/>
            <a:ext cx="548640" cy="365760"/>
          </a:xfrm>
          <a:prstGeom prst="rect">
            <a:avLst/>
          </a:prstGeom>
          <a:noFill/>
          <a:ln/>
        </p:spPr>
        <p:txBody>
          <a:bodyPr wrap="square" lIns="0" tIns="0" rIns="0" bIns="0" rtlCol="0" anchor="ctr"/>
          <a:lstStyle/>
          <a:p>
            <a:pPr algn="r" indent="0" marL="0">
              <a:buNone/>
            </a:pPr>
            <a:r>
              <a:rPr lang="en-US" sz="1500" b="1" dirty="0">
                <a:solidFill>
                  <a:srgbClr val="2563EB"/>
                </a:solidFill>
                <a:latin typeface="Calibri" pitchFamily="34" charset="0"/>
                <a:ea typeface="Calibri" pitchFamily="34" charset="-122"/>
                <a:cs typeface="Calibri" pitchFamily="34" charset="-120"/>
              </a:rPr>
              <a:t>36</a:t>
            </a:r>
            <a:endParaRPr lang="en-US" sz="1500" dirty="0"/>
          </a:p>
        </p:txBody>
      </p:sp>
      <p:sp>
        <p:nvSpPr>
          <p:cNvPr id="30" name="Shape 23"/>
          <p:cNvSpPr/>
          <p:nvPr/>
        </p:nvSpPr>
        <p:spPr>
          <a:xfrm>
            <a:off x="8595360" y="2980944"/>
            <a:ext cx="2864815" cy="0"/>
          </a:xfrm>
          <a:prstGeom prst="line">
            <a:avLst/>
          </a:prstGeom>
          <a:noFill/>
          <a:ln w="9525">
            <a:solidFill>
              <a:srgbClr val="DCE3EC"/>
            </a:solidFill>
            <a:prstDash val="solid"/>
          </a:ln>
        </p:spPr>
      </p:sp>
      <p:sp>
        <p:nvSpPr>
          <p:cNvPr id="31" name="Text 24"/>
          <p:cNvSpPr/>
          <p:nvPr/>
        </p:nvSpPr>
        <p:spPr>
          <a:xfrm>
            <a:off x="8595360" y="3008376"/>
            <a:ext cx="2316175" cy="365760"/>
          </a:xfrm>
          <a:prstGeom prst="rect">
            <a:avLst/>
          </a:prstGeom>
          <a:noFill/>
          <a:ln/>
        </p:spPr>
        <p:txBody>
          <a:bodyPr wrap="square" lIns="0" tIns="0" rIns="0" bIns="0" rtlCol="0" anchor="ctr"/>
          <a:lstStyle/>
          <a:p>
            <a:pPr indent="0" marL="0">
              <a:lnSpc>
                <a:spcPct val="95000"/>
              </a:lnSpc>
              <a:buNone/>
            </a:pPr>
            <a:r>
              <a:rPr lang="en-US" sz="1050" b="1" dirty="0">
                <a:solidFill>
                  <a:srgbClr val="0B1B3A"/>
                </a:solidFill>
                <a:latin typeface="Calibri" pitchFamily="34" charset="0"/>
                <a:ea typeface="Calibri" pitchFamily="34" charset="-122"/>
                <a:cs typeface="Calibri" pitchFamily="34" charset="-120"/>
              </a:rPr>
              <a:t>Unit: role insights</a:t>
            </a:r>
            <a:endParaRPr lang="en-US" sz="1050" dirty="0"/>
          </a:p>
          <a:p>
            <a:pPr indent="0" marL="0">
              <a:lnSpc>
                <a:spcPct val="95000"/>
              </a:lnSpc>
              <a:buNone/>
            </a:pPr>
            <a:r>
              <a:rPr lang="en-US" sz="900" dirty="0">
                <a:solidFill>
                  <a:srgbClr val="64748B"/>
                </a:solidFill>
                <a:latin typeface="Calibri" pitchFamily="34" charset="0"/>
                <a:ea typeface="Calibri" pitchFamily="34" charset="-122"/>
                <a:cs typeface="Calibri" pitchFamily="34" charset="-120"/>
              </a:rPr>
              <a:t>pytest</a:t>
            </a:r>
            <a:endParaRPr lang="en-US" sz="1050" dirty="0"/>
          </a:p>
        </p:txBody>
      </p:sp>
      <p:sp>
        <p:nvSpPr>
          <p:cNvPr id="32" name="Text 25"/>
          <p:cNvSpPr/>
          <p:nvPr/>
        </p:nvSpPr>
        <p:spPr>
          <a:xfrm>
            <a:off x="10911535" y="3008376"/>
            <a:ext cx="548640" cy="365760"/>
          </a:xfrm>
          <a:prstGeom prst="rect">
            <a:avLst/>
          </a:prstGeom>
          <a:noFill/>
          <a:ln/>
        </p:spPr>
        <p:txBody>
          <a:bodyPr wrap="square" lIns="0" tIns="0" rIns="0" bIns="0" rtlCol="0" anchor="ctr"/>
          <a:lstStyle/>
          <a:p>
            <a:pPr algn="r" indent="0" marL="0">
              <a:buNone/>
            </a:pPr>
            <a:r>
              <a:rPr lang="en-US" sz="1500" b="1" dirty="0">
                <a:solidFill>
                  <a:srgbClr val="2563EB"/>
                </a:solidFill>
                <a:latin typeface="Calibri" pitchFamily="34" charset="0"/>
                <a:ea typeface="Calibri" pitchFamily="34" charset="-122"/>
                <a:cs typeface="Calibri" pitchFamily="34" charset="-120"/>
              </a:rPr>
              <a:t>30</a:t>
            </a:r>
            <a:endParaRPr lang="en-US" sz="1500" dirty="0"/>
          </a:p>
        </p:txBody>
      </p:sp>
      <p:sp>
        <p:nvSpPr>
          <p:cNvPr id="33" name="Shape 26"/>
          <p:cNvSpPr/>
          <p:nvPr/>
        </p:nvSpPr>
        <p:spPr>
          <a:xfrm>
            <a:off x="8595360" y="3383280"/>
            <a:ext cx="2864815" cy="0"/>
          </a:xfrm>
          <a:prstGeom prst="line">
            <a:avLst/>
          </a:prstGeom>
          <a:noFill/>
          <a:ln w="9525">
            <a:solidFill>
              <a:srgbClr val="DCE3EC"/>
            </a:solidFill>
            <a:prstDash val="solid"/>
          </a:ln>
        </p:spPr>
      </p:sp>
      <p:sp>
        <p:nvSpPr>
          <p:cNvPr id="34" name="Text 27"/>
          <p:cNvSpPr/>
          <p:nvPr/>
        </p:nvSpPr>
        <p:spPr>
          <a:xfrm>
            <a:off x="8595360" y="3410712"/>
            <a:ext cx="2316175" cy="365760"/>
          </a:xfrm>
          <a:prstGeom prst="rect">
            <a:avLst/>
          </a:prstGeom>
          <a:noFill/>
          <a:ln/>
        </p:spPr>
        <p:txBody>
          <a:bodyPr wrap="square" lIns="0" tIns="0" rIns="0" bIns="0" rtlCol="0" anchor="ctr"/>
          <a:lstStyle/>
          <a:p>
            <a:pPr indent="0" marL="0">
              <a:lnSpc>
                <a:spcPct val="95000"/>
              </a:lnSpc>
              <a:buNone/>
            </a:pPr>
            <a:r>
              <a:rPr lang="en-US" sz="1050" b="1" dirty="0">
                <a:solidFill>
                  <a:srgbClr val="0B1B3A"/>
                </a:solidFill>
                <a:latin typeface="Calibri" pitchFamily="34" charset="0"/>
                <a:ea typeface="Calibri" pitchFamily="34" charset="-122"/>
                <a:cs typeface="Calibri" pitchFamily="34" charset="-120"/>
              </a:rPr>
              <a:t>Integration: web API</a:t>
            </a:r>
            <a:endParaRPr lang="en-US" sz="1050" dirty="0"/>
          </a:p>
          <a:p>
            <a:pPr indent="0" marL="0">
              <a:lnSpc>
                <a:spcPct val="95000"/>
              </a:lnSpc>
              <a:buNone/>
            </a:pPr>
            <a:r>
              <a:rPr lang="en-US" sz="900" dirty="0">
                <a:solidFill>
                  <a:srgbClr val="64748B"/>
                </a:solidFill>
                <a:latin typeface="Calibri" pitchFamily="34" charset="0"/>
                <a:ea typeface="Calibri" pitchFamily="34" charset="-122"/>
                <a:cs typeface="Calibri" pitchFamily="34" charset="-120"/>
              </a:rPr>
              <a:t>pytest + TestClient</a:t>
            </a:r>
            <a:endParaRPr lang="en-US" sz="1050" dirty="0"/>
          </a:p>
        </p:txBody>
      </p:sp>
      <p:sp>
        <p:nvSpPr>
          <p:cNvPr id="35" name="Text 28"/>
          <p:cNvSpPr/>
          <p:nvPr/>
        </p:nvSpPr>
        <p:spPr>
          <a:xfrm>
            <a:off x="10911535" y="3410712"/>
            <a:ext cx="548640" cy="365760"/>
          </a:xfrm>
          <a:prstGeom prst="rect">
            <a:avLst/>
          </a:prstGeom>
          <a:noFill/>
          <a:ln/>
        </p:spPr>
        <p:txBody>
          <a:bodyPr wrap="square" lIns="0" tIns="0" rIns="0" bIns="0" rtlCol="0" anchor="ctr"/>
          <a:lstStyle/>
          <a:p>
            <a:pPr algn="r" indent="0" marL="0">
              <a:buNone/>
            </a:pPr>
            <a:r>
              <a:rPr lang="en-US" sz="1500" b="1" dirty="0">
                <a:solidFill>
                  <a:srgbClr val="2563EB"/>
                </a:solidFill>
                <a:latin typeface="Calibri" pitchFamily="34" charset="0"/>
                <a:ea typeface="Calibri" pitchFamily="34" charset="-122"/>
                <a:cs typeface="Calibri" pitchFamily="34" charset="-120"/>
              </a:rPr>
              <a:t>41</a:t>
            </a:r>
            <a:endParaRPr lang="en-US" sz="1500" dirty="0"/>
          </a:p>
        </p:txBody>
      </p:sp>
      <p:sp>
        <p:nvSpPr>
          <p:cNvPr id="36" name="Shape 29"/>
          <p:cNvSpPr/>
          <p:nvPr/>
        </p:nvSpPr>
        <p:spPr>
          <a:xfrm>
            <a:off x="8595360" y="3785616"/>
            <a:ext cx="2864815" cy="0"/>
          </a:xfrm>
          <a:prstGeom prst="line">
            <a:avLst/>
          </a:prstGeom>
          <a:noFill/>
          <a:ln w="9525">
            <a:solidFill>
              <a:srgbClr val="DCE3EC"/>
            </a:solidFill>
            <a:prstDash val="solid"/>
          </a:ln>
        </p:spPr>
      </p:sp>
      <p:sp>
        <p:nvSpPr>
          <p:cNvPr id="37" name="Text 30"/>
          <p:cNvSpPr/>
          <p:nvPr/>
        </p:nvSpPr>
        <p:spPr>
          <a:xfrm>
            <a:off x="8595360" y="3813048"/>
            <a:ext cx="2316175" cy="365760"/>
          </a:xfrm>
          <a:prstGeom prst="rect">
            <a:avLst/>
          </a:prstGeom>
          <a:noFill/>
          <a:ln/>
        </p:spPr>
        <p:txBody>
          <a:bodyPr wrap="square" lIns="0" tIns="0" rIns="0" bIns="0" rtlCol="0" anchor="ctr"/>
          <a:lstStyle/>
          <a:p>
            <a:pPr indent="0" marL="0">
              <a:lnSpc>
                <a:spcPct val="95000"/>
              </a:lnSpc>
              <a:buNone/>
            </a:pPr>
            <a:r>
              <a:rPr lang="en-US" sz="1050" b="1" dirty="0">
                <a:solidFill>
                  <a:srgbClr val="0B1B3A"/>
                </a:solidFill>
                <a:latin typeface="Calibri" pitchFamily="34" charset="0"/>
                <a:ea typeface="Calibri" pitchFamily="34" charset="-122"/>
                <a:cs typeface="Calibri" pitchFamily="34" charset="-120"/>
              </a:rPr>
              <a:t>Unit: web app logic</a:t>
            </a:r>
            <a:endParaRPr lang="en-US" sz="1050" dirty="0"/>
          </a:p>
          <a:p>
            <a:pPr indent="0" marL="0">
              <a:lnSpc>
                <a:spcPct val="95000"/>
              </a:lnSpc>
              <a:buNone/>
            </a:pPr>
            <a:r>
              <a:rPr lang="en-US" sz="900" dirty="0">
                <a:solidFill>
                  <a:srgbClr val="64748B"/>
                </a:solidFill>
                <a:latin typeface="Calibri" pitchFamily="34" charset="0"/>
                <a:ea typeface="Calibri" pitchFamily="34" charset="-122"/>
                <a:cs typeface="Calibri" pitchFamily="34" charset="-120"/>
              </a:rPr>
              <a:t>Vitest</a:t>
            </a:r>
            <a:endParaRPr lang="en-US" sz="1050" dirty="0"/>
          </a:p>
        </p:txBody>
      </p:sp>
      <p:sp>
        <p:nvSpPr>
          <p:cNvPr id="38" name="Text 31"/>
          <p:cNvSpPr/>
          <p:nvPr/>
        </p:nvSpPr>
        <p:spPr>
          <a:xfrm>
            <a:off x="10911535" y="3813048"/>
            <a:ext cx="548640" cy="365760"/>
          </a:xfrm>
          <a:prstGeom prst="rect">
            <a:avLst/>
          </a:prstGeom>
          <a:noFill/>
          <a:ln/>
        </p:spPr>
        <p:txBody>
          <a:bodyPr wrap="square" lIns="0" tIns="0" rIns="0" bIns="0" rtlCol="0" anchor="ctr"/>
          <a:lstStyle/>
          <a:p>
            <a:pPr algn="r" indent="0" marL="0">
              <a:buNone/>
            </a:pPr>
            <a:r>
              <a:rPr lang="en-US" sz="1500" b="1" dirty="0">
                <a:solidFill>
                  <a:srgbClr val="2563EB"/>
                </a:solidFill>
                <a:latin typeface="Calibri" pitchFamily="34" charset="0"/>
                <a:ea typeface="Calibri" pitchFamily="34" charset="-122"/>
                <a:cs typeface="Calibri" pitchFamily="34" charset="-120"/>
              </a:rPr>
              <a:t>56</a:t>
            </a:r>
            <a:endParaRPr lang="en-US" sz="1500" dirty="0"/>
          </a:p>
        </p:txBody>
      </p:sp>
      <p:sp>
        <p:nvSpPr>
          <p:cNvPr id="39" name="Shape 32"/>
          <p:cNvSpPr/>
          <p:nvPr/>
        </p:nvSpPr>
        <p:spPr>
          <a:xfrm>
            <a:off x="8595360" y="4187952"/>
            <a:ext cx="2864815" cy="0"/>
          </a:xfrm>
          <a:prstGeom prst="line">
            <a:avLst/>
          </a:prstGeom>
          <a:noFill/>
          <a:ln w="9525">
            <a:solidFill>
              <a:srgbClr val="DCE3EC"/>
            </a:solidFill>
            <a:prstDash val="solid"/>
          </a:ln>
        </p:spPr>
      </p:sp>
      <p:sp>
        <p:nvSpPr>
          <p:cNvPr id="40" name="Text 33"/>
          <p:cNvSpPr/>
          <p:nvPr/>
        </p:nvSpPr>
        <p:spPr>
          <a:xfrm>
            <a:off x="8595360" y="4215384"/>
            <a:ext cx="2316175" cy="365760"/>
          </a:xfrm>
          <a:prstGeom prst="rect">
            <a:avLst/>
          </a:prstGeom>
          <a:noFill/>
          <a:ln/>
        </p:spPr>
        <p:txBody>
          <a:bodyPr wrap="square" lIns="0" tIns="0" rIns="0" bIns="0" rtlCol="0" anchor="ctr"/>
          <a:lstStyle/>
          <a:p>
            <a:pPr indent="0" marL="0">
              <a:lnSpc>
                <a:spcPct val="95000"/>
              </a:lnSpc>
              <a:buNone/>
            </a:pPr>
            <a:r>
              <a:rPr lang="en-US" sz="1050" b="1" dirty="0">
                <a:solidFill>
                  <a:srgbClr val="0B1B3A"/>
                </a:solidFill>
                <a:latin typeface="Calibri" pitchFamily="34" charset="0"/>
                <a:ea typeface="Calibri" pitchFamily="34" charset="-122"/>
                <a:cs typeface="Calibri" pitchFamily="34" charset="-120"/>
              </a:rPr>
              <a:t>System: whole app</a:t>
            </a:r>
            <a:endParaRPr lang="en-US" sz="1050" dirty="0"/>
          </a:p>
          <a:p>
            <a:pPr indent="0" marL="0">
              <a:lnSpc>
                <a:spcPct val="95000"/>
              </a:lnSpc>
              <a:buNone/>
            </a:pPr>
            <a:r>
              <a:rPr lang="en-US" sz="900" dirty="0">
                <a:solidFill>
                  <a:srgbClr val="64748B"/>
                </a:solidFill>
                <a:latin typeface="Calibri" pitchFamily="34" charset="0"/>
                <a:ea typeface="Calibri" pitchFamily="34" charset="-122"/>
                <a:cs typeface="Calibri" pitchFamily="34" charset="-120"/>
              </a:rPr>
              <a:t>Puppeteer, real Chrome</a:t>
            </a:r>
            <a:endParaRPr lang="en-US" sz="1050" dirty="0"/>
          </a:p>
        </p:txBody>
      </p:sp>
      <p:sp>
        <p:nvSpPr>
          <p:cNvPr id="41" name="Text 34"/>
          <p:cNvSpPr/>
          <p:nvPr/>
        </p:nvSpPr>
        <p:spPr>
          <a:xfrm>
            <a:off x="10911535" y="4215384"/>
            <a:ext cx="548640" cy="365760"/>
          </a:xfrm>
          <a:prstGeom prst="rect">
            <a:avLst/>
          </a:prstGeom>
          <a:noFill/>
          <a:ln/>
        </p:spPr>
        <p:txBody>
          <a:bodyPr wrap="square" lIns="0" tIns="0" rIns="0" bIns="0" rtlCol="0" anchor="ctr"/>
          <a:lstStyle/>
          <a:p>
            <a:pPr algn="r" indent="0" marL="0">
              <a:buNone/>
            </a:pPr>
            <a:r>
              <a:rPr lang="en-US" sz="1500" b="1" dirty="0">
                <a:solidFill>
                  <a:srgbClr val="2563EB"/>
                </a:solidFill>
                <a:latin typeface="Calibri" pitchFamily="34" charset="0"/>
                <a:ea typeface="Calibri" pitchFamily="34" charset="-122"/>
                <a:cs typeface="Calibri" pitchFamily="34" charset="-120"/>
              </a:rPr>
              <a:t>15</a:t>
            </a:r>
            <a:endParaRPr lang="en-US" sz="1500" dirty="0"/>
          </a:p>
        </p:txBody>
      </p:sp>
      <p:sp>
        <p:nvSpPr>
          <p:cNvPr id="42" name="Shape 35"/>
          <p:cNvSpPr/>
          <p:nvPr/>
        </p:nvSpPr>
        <p:spPr>
          <a:xfrm>
            <a:off x="8549640" y="4681728"/>
            <a:ext cx="2956255" cy="896112"/>
          </a:xfrm>
          <a:prstGeom prst="roundRect">
            <a:avLst>
              <a:gd name="adj" fmla="val 9184"/>
            </a:avLst>
          </a:prstGeom>
          <a:solidFill>
            <a:srgbClr val="ECFDF5"/>
          </a:solidFill>
          <a:ln w="9525">
            <a:solidFill>
              <a:srgbClr val="B7E9D2"/>
            </a:solidFill>
            <a:prstDash val="solid"/>
          </a:ln>
        </p:spPr>
      </p:sp>
      <p:sp>
        <p:nvSpPr>
          <p:cNvPr id="43" name="Text 36"/>
          <p:cNvSpPr/>
          <p:nvPr/>
        </p:nvSpPr>
        <p:spPr>
          <a:xfrm>
            <a:off x="8668512" y="4727448"/>
            <a:ext cx="2718511" cy="237744"/>
          </a:xfrm>
          <a:prstGeom prst="rect">
            <a:avLst/>
          </a:prstGeom>
          <a:noFill/>
          <a:ln/>
        </p:spPr>
        <p:txBody>
          <a:bodyPr wrap="square" lIns="0" tIns="0" rIns="0" bIns="0" rtlCol="0" anchor="ctr"/>
          <a:lstStyle/>
          <a:p>
            <a:pPr indent="0" marL="0">
              <a:buNone/>
            </a:pPr>
            <a:r>
              <a:rPr lang="en-US" sz="1100" b="1" dirty="0">
                <a:solidFill>
                  <a:srgbClr val="047857"/>
                </a:solidFill>
                <a:latin typeface="Calibri" pitchFamily="34" charset="0"/>
                <a:ea typeface="Calibri" pitchFamily="34" charset="-122"/>
                <a:cs typeface="Calibri" pitchFamily="34" charset="-120"/>
              </a:rPr>
              <a:t>Training–serving parity</a:t>
            </a:r>
            <a:endParaRPr lang="en-US" sz="1100" dirty="0"/>
          </a:p>
        </p:txBody>
      </p:sp>
      <p:sp>
        <p:nvSpPr>
          <p:cNvPr id="44" name="Text 37"/>
          <p:cNvSpPr/>
          <p:nvPr/>
        </p:nvSpPr>
        <p:spPr>
          <a:xfrm>
            <a:off x="8668512" y="4965192"/>
            <a:ext cx="2773375" cy="585216"/>
          </a:xfrm>
          <a:prstGeom prst="rect">
            <a:avLst/>
          </a:prstGeom>
          <a:noFill/>
          <a:ln/>
        </p:spPr>
        <p:txBody>
          <a:bodyPr wrap="square" lIns="0" tIns="0" rIns="0" bIns="0" rtlCol="0" anchor="t"/>
          <a:lstStyle/>
          <a:p>
            <a:pPr indent="0" marL="0">
              <a:lnSpc>
                <a:spcPct val="100000"/>
              </a:lnSpc>
              <a:buNone/>
            </a:pPr>
            <a:r>
              <a:rPr lang="en-US" sz="950" dirty="0">
                <a:solidFill>
                  <a:srgbClr val="334155"/>
                </a:solidFill>
                <a:latin typeface="Calibri" pitchFamily="34" charset="0"/>
                <a:ea typeface="Calibri" pitchFamily="34" charset="-122"/>
                <a:cs typeface="Calibri" pitchFamily="34" charset="-120"/>
              </a:rPr>
              <a:t>Maximum probability difference of exactly 0.0 between the API path and the model (300 rows; repeated over HTTP with 150 held-out respondents).</a:t>
            </a:r>
            <a:endParaRPr lang="en-US" sz="950" dirty="0"/>
          </a:p>
        </p:txBody>
      </p:sp>
      <p:sp>
        <p:nvSpPr>
          <p:cNvPr id="45" name="Text 38"/>
          <p:cNvSpPr/>
          <p:nvPr/>
        </p:nvSpPr>
        <p:spPr>
          <a:xfrm>
            <a:off x="8595360" y="5669280"/>
            <a:ext cx="2901391" cy="566928"/>
          </a:xfrm>
          <a:prstGeom prst="rect">
            <a:avLst/>
          </a:prstGeom>
          <a:noFill/>
          <a:ln/>
        </p:spPr>
        <p:txBody>
          <a:bodyPr wrap="square" lIns="0" tIns="0" rIns="0" bIns="0" rtlCol="0" anchor="t"/>
          <a:lstStyle/>
          <a:p>
            <a:pPr marL="139700" indent="-139700">
              <a:spcAft>
                <a:spcPts val="200"/>
              </a:spcAft>
              <a:buSzPct val="100000"/>
              <a:buChar char="•"/>
            </a:pPr>
            <a:r>
              <a:rPr lang="en-US" sz="950" dirty="0">
                <a:solidFill>
                  <a:srgbClr val="334155"/>
                </a:solidFill>
                <a:latin typeface="Calibri" pitchFamily="34" charset="0"/>
                <a:ea typeface="Calibri" pitchFamily="34" charset="-122"/>
                <a:cs typeface="Calibri" pitchFamily="34" charset="-120"/>
              </a:rPr>
              <a:t>End-to-end browser test: 15 scenarios, including phone layout and dark mode</a:t>
            </a:r>
            <a:endParaRPr lang="en-US" sz="950" dirty="0"/>
          </a:p>
          <a:p>
            <a:pPr marL="139700" indent="-139700">
              <a:spcAft>
                <a:spcPts val="200"/>
              </a:spcAft>
              <a:buSzPct val="100000"/>
              <a:buChar char="•"/>
            </a:pPr>
            <a:r>
              <a:rPr lang="en-US" sz="950" dirty="0">
                <a:solidFill>
                  <a:srgbClr val="334155"/>
                </a:solidFill>
                <a:latin typeface="Calibri" pitchFamily="34" charset="0"/>
                <a:ea typeface="Calibri" pitchFamily="34" charset="-122"/>
                <a:cs typeface="Calibri" pitchFamily="34" charset="-120"/>
              </a:rPr>
              <a:t>Median 15.4 ms per prediction</a:t>
            </a:r>
            <a:endParaRPr lang="en-US" sz="950" dirty="0"/>
          </a:p>
        </p:txBody>
      </p:sp>
      <p:sp>
        <p:nvSpPr>
          <p:cNvPr id="25" name="Slide Number Placeholder 0"/>
          <p:cNvSpPr>
            <a:spLocks noGrp="1"/>
          </p:cNvSpPr>
          <p:nvPr>
            <p:ph type="sldNum" sz="quarter" idx="4294967295"/>
          </p:nvPr>
        </p:nvSpPr>
        <p:spPr>
          <a:xfrm>
            <a:off x="11094415" y="6464808"/>
            <a:ext cx="5486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64748B"/>
                </a:solidFill>
                <a:latin typeface="Calibri"/>
                <a:ea typeface="Calibri"/>
                <a:cs typeface="Calibri"/>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57200"/>
            <a:ext cx="64008" cy="713232"/>
          </a:xfrm>
          <a:prstGeom prst="rect">
            <a:avLst/>
          </a:prstGeom>
          <a:solidFill>
            <a:srgbClr val="2563EB"/>
          </a:solidFill>
          <a:ln/>
        </p:spPr>
      </p:sp>
      <p:sp>
        <p:nvSpPr>
          <p:cNvPr id="3" name="Text 1"/>
          <p:cNvSpPr/>
          <p:nvPr/>
        </p:nvSpPr>
        <p:spPr>
          <a:xfrm>
            <a:off x="749808" y="429768"/>
            <a:ext cx="7315200" cy="256032"/>
          </a:xfrm>
          <a:prstGeom prst="rect">
            <a:avLst/>
          </a:prstGeom>
          <a:noFill/>
          <a:ln/>
        </p:spPr>
        <p:txBody>
          <a:bodyPr wrap="square" lIns="0" tIns="0" rIns="0" bIns="0" rtlCol="0" anchor="t"/>
          <a:lstStyle/>
          <a:p>
            <a:pPr indent="0" marL="0">
              <a:buNone/>
            </a:pPr>
            <a:r>
              <a:rPr lang="en-US" sz="1100" b="1" spc="200" kern="0" dirty="0">
                <a:solidFill>
                  <a:srgbClr val="2563EB"/>
                </a:solidFill>
                <a:latin typeface="Calibri" pitchFamily="34" charset="0"/>
                <a:ea typeface="Calibri" pitchFamily="34" charset="-122"/>
                <a:cs typeface="Calibri" pitchFamily="34" charset="-120"/>
              </a:rPr>
              <a:t>SYSTEM, TESTING &amp; CONCLUSION</a:t>
            </a:r>
            <a:endParaRPr lang="en-US" sz="1100" dirty="0"/>
          </a:p>
        </p:txBody>
      </p:sp>
      <p:sp>
        <p:nvSpPr>
          <p:cNvPr id="4" name="Text 2"/>
          <p:cNvSpPr/>
          <p:nvPr/>
        </p:nvSpPr>
        <p:spPr>
          <a:xfrm>
            <a:off x="749808" y="676656"/>
            <a:ext cx="8229600" cy="512064"/>
          </a:xfrm>
          <a:prstGeom prst="rect">
            <a:avLst/>
          </a:prstGeom>
          <a:noFill/>
          <a:ln/>
        </p:spPr>
        <p:txBody>
          <a:bodyPr wrap="square" lIns="0" tIns="0" rIns="0" bIns="0" rtlCol="0" anchor="ctr"/>
          <a:lstStyle/>
          <a:p>
            <a:pPr indent="0" marL="0">
              <a:buNone/>
            </a:pPr>
            <a:r>
              <a:rPr lang="en-US" sz="2800" b="1" dirty="0">
                <a:solidFill>
                  <a:srgbClr val="0B1B3A"/>
                </a:solidFill>
                <a:latin typeface="Calibri" pitchFamily="34" charset="0"/>
                <a:ea typeface="Calibri" pitchFamily="34" charset="-122"/>
                <a:cs typeface="Calibri" pitchFamily="34" charset="-120"/>
              </a:rPr>
              <a:t>Limitations, Future Work and Conclusion</a:t>
            </a:r>
            <a:endParaRPr lang="en-US" sz="2800" dirty="0"/>
          </a:p>
        </p:txBody>
      </p:sp>
      <p:sp>
        <p:nvSpPr>
          <p:cNvPr id="5" name="Text 3"/>
          <p:cNvSpPr/>
          <p:nvPr/>
        </p:nvSpPr>
        <p:spPr>
          <a:xfrm>
            <a:off x="8945575" y="548640"/>
            <a:ext cx="2697480" cy="365760"/>
          </a:xfrm>
          <a:prstGeom prst="roundRect">
            <a:avLst>
              <a:gd name="adj" fmla="val 50000"/>
            </a:avLst>
          </a:prstGeom>
          <a:solidFill>
            <a:srgbClr val="EFF5FF"/>
          </a:solidFill>
          <a:ln w="9525">
            <a:solidFill>
              <a:srgbClr val="D2E2FD"/>
            </a:solid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Member 4</a:t>
            </a:r>
            <a:pPr algn="ctr" indent="0" marL="0">
              <a:buNone/>
            </a:pPr>
            <a:r>
              <a:rPr lang="en-US" sz="1100" b="1" dirty="0">
                <a:solidFill>
                  <a:srgbClr val="334155"/>
                </a:solidFill>
                <a:latin typeface="Calibri" pitchFamily="34" charset="0"/>
                <a:ea typeface="Calibri" pitchFamily="34" charset="-122"/>
                <a:cs typeface="Calibri" pitchFamily="34" charset="-120"/>
              </a:rPr>
              <a:t>   K M H S Bandara</a:t>
            </a:r>
            <a:endParaRPr lang="en-US" sz="1100" dirty="0"/>
          </a:p>
        </p:txBody>
      </p:sp>
      <p:sp>
        <p:nvSpPr>
          <p:cNvPr id="7" name="Shape 4"/>
          <p:cNvSpPr/>
          <p:nvPr/>
        </p:nvSpPr>
        <p:spPr>
          <a:xfrm>
            <a:off x="548640" y="1389888"/>
            <a:ext cx="2444496" cy="3127248"/>
          </a:xfrm>
          <a:prstGeom prst="roundRect">
            <a:avLst>
              <a:gd name="adj" fmla="val 3367"/>
            </a:avLst>
          </a:prstGeom>
          <a:solidFill>
            <a:srgbClr val="EFF5FF"/>
          </a:solidFill>
          <a:ln w="9525">
            <a:solidFill>
              <a:srgbClr val="D2E2FD"/>
            </a:solidFill>
            <a:prstDash val="solid"/>
          </a:ln>
        </p:spPr>
      </p:sp>
      <p:sp>
        <p:nvSpPr>
          <p:cNvPr id="8" name="Text 5"/>
          <p:cNvSpPr/>
          <p:nvPr/>
        </p:nvSpPr>
        <p:spPr>
          <a:xfrm>
            <a:off x="731520" y="1481328"/>
            <a:ext cx="2078736" cy="310896"/>
          </a:xfrm>
          <a:prstGeom prst="rect">
            <a:avLst/>
          </a:prstGeom>
          <a:noFill/>
          <a:ln/>
        </p:spPr>
        <p:txBody>
          <a:bodyPr wrap="square" lIns="0" tIns="0" rIns="0" bIns="0" rtlCol="0" anchor="ctr"/>
          <a:lstStyle/>
          <a:p>
            <a:pPr indent="0" marL="0">
              <a:buNone/>
            </a:pPr>
            <a:r>
              <a:rPr lang="en-US" sz="1500" b="1" dirty="0">
                <a:solidFill>
                  <a:srgbClr val="2563EB"/>
                </a:solidFill>
                <a:latin typeface="Calibri" pitchFamily="34" charset="0"/>
                <a:ea typeface="Calibri" pitchFamily="34" charset="-122"/>
                <a:cs typeface="Calibri" pitchFamily="34" charset="-120"/>
              </a:rPr>
              <a:t>Key achievements</a:t>
            </a:r>
            <a:endParaRPr lang="en-US" sz="1500" dirty="0"/>
          </a:p>
        </p:txBody>
      </p:sp>
      <p:sp>
        <p:nvSpPr>
          <p:cNvPr id="9" name="Shape 6"/>
          <p:cNvSpPr/>
          <p:nvPr/>
        </p:nvSpPr>
        <p:spPr>
          <a:xfrm>
            <a:off x="731520" y="1828800"/>
            <a:ext cx="457200" cy="32004"/>
          </a:xfrm>
          <a:prstGeom prst="rect">
            <a:avLst/>
          </a:prstGeom>
          <a:solidFill>
            <a:srgbClr val="2563EB"/>
          </a:solidFill>
          <a:ln/>
        </p:spPr>
      </p:sp>
      <p:sp>
        <p:nvSpPr>
          <p:cNvPr id="10" name="Text 7"/>
          <p:cNvSpPr/>
          <p:nvPr/>
        </p:nvSpPr>
        <p:spPr>
          <a:xfrm>
            <a:off x="731520" y="1975104"/>
            <a:ext cx="2115312" cy="2487168"/>
          </a:xfrm>
          <a:prstGeom prst="rect">
            <a:avLst/>
          </a:prstGeom>
          <a:noFill/>
          <a:ln/>
        </p:spPr>
        <p:txBody>
          <a:bodyPr wrap="square" lIns="0" tIns="0" rIns="0" bIns="0" rtlCol="0" anchor="t"/>
          <a:lstStyle/>
          <a:p>
            <a:pPr marL="139700" indent="-139700">
              <a:spcAft>
                <a:spcPts val="900"/>
              </a:spcAft>
              <a:buSzPct val="100000"/>
              <a:buChar char="•"/>
            </a:pPr>
            <a:r>
              <a:rPr lang="en-US" sz="1200" dirty="0">
                <a:solidFill>
                  <a:srgbClr val="334155"/>
                </a:solidFill>
                <a:latin typeface="Calibri" pitchFamily="34" charset="0"/>
                <a:ea typeface="Calibri" pitchFamily="34" charset="-122"/>
                <a:cs typeface="Calibri" pitchFamily="34" charset="-120"/>
              </a:rPr>
              <a:t>Leakage-free pipeline: 49,123 responses to 479 features</a:t>
            </a:r>
            <a:endParaRPr lang="en-US" sz="1200" dirty="0"/>
          </a:p>
          <a:p>
            <a:pPr marL="139700" indent="-139700">
              <a:spcAft>
                <a:spcPts val="900"/>
              </a:spcAft>
              <a:buSzPct val="100000"/>
              <a:buChar char="•"/>
            </a:pPr>
            <a:r>
              <a:rPr lang="en-US" sz="1200" dirty="0">
                <a:solidFill>
                  <a:srgbClr val="334155"/>
                </a:solidFill>
                <a:latin typeface="Calibri" pitchFamily="34" charset="0"/>
                <a:ea typeface="Calibri" pitchFamily="34" charset="-122"/>
                <a:cs typeface="Calibri" pitchFamily="34" charset="-120"/>
              </a:rPr>
              <a:t>Systematic comparison; tuning changed the winner to Logistic Regression</a:t>
            </a:r>
            <a:endParaRPr lang="en-US" sz="1200" dirty="0"/>
          </a:p>
          <a:p>
            <a:pPr marL="139700" indent="-139700">
              <a:spcAft>
                <a:spcPts val="900"/>
              </a:spcAft>
              <a:buSzPct val="100000"/>
              <a:buChar char="•"/>
            </a:pPr>
            <a:r>
              <a:rPr lang="en-US" sz="1200" dirty="0">
                <a:solidFill>
                  <a:srgbClr val="334155"/>
                </a:solidFill>
                <a:latin typeface="Calibri" pitchFamily="34" charset="0"/>
                <a:ea typeface="Calibri" pitchFamily="34" charset="-122"/>
                <a:cs typeface="Calibri" pitchFamily="34" charset="-120"/>
              </a:rPr>
              <a:t>83.9% top-3 role and 87.8% top-3 family accuracy on held-out data</a:t>
            </a:r>
            <a:endParaRPr lang="en-US" sz="1200" dirty="0"/>
          </a:p>
          <a:p>
            <a:pPr marL="139700" indent="-139700">
              <a:spcAft>
                <a:spcPts val="900"/>
              </a:spcAft>
              <a:buSzPct val="100000"/>
              <a:buChar char="•"/>
            </a:pPr>
            <a:r>
              <a:rPr lang="en-US" sz="1200" dirty="0">
                <a:solidFill>
                  <a:srgbClr val="334155"/>
                </a:solidFill>
                <a:latin typeface="Calibri" pitchFamily="34" charset="0"/>
                <a:ea typeface="Calibri" pitchFamily="34" charset="-122"/>
                <a:cs typeface="Calibri" pitchFamily="34" charset="-120"/>
              </a:rPr>
              <a:t>Web API and web app, verified by 178 automated tests</a:t>
            </a:r>
            <a:endParaRPr lang="en-US" sz="1200" dirty="0"/>
          </a:p>
        </p:txBody>
      </p:sp>
      <p:sp>
        <p:nvSpPr>
          <p:cNvPr id="11" name="Shape 8"/>
          <p:cNvSpPr/>
          <p:nvPr/>
        </p:nvSpPr>
        <p:spPr>
          <a:xfrm>
            <a:off x="3121152" y="1389888"/>
            <a:ext cx="2444496" cy="3127248"/>
          </a:xfrm>
          <a:prstGeom prst="roundRect">
            <a:avLst>
              <a:gd name="adj" fmla="val 3367"/>
            </a:avLst>
          </a:prstGeom>
          <a:solidFill>
            <a:srgbClr val="FFF4EC"/>
          </a:solidFill>
          <a:ln w="9525">
            <a:solidFill>
              <a:srgbClr val="FBD5B8"/>
            </a:solidFill>
            <a:prstDash val="solid"/>
          </a:ln>
        </p:spPr>
      </p:sp>
      <p:sp>
        <p:nvSpPr>
          <p:cNvPr id="12" name="Text 9"/>
          <p:cNvSpPr/>
          <p:nvPr/>
        </p:nvSpPr>
        <p:spPr>
          <a:xfrm>
            <a:off x="3304032" y="1481328"/>
            <a:ext cx="2078736" cy="310896"/>
          </a:xfrm>
          <a:prstGeom prst="rect">
            <a:avLst/>
          </a:prstGeom>
          <a:noFill/>
          <a:ln/>
        </p:spPr>
        <p:txBody>
          <a:bodyPr wrap="square" lIns="0" tIns="0" rIns="0" bIns="0" rtlCol="0" anchor="ctr"/>
          <a:lstStyle/>
          <a:p>
            <a:pPr indent="0" marL="0">
              <a:buNone/>
            </a:pPr>
            <a:r>
              <a:rPr lang="en-US" sz="1500" b="1" dirty="0">
                <a:solidFill>
                  <a:srgbClr val="C2410C"/>
                </a:solidFill>
                <a:latin typeface="Calibri" pitchFamily="34" charset="0"/>
                <a:ea typeface="Calibri" pitchFamily="34" charset="-122"/>
                <a:cs typeface="Calibri" pitchFamily="34" charset="-120"/>
              </a:rPr>
              <a:t>Limitations</a:t>
            </a:r>
            <a:endParaRPr lang="en-US" sz="1500" dirty="0"/>
          </a:p>
        </p:txBody>
      </p:sp>
      <p:sp>
        <p:nvSpPr>
          <p:cNvPr id="13" name="Shape 10"/>
          <p:cNvSpPr/>
          <p:nvPr/>
        </p:nvSpPr>
        <p:spPr>
          <a:xfrm>
            <a:off x="3304032" y="1828800"/>
            <a:ext cx="457200" cy="32004"/>
          </a:xfrm>
          <a:prstGeom prst="rect">
            <a:avLst/>
          </a:prstGeom>
          <a:solidFill>
            <a:srgbClr val="C2410C"/>
          </a:solidFill>
          <a:ln/>
        </p:spPr>
      </p:sp>
      <p:sp>
        <p:nvSpPr>
          <p:cNvPr id="14" name="Text 11"/>
          <p:cNvSpPr/>
          <p:nvPr/>
        </p:nvSpPr>
        <p:spPr>
          <a:xfrm>
            <a:off x="3304032" y="1975104"/>
            <a:ext cx="2115312" cy="2487168"/>
          </a:xfrm>
          <a:prstGeom prst="rect">
            <a:avLst/>
          </a:prstGeom>
          <a:noFill/>
          <a:ln/>
        </p:spPr>
        <p:txBody>
          <a:bodyPr wrap="square" lIns="0" tIns="0" rIns="0" bIns="0" rtlCol="0" anchor="t"/>
          <a:lstStyle/>
          <a:p>
            <a:pPr marL="139700" indent="-139700">
              <a:spcAft>
                <a:spcPts val="900"/>
              </a:spcAft>
              <a:buSzPct val="100000"/>
              <a:buChar char="•"/>
            </a:pPr>
            <a:r>
              <a:rPr lang="en-US" sz="1200" dirty="0">
                <a:solidFill>
                  <a:srgbClr val="334155"/>
                </a:solidFill>
                <a:latin typeface="Calibri" pitchFamily="34" charset="0"/>
                <a:ea typeface="Calibri" pitchFamily="34" charset="-122"/>
                <a:cs typeface="Calibri" pitchFamily="34" charset="-120"/>
              </a:rPr>
              <a:t>Survey respondents are not a random sample of developers</a:t>
            </a:r>
            <a:endParaRPr lang="en-US" sz="1200" dirty="0"/>
          </a:p>
          <a:p>
            <a:pPr marL="139700" indent="-139700">
              <a:spcAft>
                <a:spcPts val="900"/>
              </a:spcAft>
              <a:buSzPct val="100000"/>
              <a:buChar char="•"/>
            </a:pPr>
            <a:r>
              <a:rPr lang="en-US" sz="1200" dirty="0">
                <a:solidFill>
                  <a:srgbClr val="334155"/>
                </a:solidFill>
                <a:latin typeface="Calibri" pitchFamily="34" charset="0"/>
                <a:ea typeface="Calibri" pitchFamily="34" charset="-122"/>
                <a:cs typeface="Calibri" pitchFamily="34" charset="-120"/>
              </a:rPr>
              <a:t>Job roles and skills are self-reported</a:t>
            </a:r>
            <a:endParaRPr lang="en-US" sz="1200" dirty="0"/>
          </a:p>
          <a:p>
            <a:pPr marL="139700" indent="-139700">
              <a:spcAft>
                <a:spcPts val="900"/>
              </a:spcAft>
              <a:buSzPct val="100000"/>
              <a:buChar char="•"/>
            </a:pPr>
            <a:r>
              <a:rPr lang="en-US" sz="1200" dirty="0">
                <a:solidFill>
                  <a:srgbClr val="334155"/>
                </a:solidFill>
                <a:latin typeface="Calibri" pitchFamily="34" charset="0"/>
                <a:ea typeface="Calibri" pitchFamily="34" charset="-122"/>
                <a:cs typeface="Calibri" pitchFamily="34" charset="-120"/>
              </a:rPr>
              <a:t>Weak on rare roles; two are never predicted first</a:t>
            </a:r>
            <a:endParaRPr lang="en-US" sz="1200" dirty="0"/>
          </a:p>
          <a:p>
            <a:pPr marL="139700" indent="-139700">
              <a:spcAft>
                <a:spcPts val="900"/>
              </a:spcAft>
              <a:buSzPct val="100000"/>
              <a:buChar char="•"/>
            </a:pPr>
            <a:r>
              <a:rPr lang="en-US" sz="1200" dirty="0">
                <a:solidFill>
                  <a:srgbClr val="334155"/>
                </a:solidFill>
                <a:latin typeface="Calibri" pitchFamily="34" charset="0"/>
                <a:ea typeface="Calibri" pitchFamily="34" charset="-122"/>
                <a:cs typeface="Calibri" pitchFamily="34" charset="-120"/>
              </a:rPr>
              <a:t>A 2025 snapshot; worldwide salary benchmarks may not match local pay</a:t>
            </a:r>
            <a:endParaRPr lang="en-US" sz="1200" dirty="0"/>
          </a:p>
        </p:txBody>
      </p:sp>
      <p:sp>
        <p:nvSpPr>
          <p:cNvPr id="15" name="Shape 12"/>
          <p:cNvSpPr/>
          <p:nvPr/>
        </p:nvSpPr>
        <p:spPr>
          <a:xfrm>
            <a:off x="5693664" y="1389888"/>
            <a:ext cx="2444496" cy="3127248"/>
          </a:xfrm>
          <a:prstGeom prst="roundRect">
            <a:avLst>
              <a:gd name="adj" fmla="val 3367"/>
            </a:avLst>
          </a:prstGeom>
          <a:solidFill>
            <a:srgbClr val="F6F8FB"/>
          </a:solidFill>
          <a:ln w="9525">
            <a:solidFill>
              <a:srgbClr val="DCE3EC"/>
            </a:solidFill>
            <a:prstDash val="solid"/>
          </a:ln>
        </p:spPr>
      </p:sp>
      <p:sp>
        <p:nvSpPr>
          <p:cNvPr id="16" name="Text 13"/>
          <p:cNvSpPr/>
          <p:nvPr/>
        </p:nvSpPr>
        <p:spPr>
          <a:xfrm>
            <a:off x="5876544" y="1481328"/>
            <a:ext cx="2078736" cy="310896"/>
          </a:xfrm>
          <a:prstGeom prst="rect">
            <a:avLst/>
          </a:prstGeom>
          <a:noFill/>
          <a:ln/>
        </p:spPr>
        <p:txBody>
          <a:bodyPr wrap="square" lIns="0" tIns="0" rIns="0" bIns="0" rtlCol="0" anchor="ctr"/>
          <a:lstStyle/>
          <a:p>
            <a:pPr indent="0" marL="0">
              <a:buNone/>
            </a:pPr>
            <a:r>
              <a:rPr lang="en-US" sz="1500" b="1" dirty="0">
                <a:solidFill>
                  <a:srgbClr val="0B1B3A"/>
                </a:solidFill>
                <a:latin typeface="Calibri" pitchFamily="34" charset="0"/>
                <a:ea typeface="Calibri" pitchFamily="34" charset="-122"/>
                <a:cs typeface="Calibri" pitchFamily="34" charset="-120"/>
              </a:rPr>
              <a:t>Future work</a:t>
            </a:r>
            <a:endParaRPr lang="en-US" sz="1500" dirty="0"/>
          </a:p>
        </p:txBody>
      </p:sp>
      <p:sp>
        <p:nvSpPr>
          <p:cNvPr id="17" name="Shape 14"/>
          <p:cNvSpPr/>
          <p:nvPr/>
        </p:nvSpPr>
        <p:spPr>
          <a:xfrm>
            <a:off x="5876544" y="1828800"/>
            <a:ext cx="457200" cy="32004"/>
          </a:xfrm>
          <a:prstGeom prst="rect">
            <a:avLst/>
          </a:prstGeom>
          <a:solidFill>
            <a:srgbClr val="0B1B3A"/>
          </a:solidFill>
          <a:ln/>
        </p:spPr>
      </p:sp>
      <p:sp>
        <p:nvSpPr>
          <p:cNvPr id="18" name="Text 15"/>
          <p:cNvSpPr/>
          <p:nvPr/>
        </p:nvSpPr>
        <p:spPr>
          <a:xfrm>
            <a:off x="5876544" y="1975104"/>
            <a:ext cx="2115312" cy="2487168"/>
          </a:xfrm>
          <a:prstGeom prst="rect">
            <a:avLst/>
          </a:prstGeom>
          <a:noFill/>
          <a:ln/>
        </p:spPr>
        <p:txBody>
          <a:bodyPr wrap="square" lIns="0" tIns="0" rIns="0" bIns="0" rtlCol="0" anchor="t"/>
          <a:lstStyle/>
          <a:p>
            <a:pPr marL="139700" indent="-1397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Retrain annually on each new survey</a:t>
            </a:r>
            <a:endParaRPr lang="en-US" sz="1200" dirty="0"/>
          </a:p>
          <a:p>
            <a:pPr marL="139700" indent="-1397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Better support for rare roles (more data, hierarchical models)</a:t>
            </a:r>
            <a:endParaRPr lang="en-US" sz="1200" dirty="0"/>
          </a:p>
          <a:p>
            <a:pPr marL="139700" indent="-1397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Personalised explanations from model coefficients</a:t>
            </a:r>
            <a:endParaRPr lang="en-US" sz="1200" dirty="0"/>
          </a:p>
          <a:p>
            <a:pPr marL="139700" indent="-1397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Learning resources and local-currency salaries</a:t>
            </a:r>
            <a:endParaRPr lang="en-US" sz="1200" dirty="0"/>
          </a:p>
          <a:p>
            <a:pPr marL="139700" indent="-139700">
              <a:spcAft>
                <a:spcPts val="500"/>
              </a:spcAft>
              <a:buSzPct val="100000"/>
              <a:buChar char="•"/>
            </a:pPr>
            <a:r>
              <a:rPr lang="en-US" sz="1200" dirty="0">
                <a:solidFill>
                  <a:srgbClr val="334155"/>
                </a:solidFill>
                <a:latin typeface="Calibri" pitchFamily="34" charset="0"/>
                <a:ea typeface="Calibri" pitchFamily="34" charset="-122"/>
                <a:cs typeface="Calibri" pitchFamily="34" charset="-120"/>
              </a:rPr>
              <a:t>Usability and accessibility testing with students</a:t>
            </a:r>
            <a:endParaRPr lang="en-US" sz="1200" dirty="0"/>
          </a:p>
        </p:txBody>
      </p:sp>
      <p:sp>
        <p:nvSpPr>
          <p:cNvPr id="19" name="Shape 16"/>
          <p:cNvSpPr/>
          <p:nvPr/>
        </p:nvSpPr>
        <p:spPr>
          <a:xfrm>
            <a:off x="548640" y="4663440"/>
            <a:ext cx="7589520" cy="1591056"/>
          </a:xfrm>
          <a:prstGeom prst="roundRect">
            <a:avLst>
              <a:gd name="adj" fmla="val 5172"/>
            </a:avLst>
          </a:prstGeom>
          <a:solidFill>
            <a:srgbClr val="FFFFFF"/>
          </a:solidFill>
          <a:ln w="9525">
            <a:solidFill>
              <a:srgbClr val="DCE3EC"/>
            </a:solidFill>
            <a:prstDash val="solid"/>
          </a:ln>
          <a:effectLst>
            <a:outerShdw sx="100000" sy="100000" kx="0" ky="0" algn="bl" rotWithShape="0" blurRad="114300" dist="25400" dir="5400000">
              <a:srgbClr val="0F172A">
                <a:alpha val="10000"/>
              </a:srgbClr>
            </a:outerShdw>
          </a:effectLst>
        </p:spPr>
      </p:sp>
      <p:sp>
        <p:nvSpPr>
          <p:cNvPr id="20" name="Shape 17"/>
          <p:cNvSpPr/>
          <p:nvPr/>
        </p:nvSpPr>
        <p:spPr>
          <a:xfrm>
            <a:off x="548640" y="4791456"/>
            <a:ext cx="64008" cy="1335024"/>
          </a:xfrm>
          <a:prstGeom prst="rect">
            <a:avLst/>
          </a:prstGeom>
          <a:solidFill>
            <a:srgbClr val="2563EB"/>
          </a:solidFill>
          <a:ln/>
        </p:spPr>
      </p:sp>
      <p:sp>
        <p:nvSpPr>
          <p:cNvPr id="21" name="Text 18"/>
          <p:cNvSpPr/>
          <p:nvPr/>
        </p:nvSpPr>
        <p:spPr>
          <a:xfrm>
            <a:off x="804672" y="4754880"/>
            <a:ext cx="3657600" cy="237744"/>
          </a:xfrm>
          <a:prstGeom prst="rect">
            <a:avLst/>
          </a:prstGeom>
          <a:noFill/>
          <a:ln/>
        </p:spPr>
        <p:txBody>
          <a:bodyPr wrap="square" lIns="0" tIns="0" rIns="0" bIns="0" rtlCol="0" anchor="ctr"/>
          <a:lstStyle/>
          <a:p>
            <a:pPr indent="0" marL="0">
              <a:buNone/>
            </a:pPr>
            <a:r>
              <a:rPr lang="en-US" sz="1050" b="1" spc="200" kern="0" dirty="0">
                <a:solidFill>
                  <a:srgbClr val="2563EB"/>
                </a:solidFill>
                <a:latin typeface="Calibri" pitchFamily="34" charset="0"/>
                <a:ea typeface="Calibri" pitchFamily="34" charset="-122"/>
                <a:cs typeface="Calibri" pitchFamily="34" charset="-120"/>
              </a:rPr>
              <a:t>CONCLUSION</a:t>
            </a:r>
            <a:endParaRPr lang="en-US" sz="1050" dirty="0"/>
          </a:p>
        </p:txBody>
      </p:sp>
      <p:sp>
        <p:nvSpPr>
          <p:cNvPr id="22" name="Text 19"/>
          <p:cNvSpPr/>
          <p:nvPr/>
        </p:nvSpPr>
        <p:spPr>
          <a:xfrm>
            <a:off x="804672" y="5047488"/>
            <a:ext cx="7132320" cy="1133856"/>
          </a:xfrm>
          <a:prstGeom prst="rect">
            <a:avLst/>
          </a:prstGeom>
          <a:noFill/>
          <a:ln/>
        </p:spPr>
        <p:txBody>
          <a:bodyPr wrap="square" lIns="0" tIns="0" rIns="0" bIns="0" rtlCol="0" anchor="t"/>
          <a:lstStyle/>
          <a:p>
            <a:pPr indent="0" marL="0">
              <a:lnSpc>
                <a:spcPct val="110000"/>
              </a:lnSpc>
              <a:buNone/>
            </a:pPr>
            <a:r>
              <a:rPr lang="en-US" sz="1500" dirty="0">
                <a:solidFill>
                  <a:srgbClr val="0B1B3A"/>
                </a:solidFill>
                <a:latin typeface="Calibri" pitchFamily="34" charset="0"/>
                <a:ea typeface="Calibri" pitchFamily="34" charset="-122"/>
                <a:cs typeface="Calibri" pitchFamily="34" charset="-120"/>
              </a:rPr>
              <a:t>SkillPath applies the full data mining process, from data understanding to a tested deployment, to turn a developer’s skills and AI usage into three explained, evidence-backed role recommendations, with an honest evaluation and transparent limits.</a:t>
            </a:r>
            <a:endParaRPr lang="en-US" sz="1500" dirty="0"/>
          </a:p>
        </p:txBody>
      </p:sp>
      <p:sp>
        <p:nvSpPr>
          <p:cNvPr id="23" name="Shape 20"/>
          <p:cNvSpPr/>
          <p:nvPr/>
        </p:nvSpPr>
        <p:spPr>
          <a:xfrm>
            <a:off x="8339328" y="1389888"/>
            <a:ext cx="3303727" cy="4864608"/>
          </a:xfrm>
          <a:prstGeom prst="roundRect">
            <a:avLst>
              <a:gd name="adj" fmla="val 2768"/>
            </a:avLst>
          </a:prstGeom>
          <a:solidFill>
            <a:srgbClr val="0B1B3A"/>
          </a:solidFill>
          <a:ln/>
        </p:spPr>
      </p:sp>
      <p:sp>
        <p:nvSpPr>
          <p:cNvPr id="24" name="Text 21"/>
          <p:cNvSpPr/>
          <p:nvPr/>
        </p:nvSpPr>
        <p:spPr>
          <a:xfrm>
            <a:off x="8613648" y="1737360"/>
            <a:ext cx="2755087" cy="68580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Thank You</a:t>
            </a:r>
            <a:endParaRPr lang="en-US" sz="3800" dirty="0"/>
          </a:p>
        </p:txBody>
      </p:sp>
      <p:sp>
        <p:nvSpPr>
          <p:cNvPr id="25" name="Text 22"/>
          <p:cNvSpPr/>
          <p:nvPr/>
        </p:nvSpPr>
        <p:spPr>
          <a:xfrm>
            <a:off x="8613648" y="2450592"/>
            <a:ext cx="2755087" cy="457200"/>
          </a:xfrm>
          <a:prstGeom prst="rect">
            <a:avLst/>
          </a:prstGeom>
          <a:noFill/>
          <a:ln/>
        </p:spPr>
        <p:txBody>
          <a:bodyPr wrap="square" lIns="0" tIns="0" rIns="0" bIns="0" rtlCol="0" anchor="ctr"/>
          <a:lstStyle/>
          <a:p>
            <a:pPr indent="0" marL="0">
              <a:buNone/>
            </a:pPr>
            <a:r>
              <a:rPr lang="en-US" sz="2400" b="1" dirty="0">
                <a:solidFill>
                  <a:srgbClr val="9DC1FF"/>
                </a:solidFill>
                <a:latin typeface="Calibri" pitchFamily="34" charset="0"/>
                <a:ea typeface="Calibri" pitchFamily="34" charset="-122"/>
                <a:cs typeface="Calibri" pitchFamily="34" charset="-120"/>
              </a:rPr>
              <a:t>Questions?</a:t>
            </a:r>
            <a:endParaRPr lang="en-US" sz="2400" dirty="0"/>
          </a:p>
        </p:txBody>
      </p:sp>
      <p:sp>
        <p:nvSpPr>
          <p:cNvPr id="26" name="Shape 23"/>
          <p:cNvSpPr/>
          <p:nvPr/>
        </p:nvSpPr>
        <p:spPr>
          <a:xfrm>
            <a:off x="8613648" y="3108960"/>
            <a:ext cx="548640" cy="36576"/>
          </a:xfrm>
          <a:prstGeom prst="rect">
            <a:avLst/>
          </a:prstGeom>
          <a:solidFill>
            <a:srgbClr val="2563EB"/>
          </a:solidFill>
          <a:ln/>
        </p:spPr>
      </p:sp>
      <p:sp>
        <p:nvSpPr>
          <p:cNvPr id="27" name="Text 24"/>
          <p:cNvSpPr/>
          <p:nvPr/>
        </p:nvSpPr>
        <p:spPr>
          <a:xfrm>
            <a:off x="8613648" y="3310128"/>
            <a:ext cx="2755087" cy="237744"/>
          </a:xfrm>
          <a:prstGeom prst="rect">
            <a:avLst/>
          </a:prstGeom>
          <a:noFill/>
          <a:ln/>
        </p:spPr>
        <p:txBody>
          <a:bodyPr wrap="square" lIns="0" tIns="0" rIns="0" bIns="0" rtlCol="0" anchor="ctr"/>
          <a:lstStyle/>
          <a:p>
            <a:pPr indent="0" marL="0">
              <a:buNone/>
            </a:pPr>
            <a:r>
              <a:rPr lang="en-US" sz="1000" b="1" spc="200" kern="0" dirty="0">
                <a:solidFill>
                  <a:srgbClr val="9DC1FF"/>
                </a:solidFill>
                <a:latin typeface="Calibri" pitchFamily="34" charset="0"/>
                <a:ea typeface="Calibri" pitchFamily="34" charset="-122"/>
                <a:cs typeface="Calibri" pitchFamily="34" charset="-120"/>
              </a:rPr>
              <a:t>GROUP KND_12</a:t>
            </a:r>
            <a:endParaRPr lang="en-US" sz="1000" dirty="0"/>
          </a:p>
        </p:txBody>
      </p:sp>
      <p:sp>
        <p:nvSpPr>
          <p:cNvPr id="28" name="Text 25"/>
          <p:cNvSpPr/>
          <p:nvPr/>
        </p:nvSpPr>
        <p:spPr>
          <a:xfrm>
            <a:off x="8613648" y="3584448"/>
            <a:ext cx="2755087" cy="1280160"/>
          </a:xfrm>
          <a:prstGeom prst="rect">
            <a:avLst/>
          </a:prstGeom>
          <a:noFill/>
          <a:ln/>
        </p:spPr>
        <p:txBody>
          <a:bodyPr wrap="square" lIns="0" tIns="0" rIns="0" bIns="0" rtlCol="0" anchor="t"/>
          <a:lstStyle/>
          <a:p>
            <a:pPr indent="0" marL="0">
              <a:spcAft>
                <a:spcPts val="500"/>
              </a:spcAft>
              <a:buNone/>
            </a:pPr>
            <a:r>
              <a:rPr lang="en-US" sz="1350" dirty="0">
                <a:solidFill>
                  <a:srgbClr val="FFFFFF"/>
                </a:solidFill>
                <a:latin typeface="Calibri" pitchFamily="34" charset="0"/>
                <a:ea typeface="Calibri" pitchFamily="34" charset="-122"/>
                <a:cs typeface="Calibri" pitchFamily="34" charset="-120"/>
              </a:rPr>
              <a:t>S S P S Bandara</a:t>
            </a:r>
            <a:endParaRPr lang="en-US" sz="1350" dirty="0"/>
          </a:p>
          <a:p>
            <a:pPr indent="0" marL="0">
              <a:spcAft>
                <a:spcPts val="500"/>
              </a:spcAft>
              <a:buNone/>
            </a:pPr>
            <a:r>
              <a:rPr lang="en-US" sz="1350" dirty="0">
                <a:solidFill>
                  <a:srgbClr val="FFFFFF"/>
                </a:solidFill>
                <a:latin typeface="Calibri" pitchFamily="34" charset="0"/>
                <a:ea typeface="Calibri" pitchFamily="34" charset="-122"/>
                <a:cs typeface="Calibri" pitchFamily="34" charset="-120"/>
              </a:rPr>
              <a:t>Yoosuf A.A</a:t>
            </a:r>
            <a:endParaRPr lang="en-US" sz="1350" dirty="0"/>
          </a:p>
          <a:p>
            <a:pPr indent="0" marL="0">
              <a:spcAft>
                <a:spcPts val="500"/>
              </a:spcAft>
              <a:buNone/>
            </a:pPr>
            <a:r>
              <a:rPr lang="en-US" sz="1350" dirty="0">
                <a:solidFill>
                  <a:srgbClr val="FFFFFF"/>
                </a:solidFill>
                <a:latin typeface="Calibri" pitchFamily="34" charset="0"/>
                <a:ea typeface="Calibri" pitchFamily="34" charset="-122"/>
                <a:cs typeface="Calibri" pitchFamily="34" charset="-120"/>
              </a:rPr>
              <a:t>M G S D Wijesinghe</a:t>
            </a:r>
            <a:endParaRPr lang="en-US" sz="1350" dirty="0"/>
          </a:p>
          <a:p>
            <a:pPr indent="0" marL="0">
              <a:spcAft>
                <a:spcPts val="500"/>
              </a:spcAft>
              <a:buNone/>
            </a:pPr>
            <a:r>
              <a:rPr lang="en-US" sz="1350" dirty="0">
                <a:solidFill>
                  <a:srgbClr val="FFFFFF"/>
                </a:solidFill>
                <a:latin typeface="Calibri" pitchFamily="34" charset="0"/>
                <a:ea typeface="Calibri" pitchFamily="34" charset="-122"/>
                <a:cs typeface="Calibri" pitchFamily="34" charset="-120"/>
              </a:rPr>
              <a:t>K M H S Bandara</a:t>
            </a:r>
            <a:endParaRPr lang="en-US" sz="1350" dirty="0"/>
          </a:p>
        </p:txBody>
      </p:sp>
      <p:sp>
        <p:nvSpPr>
          <p:cNvPr id="29" name="Text 26"/>
          <p:cNvSpPr/>
          <p:nvPr/>
        </p:nvSpPr>
        <p:spPr>
          <a:xfrm>
            <a:off x="8613648" y="5029200"/>
            <a:ext cx="2755087" cy="219456"/>
          </a:xfrm>
          <a:prstGeom prst="rect">
            <a:avLst/>
          </a:prstGeom>
          <a:noFill/>
          <a:ln/>
        </p:spPr>
        <p:txBody>
          <a:bodyPr wrap="square" lIns="0" tIns="0" rIns="0" bIns="0" rtlCol="0" anchor="ctr"/>
          <a:lstStyle/>
          <a:p>
            <a:pPr indent="0" marL="0">
              <a:buNone/>
            </a:pPr>
            <a:r>
              <a:rPr lang="en-US" sz="950" b="1" spc="200" kern="0" dirty="0">
                <a:solidFill>
                  <a:srgbClr val="9DC1FF"/>
                </a:solidFill>
                <a:latin typeface="Calibri" pitchFamily="34" charset="0"/>
                <a:ea typeface="Calibri" pitchFamily="34" charset="-122"/>
                <a:cs typeface="Calibri" pitchFamily="34" charset="-120"/>
              </a:rPr>
              <a:t>SOURCE CODE</a:t>
            </a:r>
            <a:endParaRPr lang="en-US" sz="950" dirty="0"/>
          </a:p>
        </p:txBody>
      </p:sp>
      <p:sp>
        <p:nvSpPr>
          <p:cNvPr id="30" name="Text 27"/>
          <p:cNvSpPr/>
          <p:nvPr/>
        </p:nvSpPr>
        <p:spPr>
          <a:xfrm>
            <a:off x="8613648" y="5257800"/>
            <a:ext cx="2846527"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github.com/PasinduSuraweera/skillpath</a:t>
            </a:r>
            <a:endParaRPr lang="en-US" sz="1150" dirty="0"/>
          </a:p>
        </p:txBody>
      </p:sp>
      <p:sp>
        <p:nvSpPr>
          <p:cNvPr id="31" name="Text 28"/>
          <p:cNvSpPr/>
          <p:nvPr/>
        </p:nvSpPr>
        <p:spPr>
          <a:xfrm>
            <a:off x="8613648" y="5760720"/>
            <a:ext cx="2846527" cy="274320"/>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IT3051 – Fundamentals of Data Mining · SLIIT</a:t>
            </a:r>
            <a:endParaRPr lang="en-US" sz="1000" dirty="0"/>
          </a:p>
        </p:txBody>
      </p:sp>
      <p:sp>
        <p:nvSpPr>
          <p:cNvPr id="25" name="Slide Number Placeholder 0"/>
          <p:cNvSpPr>
            <a:spLocks noGrp="1"/>
          </p:cNvSpPr>
          <p:nvPr>
            <p:ph type="sldNum" sz="quarter" idx="4294967295"/>
          </p:nvPr>
        </p:nvSpPr>
        <p:spPr>
          <a:xfrm>
            <a:off x="11094415" y="6464808"/>
            <a:ext cx="548640" cy="237744"/>
          </a:xfrm>
          <a:prstGeom prst="rect">
            <a:avLst/>
          </a:prstGeom>
          <a:extLst>
            <a:ext uri="{C572A759-6A51-4108-AA02-DFA0A04FC94B}">
              <ma14:wrappingTextBoxFlag xmlns:ma14="http://schemas.microsoft.com/office/mac/drawingml/2011/main" val="0"/>
            </a:ext>
          </a:extLst>
        </p:spPr>
        <p:txBody>
          <a:bodyPr/>
          <a:lstStyle>
            <a:lvl1pPr>
              <a:defRPr sz="1050">
                <a:solidFill>
                  <a:srgbClr val="64748B"/>
                </a:solidFill>
                <a:latin typeface="Calibri"/>
                <a:ea typeface="Calibri"/>
                <a:cs typeface="Calibri"/>
              </a:defRPr>
            </a:lvl1pPr>
          </a:lstStyle>
          <a:p>
            <a:pPr algn="r"/>
            <a:fld id="{F7021451-1387-4CA6-816F-3879F97B5CBC}" type="slidenum">
              <a:rPr b="1"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Sri Lanka Institute of Information Technology (SLIIT)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SkillPath: AI-Aware Developer Career Recommendation System</dc:title>
  <dc:subject>IT3051 – Fundamentals of Data Mining, Mini Project</dc:subject>
  <dc:creator>Group KND_12</dc:creator>
  <cp:lastModifiedBy>Group KND_12</cp:lastModifiedBy>
  <cp:revision>1</cp:revision>
  <dcterms:created xsi:type="dcterms:W3CDTF">2026-10-10T08:38:42Z</dcterms:created>
  <dcterms:modified xsi:type="dcterms:W3CDTF">2026-10-10T08:38:42Z</dcterms:modified>
</cp:coreProperties>
</file>